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34"/>
    <p:restoredTop sz="65253"/>
  </p:normalViewPr>
  <p:slideViewPr>
    <p:cSldViewPr snapToGrid="0" snapToObjects="1">
      <p:cViewPr varScale="1">
        <p:scale>
          <a:sx n="117" d="100"/>
          <a:sy n="117" d="100"/>
        </p:scale>
        <p:origin x="3608" y="16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2803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TITLE (~1.5 min · clock 0:00)</a:t>
            </a:r>
            <a:endParaRPr lang="en-US" dirty="0"/>
          </a:p>
          <a:p>
            <a:endParaRPr lang="en-US" dirty="0"/>
          </a:p>
          <a:p>
            <a:r>
              <a:rPr sz="1100" dirty="0"/>
              <a:t>Welcome, everyone. I'm Tyler Coady, a cloud security engineer based here in Northeast Wisconsin, and over the next 45 minutes I want to talk about something that has probably happened to your team.</a:t>
            </a:r>
          </a:p>
          <a:p>
            <a:endParaRPr sz="1100" dirty="0"/>
          </a:p>
          <a:p>
            <a:r>
              <a:rPr lang="en-US" sz="1100" dirty="0"/>
              <a:t>You got the cloud first mandate from the C-Suite, did your homework and got a landing zone built using infrastructure as code.</a:t>
            </a:r>
          </a:p>
          <a:p>
            <a:endParaRPr lang="en-US" sz="1100" dirty="0"/>
          </a:p>
          <a:p>
            <a:r>
              <a:rPr sz="1100" dirty="0"/>
              <a:t>You automated the build, you automated the tests, you automated the deploy. The pipeline goes green. And then the whole thing sits there, waiting on a firewall change request that's going to get reviewed sometime next Thursday.</a:t>
            </a:r>
          </a:p>
          <a:p>
            <a:endParaRPr sz="1100" dirty="0"/>
          </a:p>
          <a:p>
            <a:r>
              <a:rPr sz="1100" dirty="0"/>
              <a:t>Most people read that as a process problem. The classic "why isn't the network team faster" question. What I want to argue today is that it's actually an architecture problem. It happens when teams migrate workloads to cloud but they carry network security assumptions with them from the data center. Assumptions that look fine, sound fine, pass compliance audits, and then silently fail in ways that create real, exploitable gaps.</a:t>
            </a:r>
          </a:p>
          <a:p>
            <a:endParaRPr sz="1100" dirty="0"/>
          </a:p>
          <a:p>
            <a:r>
              <a:rPr sz="1100" dirty="0"/>
              <a:t>The column on the right previews the thesis. Security groups aren't stateful firewalls. VPC subnets aren't VLANs. NAT gateways aren't DMZs. SD-WAN breakout isn't inspection. Each of those equivalences sounds reasonable, and every single one of them has a hole in it. The hole is exactly where the breach lives.</a:t>
            </a:r>
          </a:p>
          <a:p>
            <a:endParaRPr sz="1100" dirty="0"/>
          </a:p>
          <a:p>
            <a:r>
              <a:rPr sz="1100" dirty="0"/>
              <a:t>Over the next 45 minutes we're going to walk through where those equivalences break, why they break, and most importantly what you can concretely do about it. The last section is the payoff section, so if you have to step out for any reason, step out early. The end is where the audit checklist lives.</a:t>
            </a:r>
          </a:p>
          <a:p>
            <a:endParaRPr sz="1100" dirty="0"/>
          </a:p>
          <a:p>
            <a:r>
              <a:rPr sz="1100" dirty="0"/>
              <a:t>One quick note on me before we get into it. My background is on both sides of this problem. I've managed firewalls, VPN concentrators, and SD-WAN deployments on the network side. I've also designed and secured cloud workloads on the cloud side. That hybrid perspective is where this talk comes from. The gaps I'm going to show you are gaps I've personally watched form.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AGENDA (~1 min · clock 1:30)</a:t>
            </a:r>
            <a:endParaRPr lang="en-US" dirty="0"/>
          </a:p>
          <a:p>
            <a:endParaRPr lang="en-US" dirty="0"/>
          </a:p>
          <a:p>
            <a:r>
              <a:rPr sz="1100" dirty="0"/>
              <a:t>Quick map of where we're going.</a:t>
            </a:r>
          </a:p>
          <a:p>
            <a:endParaRPr sz="1100" dirty="0"/>
          </a:p>
          <a:p>
            <a:r>
              <a:rPr sz="1100" dirty="0"/>
              <a:t>Section one, the mental model problem. Why this happens, and why smart engineers end up with these gaps.</a:t>
            </a:r>
            <a:endParaRPr lang="en-US" sz="1100" dirty="0"/>
          </a:p>
          <a:p>
            <a:endParaRPr sz="1100" dirty="0"/>
          </a:p>
          <a:p>
            <a:r>
              <a:rPr sz="1100" dirty="0"/>
              <a:t>Section two, the five specific places those mental model gaps show up. Security groups, VPC architecture, NAT, load balancers, and VPN routing. For each one I'm going to follow the same pattern. What you had, what you got, where the behavior diverges, and what to check in your own environment.</a:t>
            </a:r>
          </a:p>
          <a:p>
            <a:endParaRPr sz="1100" dirty="0"/>
          </a:p>
          <a:p>
            <a:r>
              <a:rPr sz="1100" dirty="0"/>
              <a:t>Section three is SD-WAN, this gets its own section because it doesn't just add complexity. It reshapes the security architecture of your entire network. This is also the most timely section. There are active exploitation campaigns happening right now and I'll talk about those.</a:t>
            </a:r>
          </a:p>
          <a:p>
            <a:endParaRPr sz="1100" dirty="0"/>
          </a:p>
          <a:p>
            <a:r>
              <a:rPr sz="1100" dirty="0"/>
              <a:t>Section four is the payoff. An audit methodology you can run yourself, and the top five misconfigs to check this week.</a:t>
            </a:r>
          </a:p>
          <a:p>
            <a:endParaRPr sz="1100" dirty="0"/>
          </a:p>
          <a:p>
            <a:r>
              <a:rPr sz="1100" dirty="0"/>
              <a:t>I'll save time for questions at the end. If you have a quick clarifying question during the talk, throw it. Anything deeper, hold it for Q&amp;A.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SECTION 01 INTRO (~1 min · clock 2:30)</a:t>
            </a:r>
            <a:endParaRPr lang="en-US" dirty="0"/>
          </a:p>
          <a:p>
            <a:endParaRPr lang="en-US" dirty="0"/>
          </a:p>
          <a:p>
            <a:r>
              <a:rPr sz="1100" dirty="0"/>
              <a:t>Let's start with the root cause. The technical gaps we're going to cover in section two aren't random and they aren't accidents. They all come from the same place. Pattern matching.</a:t>
            </a:r>
          </a:p>
          <a:p>
            <a:endParaRPr sz="1100" dirty="0"/>
          </a:p>
          <a:p>
            <a:r>
              <a:rPr sz="1100" dirty="0"/>
              <a:t>Engineers are wired to take familiar concepts and map them onto new environments. It's efficient. It's how we make sense of new technology. Every time AWS or Azure releases a new service, the first thing we do is figure out which on-prem or earlier cloud service thing it's "like." That's how learning works.</a:t>
            </a:r>
            <a:endParaRPr lang="en-US" sz="1100" dirty="0"/>
          </a:p>
          <a:p>
            <a:endParaRPr lang="en-US" sz="1100" dirty="0"/>
          </a:p>
          <a:p>
            <a:r>
              <a:rPr sz="1100" dirty="0"/>
              <a:t>We’ve all heard the saying “The cloud is just another datacenter.” I still cringe when I hear that.</a:t>
            </a:r>
          </a:p>
          <a:p>
            <a:endParaRPr sz="1100" dirty="0"/>
          </a:p>
          <a:p>
            <a:r>
              <a:rPr sz="1100" dirty="0"/>
              <a:t>It's efficient right up until the new environment behaves differently in ways that matter for security. At that point the pattern match becomes the source of the gap.</a:t>
            </a:r>
          </a:p>
          <a:p>
            <a:endParaRPr sz="1100" dirty="0"/>
          </a:p>
          <a:p>
            <a:r>
              <a:rPr sz="1100" dirty="0"/>
              <a:t>This section is short. The point of it is to name the trap, because once you can name it, you can spot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MENTAL MODEL TRAP (~4 min · clock 3:30)</a:t>
            </a:r>
            <a:endParaRPr lang="en-US" dirty="0"/>
          </a:p>
          <a:p>
            <a:endParaRPr lang="en-US" dirty="0"/>
          </a:p>
          <a:p>
            <a:r>
              <a:rPr sz="1100" dirty="0"/>
              <a:t>Here's the pattern. Column one is what you had on-prem. Column two is the cloud "equivalent" that the marketing material told you about. Column three is where the actual behavior diverges.</a:t>
            </a:r>
          </a:p>
          <a:p>
            <a:endParaRPr sz="1100" dirty="0"/>
          </a:p>
          <a:p>
            <a:r>
              <a:rPr sz="1100" dirty="0"/>
              <a:t>Let me walk this top to bottom, because each row tees up something we'll dig into in section two.</a:t>
            </a:r>
          </a:p>
          <a:p>
            <a:endParaRPr sz="1100" dirty="0"/>
          </a:p>
          <a:p>
            <a:r>
              <a:rPr sz="1100" dirty="0"/>
              <a:t>Row one. Stateful firewall on-prem, security group or NSG in the cloud. The gap is no deep packet inspection and no Layer 7 application awareness. I'm going to spend real time on this in section two because there's an important nuance most decks get wrong. Security groups ARE stateful, that's not actually the gap. The gap is what's layered on top of "stateful," which is a different conversation entirely.</a:t>
            </a:r>
          </a:p>
          <a:p>
            <a:endParaRPr sz="1100" dirty="0"/>
          </a:p>
          <a:p>
            <a:r>
              <a:rPr sz="1100" dirty="0"/>
              <a:t>Row two. VLAN segmentation on-prem. In a properly segmented design, traffic between tiers crossed a firewall and got inspected, but plenty of shops just let a Layer 3 switch route it with no inspection at all. VPC subnets in the cloud. They look like VLANs, they kind of smell like VLANs, but they aren't enforcement boundaries. They're just IP-range definitions. Traffic between subnets in the same VPC flows directly unless you build something to stop it.</a:t>
            </a:r>
          </a:p>
          <a:p>
            <a:endParaRPr sz="1100" dirty="0"/>
          </a:p>
          <a:p>
            <a:r>
              <a:rPr sz="1100" dirty="0"/>
              <a:t>Row three. DMZ on-prem. That's where your public-facing services sat, behind dedicated inspection, with bidirectional traffic control. NAT Gateway in the cloud. It does address translation for outbound traffic. That is its entire job. There's no inspection. Calling it a DMZ equivalent is the kind of misconception that leaves public-subnet workloads exposed.</a:t>
            </a:r>
          </a:p>
          <a:p>
            <a:endParaRPr sz="1100" dirty="0"/>
          </a:p>
          <a:p>
            <a:r>
              <a:rPr sz="1100" dirty="0"/>
              <a:t>Row four. Reverse proxy or WAF on-prem. Inspecting HTTP, blocking OWASP-class attacks, terminating TLS, looking at headers and payloads. Cloud load balancer. It balances load. It can terminate TLS, which is the source of the confusion. But terminating TLS is not the same as inspecting traffic. The WAF is a separate service that has to be explicitly attached.</a:t>
            </a:r>
          </a:p>
          <a:p>
            <a:endParaRPr sz="1100" dirty="0"/>
          </a:p>
          <a:p>
            <a:r>
              <a:rPr sz="1100" dirty="0"/>
              <a:t>Row five. Hub-and-spoke firewall architecture on-prem. Every branch traffics through a centralized inspection stack. That's been the dominant enterprise WAN architecture for a long time. SD-WAN with direct breakout is the modern alternative, and it's sold as a performance improvement. It absolutely is a performance improvement. It's also a security architecture change that, if you're not paying attention, eliminates your centralized inspection layer entirely. Section three is dedicated to that.</a:t>
            </a:r>
          </a:p>
          <a:p>
            <a:endParaRPr sz="1100" dirty="0"/>
          </a:p>
          <a:p>
            <a:r>
              <a:rPr sz="1100" dirty="0"/>
              <a:t>Two more things worth noting about this table before we move on.</a:t>
            </a:r>
          </a:p>
          <a:p>
            <a:endParaRPr sz="1100" dirty="0"/>
          </a:p>
          <a:p>
            <a:r>
              <a:rPr sz="1100" dirty="0"/>
              <a:t>The first one is that these aren't all-or-nothing mappings. Each of these cloud constructs can do part of what the on-prem control did. A security group can provide stateful filtering. A NAT Gateway can handle the address translation piece your DMZ did. A cloud load balancer can terminate TLS. The trap isn't that the cloud service is useless. The trap is treating partial coverage as full coverage. Each row in column three is the delta between what you had and what you got. If you treat that delta as zero, that's where the gap forms.</a:t>
            </a:r>
          </a:p>
          <a:p>
            <a:endParaRPr sz="1100" dirty="0"/>
          </a:p>
          <a:p>
            <a:r>
              <a:rPr sz="1100" dirty="0"/>
              <a:t>The second one is harder to talk about. I see these mappings persist even in teams that have both deep network expertise and deep cloud expertise. So it's not a knowledge gap you can solve by sending people to training. It's a default-mental-model problem. Until the team explicitly names where each equivalence breaks down, the implicit equivalence stays in place. That's the value of a slide like this. Naming the trap so we can spot it through the rest of the talk.</a:t>
            </a:r>
          </a:p>
          <a:p>
            <a:endParaRPr sz="1100" dirty="0"/>
          </a:p>
          <a:p>
            <a:r>
              <a:rPr sz="1100" dirty="0"/>
              <a:t>Here's the thing about each of these mappings. They all sound reasonable. And critically, in each case, the environment still functions. Applications come up. Traffic flows. The team thinks the migration went well. Nothing breaks. That's what makes these gaps so dangerous. You only find them when you go looking with the right tools, or when an attacker finds them for you.</a:t>
            </a:r>
          </a:p>
          <a:p>
            <a:endParaRPr sz="1100" dirty="0"/>
          </a:p>
          <a:p>
            <a:r>
              <a:rPr sz="1100" dirty="0"/>
              <a:t>So this slide is the thesis. Five places where the control you think you have is not the control you actually have. The rest of this talk is the evidence and the action plan.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SECTION 02 INTRO (~30 sec · clock 7:30)</a:t>
            </a:r>
            <a:endParaRPr lang="en-US" dirty="0"/>
          </a:p>
          <a:p>
            <a:endParaRPr lang="en-US" dirty="0"/>
          </a:p>
          <a:p>
            <a:r>
              <a:rPr sz="1100" dirty="0"/>
              <a:t>Now let's get specific. For each of those five gaps, I'm going to follow the same structure. What you had on-prem, what you have now, where the behavior diverges, and what you can check in your own environment to find the gap right now.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GAP 1: SECURITY GROUPS (~3.5 min · clock 8:00)</a:t>
            </a:r>
            <a:endParaRPr lang="en-US" dirty="0"/>
          </a:p>
          <a:p>
            <a:endParaRPr lang="en-US" dirty="0"/>
          </a:p>
          <a:p>
            <a:r>
              <a:rPr sz="1100" dirty="0"/>
              <a:t>Security groups versus stateful firewalls. I want to be careful with this one because the framing on a lot of cloud security decks is technically wrong, and there's going to be at least one sharp network engineer in the room who will know it.</a:t>
            </a:r>
          </a:p>
          <a:p>
            <a:endParaRPr sz="1100" dirty="0"/>
          </a:p>
          <a:p>
            <a:r>
              <a:rPr sz="1100" dirty="0"/>
              <a:t>Here's the inaccurate version you sometimes see. "Security groups aren't stateful, traditional firewalls are." That's just not right. Security groups are stateful. They track TCP connection state. They allow return traffic for established sessions. That is literally what "stateful" means, and security groups do it.</a:t>
            </a:r>
          </a:p>
          <a:p>
            <a:endParaRPr sz="1100" dirty="0"/>
          </a:p>
          <a:p>
            <a:r>
              <a:rPr sz="1100" dirty="0"/>
              <a:t>A Palo Alto or Fortinet next-generation firewall is also stateful in exactly that same sense.</a:t>
            </a:r>
          </a:p>
          <a:p>
            <a:endParaRPr sz="1100" dirty="0"/>
          </a:p>
          <a:p>
            <a:r>
              <a:rPr sz="1100" dirty="0"/>
              <a:t>So if both are stateful, what's the actual gap?</a:t>
            </a:r>
          </a:p>
          <a:p>
            <a:endParaRPr sz="1100" dirty="0"/>
          </a:p>
          <a:p>
            <a:r>
              <a:rPr sz="1100" dirty="0"/>
              <a:t>The gap is everything that sits on top of stateful inspection in a next-gen firewall. On Palo Alto, that's App-ID. App-ID is Palo Alto's proprietary application identification engine that determines what application is actually running on a flow, independent of port, protocol, or even encryption. It's how a Palo Alto can enforce a policy like "allow Salesforce, block everything else on port 443." That capability is App-ID. It's not stateful inspection.</a:t>
            </a:r>
          </a:p>
          <a:p>
            <a:endParaRPr sz="1100" dirty="0"/>
          </a:p>
          <a:p>
            <a:r>
              <a:rPr sz="1100" dirty="0"/>
              <a:t>And here's the part I think is genuinely interesting. Palo Alto's own documentation is explicit about this distinction. When you put traffic into application override mode, meaning App-ID is bypassed, the documentation literally says the firewall "handles sessions as a regular stateful inspection firewall at Layer-4." They treat falling back to stateful-only as a degraded mode. The vendor is telling you that "stateful" is the floor, not the ceiling.</a:t>
            </a:r>
          </a:p>
          <a:p>
            <a:endParaRPr sz="1100" dirty="0"/>
          </a:p>
          <a:p>
            <a:r>
              <a:rPr sz="1100" dirty="0"/>
              <a:t>So the accurate framing, and this is the one that holds up under scrutiny, goes like this. Security groups give you stateful inspection only. Traditional NGFWs give you stateful inspection plus application identification plus content inspection. Threat signatures, URL filtering, file type checks. The capabilities you cared about on the NGFW were almost certainly the layers on top, not the stateful layer itself.</a:t>
            </a:r>
          </a:p>
          <a:p>
            <a:endParaRPr sz="1100" dirty="0"/>
          </a:p>
          <a:p>
            <a:r>
              <a:rPr sz="1100" dirty="0"/>
              <a:t>Here's the practical implication. If your on-prem security architecture relied on application-aware policy, and most of them do, when you moved to cloud security groups you silently lost that capability. Lateral movement between workloads in the same security group can go completely undetected.</a:t>
            </a:r>
          </a:p>
          <a:p>
            <a:endParaRPr sz="1100" dirty="0"/>
          </a:p>
          <a:p>
            <a:r>
              <a:rPr sz="1100" dirty="0"/>
              <a:t>So what can you do about it? There are two paths.</a:t>
            </a:r>
          </a:p>
          <a:p>
            <a:endParaRPr sz="1100" dirty="0"/>
          </a:p>
          <a:p>
            <a:r>
              <a:rPr sz="1100" dirty="0"/>
              <a:t>The first is audit. Go to the AWS console, look at security groups, find any group with a 0.0.0.0/0 inbound rule. Those are your starting points. Then look at intra-VPC traffic. Workloads talking to each other on unusual ports with no firewall between them.</a:t>
            </a:r>
          </a:p>
          <a:p>
            <a:endParaRPr sz="1100" dirty="0"/>
          </a:p>
          <a:p>
            <a:r>
              <a:rPr sz="1100" dirty="0"/>
              <a:t>The second one matters if you actually need Layer 7 inspection, and many organizations do for compliance reasons. AWS Network Firewall gives you Suricata-based deep packet inspection. Azure Firewall Premium gives you signature-based IDPS with over 67,000 signatures across more than 50 categories. But here's the architectural change required. Neither of these self-configures. You have to route traffic through them explicitly. We'll talk about how to do that with Transit Gateway in section four.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GAP 2: VPCs vs VLANs (~3 min · clock 11:30)</a:t>
            </a:r>
            <a:endParaRPr lang="en-US" dirty="0"/>
          </a:p>
          <a:p>
            <a:endParaRPr lang="en-US" dirty="0"/>
          </a:p>
          <a:p>
            <a:r>
              <a:rPr sz="1100" dirty="0"/>
              <a:t>Gap two. VPC subnets versus VLAN segmentation. This one trips up otherwise experienced network engineers because the analogy is so close it feels wrong to doubt it.</a:t>
            </a:r>
          </a:p>
          <a:p>
            <a:endParaRPr sz="1100" dirty="0"/>
          </a:p>
          <a:p>
            <a:r>
              <a:rPr sz="1100" dirty="0"/>
              <a:t>On-prem, VLANs gave you the option of a strong chokepoint, but it was never automatic. Crossing between VLANs requires a Layer 3 hop, and in a properly segmented design you put a firewall at that hop, so web-to-app and app-to-database traffic got inspected and logged. The catch most people forget is that the inspection was never free. Plenty of shops just let a Layer 3 switch route inter-VLAN traffic in hardware, with nothing inspecting it at all. So the real on-prem lesson isn't that you always had inspection between tiers. It's that inspection between segments was always something you had to deliberately design in. Cloud doesn't take that away. It just removes the illusion that the network handed it to you for free.</a:t>
            </a:r>
          </a:p>
          <a:p>
            <a:endParaRPr sz="1100" dirty="0"/>
          </a:p>
          <a:p>
            <a:r>
              <a:rPr sz="1100" dirty="0"/>
              <a:t>A VPC subnet does not work that way. A subnet in a VPC is a routing construct. It's a range of IP addresses with a route table. There's no implicit firewall between subnets in the same VPC. If two instances are in different subnets but the same VPC, and the security groups allow the traffic, it just flows directly, with nothing in the middle inspecting it and nothing logging it beyond what flow logs capture, and you have to enable those.</a:t>
            </a:r>
          </a:p>
          <a:p>
            <a:endParaRPr sz="1100" dirty="0"/>
          </a:p>
          <a:p>
            <a:r>
              <a:rPr sz="1100" dirty="0"/>
              <a:t>Picture the implication. A compromised workload in your web tier subnet can reach instances in your app tier subnet, or your data tier subnet, with nothing between them stopping or even noticing. Your architecture diagram might show neat tier separation, but your VPC flow logs are going to tell a different story.</a:t>
            </a:r>
          </a:p>
          <a:p>
            <a:endParaRPr sz="1100" dirty="0"/>
          </a:p>
          <a:p>
            <a:r>
              <a:rPr sz="1100" dirty="0"/>
              <a:t xml:space="preserve">To get the inspection layer back, you have to build it. The pattern most mature shops land on is a dedicated inspection VPC running AWS Network Firewall or a network virtual appliance, sitting in front of your workload VPCs. You attach all the VPCs to a Transit Gateway. Then you configure Transit Gateway route tables so all east-west traffic, meaning any cross-VPC or cross-subnet traffic you want inspected, gets routed through the inspection VPC before it reaches its destination. AWS's own Landing Zone Accelerator implements this pattern out of the box if you want a reference architecture to </a:t>
            </a:r>
            <a:r>
              <a:rPr lang="en-US" sz="1100" dirty="0"/>
              <a:t>build</a:t>
            </a:r>
            <a:r>
              <a:rPr sz="1100" dirty="0"/>
              <a:t xml:space="preserve"> from.</a:t>
            </a:r>
          </a:p>
          <a:p>
            <a:endParaRPr sz="1100" dirty="0"/>
          </a:p>
          <a:p>
            <a:r>
              <a:rPr sz="1100" dirty="0"/>
              <a:t xml:space="preserve">This is not the default state of a VPC. You have to design it, build it, and pay for it. The </a:t>
            </a:r>
            <a:r>
              <a:rPr lang="en-US" sz="1100" dirty="0"/>
              <a:t>Transit Gateway</a:t>
            </a:r>
            <a:r>
              <a:rPr sz="1100" dirty="0"/>
              <a:t xml:space="preserve"> data processing charges plus the inspection appliance costs are not trivial. So there's a real cost-benefit conversation to have. But until you build it, you have no visibility into lateral movement between tiers, and that's the architectural reality.</a:t>
            </a:r>
          </a:p>
          <a:p>
            <a:endParaRPr sz="1100" dirty="0"/>
          </a:p>
          <a:p>
            <a:r>
              <a:rPr sz="1100" dirty="0"/>
              <a:t>For the check-your-environment step on this slide, run VPC flow logs for at least seven days, then write a query that surfaces ACCEPT traffic between subnets where the source and destination are in different tiers and the route did not pass through a firewall endpoint. Unexpected peer-to-peer flows between tiers, that's your lateral movement signal.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GAPS 3, 4, 5 (~4 min · clock 14:30)</a:t>
            </a:r>
            <a:endParaRPr lang="en-US" dirty="0"/>
          </a:p>
          <a:p>
            <a:endParaRPr lang="en-US" dirty="0"/>
          </a:p>
          <a:p>
            <a:r>
              <a:rPr sz="1100" dirty="0"/>
              <a:t>Three more, quickly, because these patterns repeat themselves and you've already seen the shape of the problem.</a:t>
            </a:r>
          </a:p>
          <a:p>
            <a:endParaRPr sz="1100" dirty="0"/>
          </a:p>
          <a:p>
            <a:r>
              <a:rPr sz="1100" dirty="0"/>
              <a:t>Gap three is NAT Gateway versus DMZ. Teams put a NAT Gateway in the architecture, give it a public subnet, and label it the DMZ. The NAT Gateway translates private IPs to public IPs for outbound traffic. That is its entire job. It does not inspect anything inbound. It does not filter anything. It has no concept of "session" beyond NAT state. Your on-prem DMZ was doing IPS, URL filtering, bidirectional inspection, sometimes anti-malware in transit. None of that carried over.</a:t>
            </a:r>
          </a:p>
          <a:p>
            <a:endParaRPr sz="1100" dirty="0"/>
          </a:p>
          <a:p>
            <a:r>
              <a:rPr sz="1100" dirty="0"/>
              <a:t>The specific failure mode is workloads in a public subnet, with a public IP attached, no WAF in front of them, and people think the NAT Gateway is doing some kind of protection. It is not. Those workloads are directly exposed to the internet, full stop. The audit is simple. Any EC2 or workload in a public subnet with a public IP and nothing in front of it is exposed.</a:t>
            </a:r>
          </a:p>
          <a:p>
            <a:endParaRPr sz="1100" dirty="0"/>
          </a:p>
          <a:p>
            <a:r>
              <a:rPr sz="1100" dirty="0"/>
              <a:t>Gap four is cloud load balancer versus reverse proxy or WAF. This one has a specific trap. ALBs do terminate TLS</a:t>
            </a:r>
            <a:r>
              <a:rPr lang="en-US" sz="1100" dirty="0"/>
              <a:t xml:space="preserve">, and </a:t>
            </a:r>
            <a:r>
              <a:rPr sz="1100" dirty="0"/>
              <a:t>because TLS termination was historically a WAF thing, your on-prem F5 or your Apache reverse proxy was doing the TLS work and the inspection in the same place, they conflate the two. The ALB terminates TLS so it can balance HTTP-aware traffic. It does not, by itself, inspect anything in the request body for SQL injection or cross-site scripting or whatever else.</a:t>
            </a:r>
          </a:p>
          <a:p>
            <a:endParaRPr sz="1100" dirty="0"/>
          </a:p>
          <a:p>
            <a:r>
              <a:rPr sz="1100" dirty="0"/>
              <a:t>To get WAF behavior, you have to attach an AWS WAF Web ACL to the ALB. It's an explicit, separate action. And it's astonishingly common to find public-facing ALBs in environments where nobody attached a Web ACL. The audit, in the AWS console, go to WAF, look at the resources tab, and check which load balancers have Web ACLs associated. The ones that don't are sitting unprotected.</a:t>
            </a:r>
          </a:p>
          <a:p>
            <a:endParaRPr sz="1100" dirty="0"/>
          </a:p>
          <a:p>
            <a:r>
              <a:rPr sz="1100" dirty="0"/>
              <a:t>Gap five is VPN connectivity in hybrid environments. This is the gap where I've seen the nastiest surprises, because everyone draws their architecture diagram showing sensitive traffic going through the data center firewall, and the diagram is correct on paper, and then the actual traffic doesn't do that.</a:t>
            </a:r>
          </a:p>
          <a:p>
            <a:endParaRPr sz="1100" dirty="0"/>
          </a:p>
          <a:p>
            <a:r>
              <a:rPr sz="1100" dirty="0"/>
              <a:t>There are a few specific failure patterns to know. Split tunneling, where some traffic goes through the VPN and some goes direct based on the client's policy, and that policy might be more permissive than people realize. BGP route leaks, where you're connecting on-prem networks to cloud over Direct Connect or ExpressRoute or VPN, and the BGP advertisements between sides do unexpected things. Routes get added or withdrawn that change which path traffic takes. And routing asymmetry, where the path traffic takes inbound from on-prem to cloud is not necessarily the path it takes outbound from cloud to on-prem, and that mismatch creates inspection gaps and TCP session issues.</a:t>
            </a:r>
          </a:p>
          <a:p>
            <a:endParaRPr sz="1100" dirty="0"/>
          </a:p>
          <a:p>
            <a:r>
              <a:rPr sz="1100" dirty="0"/>
              <a:t>The audit step is concrete. Pull the route tables on your branch and edge devices, then cross-reference them against your VPC route tables and your flow logs. Compare what you think the path is to what you can prove the path is. Discrepancies are findings.</a:t>
            </a:r>
          </a:p>
          <a:p>
            <a:endParaRPr sz="1100" dirty="0"/>
          </a:p>
          <a:p>
            <a:r>
              <a:rPr sz="1100" dirty="0"/>
              <a:t>The green boxes on each of these are real, runnable audit steps. None of this requires a tool you don't already have access 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SECTION 03 INTRO (~1.5 min · clock 18:30)</a:t>
            </a:r>
            <a:endParaRPr lang="en-US" dirty="0"/>
          </a:p>
          <a:p>
            <a:endParaRPr lang="en-US" dirty="0"/>
          </a:p>
          <a:p>
            <a:r>
              <a:rPr sz="1100" dirty="0"/>
              <a:t>Section three. SD-WAN</a:t>
            </a:r>
            <a:r>
              <a:rPr lang="en-US" sz="1100" dirty="0"/>
              <a:t>, or if you are going all in at once, SASE.</a:t>
            </a:r>
            <a:endParaRPr sz="1100" dirty="0"/>
          </a:p>
          <a:p>
            <a:endParaRPr sz="1100" dirty="0"/>
          </a:p>
          <a:p>
            <a:r>
              <a:rPr sz="1100" dirty="0"/>
              <a:t>I'm giving SD-WAN its own section because, unlike the previous five gaps, which are localized, SD-WAN is an architectural shift that changes the security model of your entire network. It's not a misconfiguration. It's a deliberate design choice, and it has security consequences that are often not part of the design conversation.</a:t>
            </a:r>
          </a:p>
          <a:p>
            <a:endParaRPr sz="1100" dirty="0"/>
          </a:p>
          <a:p>
            <a:r>
              <a:rPr sz="1100" dirty="0"/>
              <a:t>And the timing is impossible to ignore. In February of this year, CISA issued Emergency Directive 26-03. Federal agencies were ordered to identify, log, patch, hunt, and harden their Cisco Catalyst SD-WAN systems on a hard deadline. That ED targeted two CVEs. An authentication bypass tracked as CVE-2026-20127, and a path traversal in CVE-2022-20775. There was active exploitation, with real impact on federal networks.</a:t>
            </a:r>
          </a:p>
          <a:p>
            <a:endParaRPr sz="1100" dirty="0"/>
          </a:p>
          <a:p>
            <a:r>
              <a:rPr sz="1100" dirty="0"/>
              <a:t>And it didn't stop there. In April, CISA added three more SD-WAN Manager flaws to the Known Exploited Vulnerabilities catalog, CVE-2026-20133, CVE-2026-20128, and CVE-2026-20122, which chain together to let an unauthenticated attacker reach SD-WAN Manager. Then on May 14, CISA added a fifth, CVE-2026-20182, a critical authentication bypass in the SD-WAN Controller and Manager caused by broken peering authentication logic. It carries the maximum CVSS score of 10.0 and was found already being exploited as a zero-day during the investigation into the earlier attacks. Cisco Talos is tracking the primary threat actor cluster as UAT-8616 and confirms active post-compromise activity, with around ten additional clusters piling on once public proof-of-concept code dropped.</a:t>
            </a:r>
          </a:p>
          <a:p>
            <a:endParaRPr sz="1100" dirty="0"/>
          </a:p>
          <a:p>
            <a:r>
              <a:rPr sz="1100" dirty="0"/>
              <a:t>The takeaway here isn't "patch Cisco." The takeaway is that SD-WAN infrastructure is now a confirmed high-value target. It sits at the intersection of your branches, your WAN, and your cloud, which means compromise gives an attacker the most leverage of almost any single device class in your network. Let me show you why.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SDWAN DIRECT BREAKOUT (~4 min · clock 20:00)</a:t>
            </a:r>
            <a:endParaRPr lang="en-US" dirty="0"/>
          </a:p>
          <a:p>
            <a:endParaRPr lang="en-US" dirty="0"/>
          </a:p>
          <a:p>
            <a:r>
              <a:rPr sz="1100" dirty="0"/>
              <a:t>This is the core architectural problem with SD-WAN.</a:t>
            </a:r>
          </a:p>
          <a:p>
            <a:endParaRPr sz="1100" dirty="0"/>
          </a:p>
          <a:p>
            <a:r>
              <a:rPr sz="1100" dirty="0"/>
              <a:t>The left side of the slide is a traditional hub-and-spoke network. Every branch backhauls traffic to the data center over MPLS. At the data center, traffic crosses the inspection stack. Firewall, IPS, URL filtering, decryption, whatever your stack happens to be. Then traffic goes out to the internet or to the cloud. That's your inspection chokepoint, and that's how the security architecture was designed.</a:t>
            </a:r>
          </a:p>
          <a:p>
            <a:endParaRPr sz="1100" dirty="0"/>
          </a:p>
          <a:p>
            <a:r>
              <a:rPr sz="1100" dirty="0"/>
              <a:t>The right side is SD-WAN with direct internet breakout. The whole value proposition of SD-WAN is eliminating that backhaul. Instead of sending a packet from your Appleton branch all the way down to a data center in Milwaukee just to reach an Office 365 server in Chicago, SD-WAN lets the branch make the connection directly. Better latency, lower MPLS costs, happier users.</a:t>
            </a:r>
          </a:p>
          <a:p>
            <a:endParaRPr sz="1100" dirty="0"/>
          </a:p>
          <a:p>
            <a:r>
              <a:rPr sz="1100" dirty="0"/>
              <a:t>Performance-wise, that's great. Security-wise, if your inspection stack was sitting in the data center and traffic no longer goes there, your inspection stack now sees a fraction of what it used to see. The security architecture you spent years building is being bypassed. By design.</a:t>
            </a:r>
          </a:p>
          <a:p>
            <a:endParaRPr sz="1100" dirty="0"/>
          </a:p>
          <a:p>
            <a:r>
              <a:rPr sz="1100" dirty="0"/>
              <a:t>There are three specific consequences on the slide.</a:t>
            </a:r>
          </a:p>
          <a:p>
            <a:endParaRPr sz="1100" dirty="0"/>
          </a:p>
          <a:p>
            <a:r>
              <a:rPr sz="1100" dirty="0"/>
              <a:t>The first one is that branch-to-cloud traffic reaches cloud workloads without crossing the centralized firewall stack. It's east-west traffic, but at WAN scale.</a:t>
            </a:r>
          </a:p>
          <a:p>
            <a:endParaRPr sz="1100" dirty="0"/>
          </a:p>
          <a:p>
            <a:r>
              <a:rPr sz="1100" dirty="0"/>
              <a:t>The second one is that SSL traffic at the breakout point is rarely decrypted and inspected. The performance cost on a typical SD-WAN appliance is significant, so even when the appliance has inspection capability, organizations turn it off to maintain user experience. That's the standard tradeoff.</a:t>
            </a:r>
          </a:p>
          <a:p>
            <a:endParaRPr sz="1100" dirty="0"/>
          </a:p>
          <a:p>
            <a:r>
              <a:rPr sz="1100" dirty="0"/>
              <a:t>The third one is the one that gets missed in audits. The SD-WAN controller and your SIEM frequently don't talk to each other. The SD-WAN side has rich analytics. Your security team has rich SIEM data. There's no correlation between them. So you can have a security incident that touched branch-to-cloud traffic, and the only place evidence of it lives is in a system your SOC doesn't query.</a:t>
            </a:r>
          </a:p>
          <a:p>
            <a:endParaRPr sz="1100" dirty="0"/>
          </a:p>
          <a:p>
            <a:r>
              <a:rPr sz="1100" dirty="0"/>
              <a:t>So what's the solution space? There are three patterns to know.</a:t>
            </a:r>
          </a:p>
          <a:p>
            <a:endParaRPr sz="1100" dirty="0"/>
          </a:p>
          <a:p>
            <a:r>
              <a:rPr sz="1100" dirty="0"/>
              <a:t>The first is cloud-delivered security platforms. SSE or SASE. Zscaler, Netskope, Palo Alto Prisma Access. The model is, instead of backhauling to your data center, branch traffic goes to a regional point of presence where the security stack lives, and then egresses to internet or cloud. You keep the inspection chokepoint, but you move it from your DC to the vendor's cloud. ZTNA is a piece of this. Application-level access instead of network access.</a:t>
            </a:r>
          </a:p>
          <a:p>
            <a:endParaRPr sz="1100" dirty="0"/>
          </a:p>
          <a:p>
            <a:r>
              <a:rPr sz="1100" dirty="0"/>
              <a:t>The second is inline inspection at the SD-WAN appliance itself. Most modern SD-WAN vendors have integrated security features. NGFW capabilities, URL filtering, sometimes IDPS. The catch is performance</a:t>
            </a:r>
            <a:r>
              <a:rPr lang="en-US" sz="1100" dirty="0"/>
              <a:t xml:space="preserve">, license cost, </a:t>
            </a:r>
            <a:r>
              <a:rPr sz="1100" dirty="0"/>
              <a:t xml:space="preserve"> and feature parity. The integrated stuff on the box is typically less capable than what you had on dedicated appliances.</a:t>
            </a:r>
          </a:p>
          <a:p>
            <a:endParaRPr sz="1100" dirty="0"/>
          </a:p>
          <a:p>
            <a:r>
              <a:rPr sz="1100" dirty="0"/>
              <a:t>The third is to push security down to the workload level. Tight security groups, cloud-native firewall services in front of workloads, host-based controls. This is the right approach for cloud-resident workloads. You get the inspection close to the asset.</a:t>
            </a:r>
          </a:p>
          <a:p>
            <a:endParaRPr sz="1100" dirty="0"/>
          </a:p>
          <a:p>
            <a:r>
              <a:rPr sz="1100" dirty="0"/>
              <a:t>Most mature architectures use some combination of all three. None of these happen by default. You have to design for the new traffic pattern explicitly. Otherwise you've turned off the chokepoint and turned on nothing in its place.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SPLIT BRAIN (~4 min · clock 24:00)</a:t>
            </a:r>
            <a:endParaRPr lang="en-US" dirty="0"/>
          </a:p>
          <a:p>
            <a:endParaRPr lang="en-US" dirty="0"/>
          </a:p>
          <a:p>
            <a:r>
              <a:rPr sz="1100" dirty="0"/>
              <a:t>The split-brain problem is what happens when your SD-WAN overlay and your underlying cloud network have different ideas about how a packet should be routed.</a:t>
            </a:r>
          </a:p>
          <a:p>
            <a:endParaRPr sz="1100" dirty="0"/>
          </a:p>
          <a:p>
            <a:r>
              <a:rPr sz="1100" dirty="0"/>
              <a:t>Let me make that concrete.</a:t>
            </a:r>
          </a:p>
          <a:p>
            <a:endParaRPr sz="1100" dirty="0"/>
          </a:p>
          <a:p>
            <a:r>
              <a:rPr sz="1100" dirty="0"/>
              <a:t>You have an SD-WAN policy that says traffic from Branch A destined for your ERP in AWS should route through the data center hub, where it crosses the inspection stack. The SD-WAN controller knows about that policy. The SD-WAN dashboard shows the path as "tunneled, via DC." From the security team's perspective, looking at the dashboard, everything looks correct.</a:t>
            </a:r>
          </a:p>
          <a:p>
            <a:endParaRPr sz="1100" dirty="0"/>
          </a:p>
          <a:p>
            <a:r>
              <a:rPr sz="1100" dirty="0"/>
              <a:t>But traffic doesn't actually move based on what your SD-WAN dashboard shows. Traffic moves based on what's in the routing table of the device making the forwarding decision. And in the cloud, that routing table is the VPC route table, not the SD-WAN controller.</a:t>
            </a:r>
          </a:p>
          <a:p>
            <a:endParaRPr sz="1100" dirty="0"/>
          </a:p>
          <a:p>
            <a:r>
              <a:rPr sz="1100" dirty="0"/>
              <a:t>So you might have an SD-WAN policy that says "tunnel this," but a VPC route table with a more-specific route pointing at an internet gateway. In routing, the more-specific route always wins. Traffic flows direct. Applications work. Latency is fine. The DC firewall never sees it. The architecture diagram and the SD-WAN dashboard both say one thing, and the flow logs say something else.</a:t>
            </a:r>
          </a:p>
          <a:p>
            <a:endParaRPr sz="1100" dirty="0"/>
          </a:p>
          <a:p>
            <a:r>
              <a:rPr sz="1100" dirty="0"/>
              <a:t>This isn't a hypothetical, it comes from the way routing actually works. The overlay and the underlay are two separate control planes, and nothing forces them to agree. When they disagree, the underlay wins, because the underlay is what actually forwards the packet. The dashboard is reporting intent. The flow log is reporting reality. When I've seen this, the flow logs were the source of truth and the dashboard was describing a path that wasn't happening.</a:t>
            </a:r>
          </a:p>
          <a:p>
            <a:endParaRPr sz="1100" dirty="0"/>
          </a:p>
          <a:p>
            <a:r>
              <a:rPr sz="1100" dirty="0"/>
              <a:t>The fix here isn't just "fix the routing." The fix is a design philosophy. Stop relying on traffic path as your primary security control. Path is fragile. BGP changes, VPC route table updates, SD-WAN policy edits, all of those can change the path, and most of them happen without security review. Assume the path is wrong until flow logs prove otherwise.</a:t>
            </a:r>
          </a:p>
          <a:p>
            <a:endParaRPr sz="1100" dirty="0"/>
          </a:p>
          <a:p>
            <a:r>
              <a:rPr sz="1100" dirty="0"/>
              <a:t>Practically, enforce security at the destination. Cloud firewall in front of the workload. Tight</a:t>
            </a:r>
            <a:r>
              <a:rPr lang="en-US" sz="1100" dirty="0"/>
              <a:t>en</a:t>
            </a:r>
            <a:r>
              <a:rPr sz="1100" dirty="0"/>
              <a:t xml:space="preserve"> security groups</a:t>
            </a:r>
            <a:r>
              <a:rPr lang="en-US" sz="1100" dirty="0"/>
              <a:t xml:space="preserve"> use </a:t>
            </a:r>
            <a:r>
              <a:rPr sz="1100" dirty="0"/>
              <a:t>Workload-level controls. If the path is broken but the destination is locked down, you still have defense in depth. If you depended on the path and the path broke, you have nothing.</a:t>
            </a:r>
          </a:p>
          <a:p>
            <a:endParaRPr sz="1100" dirty="0"/>
          </a:p>
          <a:p>
            <a:r>
              <a:rPr sz="1100" dirty="0"/>
              <a:t>The check on this slide is the most important audit step in the whole talk. Pull SD-WAN path reports for your most sensitive flows. Cross-reference them against VPC Flow Logs for the same source IPs. If flow logs show direct traffic that should have been tunneled, your routing is broken. Run this. Today.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SECTION 04 INTRO (~1 min · clock 28:00)</a:t>
            </a:r>
            <a:endParaRPr lang="en-US" dirty="0"/>
          </a:p>
          <a:p>
            <a:endParaRPr lang="en-US" dirty="0"/>
          </a:p>
          <a:p>
            <a:r>
              <a:rPr sz="1100" dirty="0"/>
              <a:t>Section four. The payoff section.</a:t>
            </a:r>
          </a:p>
          <a:p>
            <a:endParaRPr sz="1100" dirty="0"/>
          </a:p>
          <a:p>
            <a:r>
              <a:rPr sz="1100" dirty="0"/>
              <a:t>Everything we've covered so far is context. This section is what you can actually do.</a:t>
            </a:r>
          </a:p>
          <a:p>
            <a:endParaRPr sz="1100" dirty="0"/>
          </a:p>
          <a:p>
            <a:r>
              <a:rPr sz="1100" dirty="0"/>
              <a:t>The key tool is not a scanner, not a vendor pen test, not a consultant. It's flow logs. VPC Flow Logs in AWS</a:t>
            </a:r>
            <a:r>
              <a:rPr lang="en-US" sz="1100" dirty="0"/>
              <a:t xml:space="preserve"> and GCP</a:t>
            </a:r>
            <a:r>
              <a:rPr sz="1100" dirty="0"/>
              <a:t>, VNet Flow Logs in Azure</a:t>
            </a:r>
            <a:r>
              <a:rPr lang="en-US" sz="1100" dirty="0"/>
              <a:t>.</a:t>
            </a:r>
            <a:r>
              <a:rPr sz="1100" dirty="0"/>
              <a:t xml:space="preserve"> They are the authoritative record of what traffic actually happened, independent of what your architecture diagram says, independent of what the SD-WAN controller says, independent of what anybody believes is happening.</a:t>
            </a:r>
          </a:p>
          <a:p>
            <a:endParaRPr sz="1100" dirty="0"/>
          </a:p>
          <a:p>
            <a:r>
              <a:rPr sz="1100" dirty="0"/>
              <a:t>Architecture diagrams are aspirational documents</a:t>
            </a:r>
            <a:r>
              <a:rPr lang="en-US" sz="1100" dirty="0"/>
              <a:t xml:space="preserve"> whereas f</a:t>
            </a:r>
            <a:r>
              <a:rPr sz="1100" dirty="0"/>
              <a:t>low logs are evidence. We're going to talk about how to turn that evidence into actions you can take this week.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AUDIT METHODOLOGY (~3 min · clock 29:00)</a:t>
            </a:r>
            <a:endParaRPr lang="en-US" dirty="0"/>
          </a:p>
          <a:p>
            <a:endParaRPr lang="en-US" dirty="0"/>
          </a:p>
          <a:p>
            <a:r>
              <a:rPr sz="1100" dirty="0"/>
              <a:t>Four steps. The first one you can start this afternoon.</a:t>
            </a:r>
          </a:p>
          <a:p>
            <a:endParaRPr sz="1100" dirty="0"/>
          </a:p>
          <a:p>
            <a:r>
              <a:rPr sz="1100" dirty="0"/>
              <a:t>Step one is to enable flow logs. Everywhere. All VPCs, all subnets, all accounts, every region you actually use. If flow logs are off, none of the rest of this works. The common gap I see is that they're enabled in prod and off in dev and staging. Attackers know this. They know production has more eyes on it. Non-prod environments are where they probe.</a:t>
            </a:r>
          </a:p>
          <a:p>
            <a:endParaRPr sz="1100" dirty="0"/>
          </a:p>
          <a:p>
            <a:r>
              <a:rPr sz="1100" dirty="0"/>
              <a:t>Use VPC Flow Logs version 3 or higher in AWS, which gives you TCP flags, traffic type, VPC and subnet identifiers. Send them to S3, because Athena queries are cheap and fast over S3-stored logs. Retain at least 90 days. Don't sample, capture everything. The data volume sounds scary, but the cost in practice is reasonable.</a:t>
            </a:r>
          </a:p>
          <a:p>
            <a:endParaRPr sz="1100" dirty="0"/>
          </a:p>
          <a:p>
            <a:r>
              <a:rPr sz="1100" dirty="0"/>
              <a:t>A side note on retention. 90 days is not arbitrary. FedRAMP, for instance, expects at least 90 days of readily available audit logs under</a:t>
            </a:r>
            <a:r>
              <a:rPr lang="en-US" sz="1100" dirty="0"/>
              <a:t xml:space="preserve"> control</a:t>
            </a:r>
            <a:r>
              <a:rPr sz="1100" dirty="0"/>
              <a:t xml:space="preserve"> AU-11. SOC 2 and CMMC are less prescriptive about the exact number, but a week of retention satisfies none of them, and it won't let you investigate anything that took longer than a week to surface.</a:t>
            </a:r>
          </a:p>
          <a:p>
            <a:endParaRPr sz="1100" dirty="0"/>
          </a:p>
          <a:p>
            <a:r>
              <a:rPr sz="1100" dirty="0"/>
              <a:t>Step two is to query for uninspected paths. Take your flow log data, correlate source and destination IPs against your VPC route tables, and identify traffic that bypassed inspection endpoints. Specifically, ACCEPT traffic between subnets where the route did not pass through a firewall subnet. High-volume ACCEPT between two workloads that shouldn't be communicating, on non-standard ports, that's a lateral movement indicator. Surface those.</a:t>
            </a:r>
          </a:p>
          <a:p>
            <a:endParaRPr sz="1100" dirty="0"/>
          </a:p>
          <a:p>
            <a:r>
              <a:rPr sz="1100" dirty="0"/>
              <a:t>Step three is the SD-WAN-specific one. It's the split-brain test. Pull SD-WAN path analytics for your highest-sensitivity traffic. Pull VPC flow logs for the same source IPs over the same time window. Compare them. If the SD-WAN says "tunneled" but the flow logs show direct paths, the routing is broken. This comparison has surprised most teams I've seen run it.</a:t>
            </a:r>
          </a:p>
          <a:p>
            <a:endParaRPr sz="1100" dirty="0"/>
          </a:p>
          <a:p>
            <a:r>
              <a:rPr sz="1100" dirty="0"/>
              <a:t>Step four is the security group, NSG, and WAF coverage audit. There are three places to start in AWS. AWS Access Analyzer for surfaces, AWS Config managed rules for security groups, and the WAF console for ALB coverage.</a:t>
            </a:r>
          </a:p>
          <a:p>
            <a:endParaRPr sz="1100" dirty="0"/>
          </a:p>
          <a:p>
            <a:r>
              <a:rPr sz="1100" dirty="0"/>
              <a:t>A specific note on Config rules. There's a managed rule called restricted-common-ports that checks whether security groups allow unrestricted inbound to specific TCP ports. You configure which ports to check, like 22, 3306, 3389. There's another called restricted-ssh that flags any 0.0.0.0/0 inbound to port 22 specifically. These are useful. They're not comprehensive. They only check the ports you list, not every port across every protocol. For broader coverage, pair them with AWS Security Hub's CIS AWS Foundations Benchmark, which aggregates a wider set of security group checks. Or write a custom Config rule.</a:t>
            </a:r>
          </a:p>
          <a:p>
            <a:endParaRPr sz="1100" dirty="0"/>
          </a:p>
          <a:p>
            <a:r>
              <a:rPr sz="1100" dirty="0"/>
              <a:t>And flag every 0.0.0.0/0 inbound rule. Doesn't matter the port. Doesn't matter the protocol. The "temporary" ones are always the ones that have been there for 18 months.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TOP 5 MISCONFIGS (~3 min · clock 32:00)</a:t>
            </a:r>
            <a:endParaRPr lang="en-US" dirty="0"/>
          </a:p>
          <a:p>
            <a:endParaRPr lang="en-US" dirty="0"/>
          </a:p>
          <a:p>
            <a:r>
              <a:rPr sz="1100" dirty="0"/>
              <a:t>These five misconfigurations appear in nearly every hybrid environment I look at. If you do nothing else after this talk, go check these five on Monday.</a:t>
            </a:r>
          </a:p>
          <a:p>
            <a:endParaRPr sz="1100" dirty="0"/>
          </a:p>
          <a:p>
            <a:r>
              <a:rPr sz="1100" dirty="0"/>
              <a:t>The first one is 0.0.0.0/0 on inbound security group rules. Critical severity. Everyone knows it's bad. Everyone has it somewhere. The "temporary" ones are always the ones still there a year later. The fix is scoping to specific source IPs or to specific other security groups. Set up AWS Config restricted-common-ports to alert you when it happens. Tag any intentionally-open SG with an expiration date.</a:t>
            </a:r>
          </a:p>
          <a:p>
            <a:endParaRPr sz="1100" dirty="0"/>
          </a:p>
          <a:p>
            <a:r>
              <a:rPr sz="1100" dirty="0"/>
              <a:t xml:space="preserve">The second one is no east-west inspection between subnets in multi-tier VPCs. High severity. We covered this. The default state of a multi-tier VPC is that intra-VPC traffic is uninspected. You have to build the inspection layer. The pattern is AWS Network Firewall or an NVA in a dedicated inspection VPC, with Transit Gateway route tables forcing cross-subnet traffic through it. AWS Landing Zone Accelerator implements this if you want a reference architecture to </a:t>
            </a:r>
            <a:r>
              <a:rPr lang="en-US" sz="1100" dirty="0"/>
              <a:t>build</a:t>
            </a:r>
            <a:r>
              <a:rPr sz="1100" dirty="0"/>
              <a:t xml:space="preserve"> from.</a:t>
            </a:r>
          </a:p>
          <a:p>
            <a:endParaRPr sz="1100" dirty="0"/>
          </a:p>
          <a:p>
            <a:r>
              <a:rPr sz="1100" dirty="0"/>
              <a:t>The third one is VPC Flow Logs disabled or not retained long enough. High severity. Start today. This is the single highest-leverage action item in the whole talk if it's not already done. And check your retention. 7 days does not help you in an incident investigation. 30 days is the bare minimum. 90 is what regulated environments expect.</a:t>
            </a:r>
          </a:p>
          <a:p>
            <a:endParaRPr sz="1100" dirty="0"/>
          </a:p>
          <a:p>
            <a:r>
              <a:rPr sz="1100" dirty="0"/>
              <a:t>The fourth one is WAF not attached to public-facing load balancers. High severity. Quick to fix</a:t>
            </a:r>
            <a:r>
              <a:rPr lang="en-US" sz="1100" dirty="0"/>
              <a:t xml:space="preserve">, about </a:t>
            </a:r>
            <a:r>
              <a:rPr sz="1100" dirty="0"/>
              <a:t>20 minutes per ALB. Use AWS Managed Rules Common Rule Set. It covers many of the OWASP Top 10 risks. It's a solid baseline, not full OWASP coverage. Add the SQL injection rule group on top. Add Known Bad Inputs. If you have specific application risk profiles, layer rule groups for those.</a:t>
            </a:r>
          </a:p>
          <a:p>
            <a:endParaRPr sz="1100" dirty="0"/>
          </a:p>
          <a:p>
            <a:r>
              <a:rPr sz="1100" dirty="0"/>
              <a:t>The fifth one is SD-WAN direct breakout with no cloud-side inspection. High severity. The medium-term fix is what we talked about in section three. SSE or SASE evaluation, vendor selection, design, rollout. That takes months. The immediate fix is tighter workload-level controls. Cloud firewall in front of workloads. Tight security groups. Workload-level controls so even if the network path doesn't get inspected, the destination is hardened.</a:t>
            </a:r>
          </a:p>
          <a:p>
            <a:endParaRPr sz="1100" dirty="0"/>
          </a:p>
          <a:p>
            <a:r>
              <a:rPr sz="1100" dirty="0"/>
              <a:t>Order matters here. Items one and three are essentially free, and you can have them done by the end of the week. Items two and five are architectural. They take time and money. Item four is the quickest win to show progress.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CLOUD-NATIVE SUFFICIENT (~2 min · clock 35:00)</a:t>
            </a:r>
            <a:endParaRPr lang="en-US" dirty="0"/>
          </a:p>
          <a:p>
            <a:endParaRPr lang="en-US" dirty="0"/>
          </a:p>
          <a:p>
            <a:r>
              <a:rPr sz="1100" dirty="0"/>
              <a:t>I want to be clear about something before we wrap, because cloud security talks have a bad habit of selling complexity.</a:t>
            </a:r>
          </a:p>
          <a:p>
            <a:endParaRPr sz="1100" dirty="0"/>
          </a:p>
          <a:p>
            <a:r>
              <a:rPr sz="1100" dirty="0"/>
              <a:t>You don't always need a third-party appliance. Adding network firewall services has a real cost, both in dollars and in operational overhead. Adding complexity does not automatically add security. Sometimes it adds attack surface.</a:t>
            </a:r>
          </a:p>
          <a:p>
            <a:endParaRPr sz="1100" dirty="0"/>
          </a:p>
          <a:p>
            <a:r>
              <a:rPr sz="1100" dirty="0"/>
              <a:t>The left column on the slide is when cloud-native controls can be enough. Simple architectures, single VPC, no public IPs, internal microservices, WAF already on every public ALB, dev environments with limited blast radius, threat model that's satisfied by Layer 3 and 4 access controls only. If that's your environment, security groups and the cloud-native services may be the right scope.</a:t>
            </a:r>
          </a:p>
          <a:p>
            <a:endParaRPr sz="1100" dirty="0"/>
          </a:p>
          <a:p>
            <a:r>
              <a:rPr sz="1100" dirty="0"/>
              <a:t>The right column is when you likely need more. Multi-VPC, multi-account environments where east-west traffic crosses VPC boundaries. Regulated data, like PCI, HIPAA, FedRAMP, CMMC, where requirements explicitly call for IDS or IPS-style controls. SD-WAN environments. Hybrid environments with on-prem connectivity. Anywhere your compliance framework needs you to be doing content inspection, not just access control.</a:t>
            </a:r>
          </a:p>
          <a:p>
            <a:endParaRPr sz="1100" dirty="0"/>
          </a:p>
          <a:p>
            <a:r>
              <a:rPr sz="1100" dirty="0"/>
              <a:t>A quick note on compliance specifics, because I know auditors are in some of these audiences. FedRAMP draws from NIST 800-53. SC-7 is the boundary protection control. SI-4 is the information system monitoring control. Both of them contemplate firewalls and IDS or IPS-class capabilities at the boundary. For CMMC 2.0, the relevant practice numbers are SC.L2-3.13.1 for boundary protection, and SI.L2-3.14.6 for monitor communications for attacks. Those are the current CMMC 2.0 identifiers. If you're working from older CMMC 1.0 documentation, the numbering is different and deprecated. SOC 2 Type II is more principles-based. It doesn't prescribe network inspection specifically, but auditors increasingly expect to see evidence of east-west monitoring under the security and confidentiality criteria.</a:t>
            </a:r>
          </a:p>
          <a:p>
            <a:endParaRPr sz="1100" dirty="0"/>
          </a:p>
          <a:p>
            <a:r>
              <a:rPr sz="1100" dirty="0"/>
              <a:t>The key question to ask yourself is this. Does your threat model or your compliance framework require content inspection, or just access control? That answer tells you whether you need an inspection layer or whether cloud-native is sufficient.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KEY TAKEAWAYS (~2 min · clock 37:00)</a:t>
            </a:r>
            <a:endParaRPr lang="en-US" dirty="0"/>
          </a:p>
          <a:p>
            <a:endParaRPr lang="en-US" dirty="0"/>
          </a:p>
          <a:p>
            <a:r>
              <a:rPr sz="1100" dirty="0"/>
              <a:t>Let me leave you with how to sequence this, because the worst outcome is you walk out with a list of a dozen things and do none of them. Think in three buckets by effort, plus who owns each piece.</a:t>
            </a:r>
          </a:p>
          <a:p>
            <a:endParaRPr sz="1100"/>
          </a:p>
          <a:p>
            <a:r>
              <a:rPr sz="1100" dirty="0"/>
              <a:t>Bucket one, this week, and it's essentially free. Turn on flow logs everywhere, version 3 or higher, 90-day retention to S3. And scope every 0.0.0.0/0 inbound rule you have. That's baseline visibility plus the one critical-severity misconfig, and neither costs anything but time. If you leave this room and do nothing else, do these two.</a:t>
            </a:r>
          </a:p>
          <a:p>
            <a:endParaRPr sz="1100"/>
          </a:p>
          <a:p>
            <a:r>
              <a:rPr sz="1100" dirty="0"/>
              <a:t>Bucket two, this month, the quick wins. Attach a WAF to every public ALB, about twenty minutes each. And if you run SD-WAN, run the split-brain test, SD-WAN analytics against flow logs for the same source IPs over the same window. Low cost, high signal, and I'd bet most of you find at least one mismatch.</a:t>
            </a:r>
          </a:p>
          <a:p>
            <a:endParaRPr sz="1100"/>
          </a:p>
          <a:p>
            <a:r>
              <a:rPr sz="1100" dirty="0"/>
              <a:t>Bucket three, this quarter, the architectural work. East-west inspection, an inspection VPC behind a Transit Gateway. And for SD-WAN breakout, evaluating SSE or SASE. These cost real budget and real design time, which is exactly why you start the conversation now instead of when an auditor or an incident forces it.</a:t>
            </a:r>
          </a:p>
          <a:p>
            <a:endParaRPr sz="1100"/>
          </a:p>
          <a:p>
            <a:r>
              <a:rPr sz="1100" dirty="0"/>
              <a:t>Then ownership, because 'the team should handle it' is how nothing gets handled. Developers and platform engineers own flow logs and security-group hygiene, it's already in their workflow. Network and security own WAF coverage, the split-brain test, and the inspection architecture. Everyone in the room owns the mindset shift, trust the flow logs, not the diagram.</a:t>
            </a:r>
          </a:p>
          <a:p>
            <a:endParaRPr sz="1100"/>
          </a:p>
          <a:p>
            <a:r>
              <a:rPr sz="1100" dirty="0"/>
              <a:t>The buckets matter because bucket one is free and bucket three needs budget approval. So the free work has no excuse, and the expensive work needs you to start the clock today.</a:t>
            </a:r>
          </a:p>
          <a:p>
            <a:endParaRPr sz="1100"/>
          </a:p>
          <a:p>
            <a:r>
              <a:rPr sz="1100" dirty="0"/>
              <a:t>The whole point of this talk is that these gaps are not exotic. They're not theoretical. They are everywhere, and the audit steps to find them are simple. The hard part is doing it. Make Monday a flow log 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Q&amp;A (~6-7 min budget · clock 39:00 to ~46:00)</a:t>
            </a:r>
            <a:endParaRPr lang="en-US" dirty="0"/>
          </a:p>
          <a:p>
            <a:endParaRPr lang="en-US" dirty="0"/>
          </a:p>
          <a:p>
            <a:r>
              <a:rPr sz="1100" dirty="0"/>
              <a:t>Open it up. Some prompts if the room is quiet to start:</a:t>
            </a:r>
          </a:p>
          <a:p>
            <a:endParaRPr sz="1100"/>
          </a:p>
          <a:p>
            <a:r>
              <a:rPr sz="1100" dirty="0"/>
              <a:t>- "What does your hybrid environment look like? Mostly on-prem, cloud-first, or middle-of-migration?"</a:t>
            </a:r>
          </a:p>
          <a:p>
            <a:r>
              <a:rPr sz="1100" dirty="0"/>
              <a:t>- "Has anyone here actually run into a firewall ticket situation that blocked a deployment? What was the root cause?"</a:t>
            </a:r>
          </a:p>
          <a:p>
            <a:r>
              <a:rPr sz="1100" dirty="0"/>
              <a:t>- "Is SD-WAN deployed in your org today? How are you handling inspection at the breakout?"</a:t>
            </a:r>
          </a:p>
          <a:p>
            <a:endParaRPr sz="1100"/>
          </a:p>
          <a:p>
            <a:r>
              <a:rPr sz="1100" dirty="0"/>
              <a:t>LIKELY QUESTIONS, be ready with these:</a:t>
            </a:r>
          </a:p>
          <a:p>
            <a:endParaRPr sz="1100"/>
          </a:p>
          <a:p>
            <a:r>
              <a:rPr sz="1100" dirty="0"/>
              <a:t>▸ Kubernetes network policy.</a:t>
            </a:r>
          </a:p>
          <a:p>
            <a:r>
              <a:rPr sz="1100" dirty="0"/>
              <a:t>K8s network policies are an additional segmentation layer on top of the VPC. They give you pod-to-pod controls that ordinary security groups don't see, because with most CNIs pod traffic happens inside an EC2 instance from the SG's perspective. The exception is AWS's VPC CNI, where pods get VPC IPs and you can use security groups for pods, but even then network policies are what give you fine-grained east-west control. If you're running EKS or AKS, you need network policies, and a CNI that enforces them like Calico or Cilium, to get east-west pod control. This talk is about the underlay. K8s policies are part of the overlay story.</a:t>
            </a:r>
          </a:p>
          <a:p>
            <a:endParaRPr sz="1100"/>
          </a:p>
          <a:p>
            <a:r>
              <a:rPr sz="1100" dirty="0"/>
              <a:t>▸ IPv6 considerations.</a:t>
            </a:r>
          </a:p>
          <a:p>
            <a:r>
              <a:rPr sz="1100" dirty="0"/>
              <a:t>Yes, all of this applies to v6 too. Specific gotchas: dual-stack subnets, dual-stack security groups that often have v4 rules but no v6 rules, and AWS NAT Gateway is v4-only. Egress for v6 uses the egress-only internet gateway, with different semantics. Audit your v6 rules separately.</a:t>
            </a:r>
          </a:p>
          <a:p>
            <a:endParaRPr sz="1100"/>
          </a:p>
          <a:p>
            <a:r>
              <a:rPr sz="1100" dirty="0"/>
              <a:t>▸ IMDSv2 / metadata service.</a:t>
            </a:r>
          </a:p>
          <a:p>
            <a:r>
              <a:rPr sz="1100" dirty="0"/>
              <a:t>Yes, absolutely use IMDSv2. Session-token-based. It prevents SSRF-style attacks against the metadata service. Enforceable at the launch template level. Required setting if you care about SSRF protection on cloud workloads.</a:t>
            </a:r>
          </a:p>
          <a:p>
            <a:endParaRPr sz="1100"/>
          </a:p>
          <a:p>
            <a:r>
              <a:rPr sz="1100" dirty="0"/>
              <a:t>▸ Cost of AWS Network Firewall.</a:t>
            </a:r>
          </a:p>
          <a:p>
            <a:r>
              <a:rPr sz="1100" dirty="0"/>
              <a:t>Endpoint hours plus data processing, billed per endpoint and per GB, so cost scales with how many VPCs you protect and how much traffic you inspect. Justification is usually compliance. Boundary inspection requirements that cloud-native SGs can't satisfy. Frame it as the cost of east-west IDS or IPS at scale, which on-prem would have been dedicated appliance plus licensing anyway.</a:t>
            </a:r>
          </a:p>
          <a:p>
            <a:endParaRPr sz="1100"/>
          </a:p>
          <a:p>
            <a:r>
              <a:rPr sz="1100" dirty="0"/>
              <a:t>▸ Microsegmentation tools.</a:t>
            </a:r>
          </a:p>
          <a:p>
            <a:r>
              <a:rPr sz="1100" dirty="0"/>
              <a:t>Illumio, Akamai Guardicore, others. Workload-identity-based segmentation that's policy-driven rather than IP-driven. Complementary to network firewall services, not a replacement. Heavier lift. Best fit for shops with high east-west risk and dedicated security engineering.</a:t>
            </a:r>
          </a:p>
          <a:p>
            <a:endParaRPr sz="1100"/>
          </a:p>
          <a:p>
            <a:r>
              <a:rPr sz="1100" dirty="0"/>
              <a:t>▸ ZTNA or SSE as alternative to SD-WAN backhaul.</a:t>
            </a:r>
          </a:p>
          <a:p>
            <a:r>
              <a:rPr sz="1100" dirty="0"/>
              <a:t>Same conversation as section three. ZTNA is a piece of SSE. Application-level access without network access. Some shops are skipping SD-WAN entirely and going directly to SSE for branch connectivity. Both architectures coexist in most enterprises.</a:t>
            </a:r>
          </a:p>
          <a:p>
            <a:endParaRPr sz="1100"/>
          </a:p>
          <a:p>
            <a:r>
              <a:rPr sz="1100" dirty="0"/>
              <a:t>▸ Cross-account VPC peering vs Transit Gateway.</a:t>
            </a:r>
          </a:p>
          <a:p>
            <a:r>
              <a:rPr sz="1100" dirty="0"/>
              <a:t>Peering does not give you transitive routing. That's a feature, not a bug. TGW does, and TGW route tables become a critical security control. Audit TGW route tables for routes that allow traffic into accounts that shouldn't have it.</a:t>
            </a:r>
          </a:p>
          <a:p>
            <a:endParaRPr sz="1100"/>
          </a:p>
          <a:p>
            <a:r>
              <a:rPr sz="1100" dirty="0"/>
              <a:t>▸ "Our team says we don't need this because we have perimeter firewalls."</a:t>
            </a:r>
          </a:p>
          <a:p>
            <a:r>
              <a:rPr sz="1100" dirty="0"/>
              <a:t>Perimeter firewalls don't see east-west VPC traffic. They never did. Your perimeter is now distributed across every public-facing service in every account.</a:t>
            </a:r>
          </a:p>
          <a:p>
            <a:endParaRPr sz="1100"/>
          </a:p>
          <a:p>
            <a:r>
              <a:rPr sz="1100" dirty="0"/>
              <a:t>▸ CISA ED 26-03 details.</a:t>
            </a:r>
          </a:p>
          <a:p>
            <a:r>
              <a:rPr sz="1100" dirty="0"/>
              <a:t>Original ED (February) covered CVE-2026-20127 (auth bypass) and CVE-2022-20775 (path traversal, used post-compromise for root). CISA added the CVE-2026-20133 / 20128 / 20122 SD-WAN Manager exploit chain to KEV on April 20, and CVE-2026-20182 (another critical auth bypass, CVSS 10.0) on May 14. All affect Cisco Catalyst SD-WAN Manager and/or Controller. Talos tracks the primary actor cluster as UAT-8616, with roughly ten more clusters exploiting after PoC code was published.</a:t>
            </a:r>
          </a:p>
          <a:p>
            <a:endParaRPr sz="1100"/>
          </a:p>
          <a:p>
            <a:r>
              <a:rPr sz="1100" dirty="0"/>
              <a:t>▸ Provider-specific behavior differences.</a:t>
            </a:r>
          </a:p>
          <a:p>
            <a:r>
              <a:rPr sz="1100" dirty="0"/>
              <a:t>Azure NSGs versus AWS SGs. NSGs can apply at NIC or subnet level. SGs apply only at the ENI. GCP firewall rules are per-VPC and direction-explicit. The gap pattern is the same across all three.</a:t>
            </a:r>
          </a:p>
          <a:p>
            <a:endParaRPr sz="1100"/>
          </a:p>
          <a:p>
            <a:r>
              <a:rPr sz="1100" dirty="0"/>
              <a:t>After Q&amp;A, point to the next slide for reference links.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t>SPEAKER NOTES – RESOURCES (~30 sec · clock 46:00)</a:t>
            </a:r>
            <a:endParaRPr lang="en-US" dirty="0"/>
          </a:p>
          <a:p>
            <a:endParaRPr lang="en-US" dirty="0"/>
          </a:p>
          <a:p>
            <a:r>
              <a:rPr sz="1100" dirty="0"/>
              <a:t>Leave this up while people take photos.</a:t>
            </a:r>
          </a:p>
          <a:p>
            <a:endParaRPr sz="1100"/>
          </a:p>
          <a:p>
            <a:r>
              <a:rPr sz="1100" dirty="0"/>
              <a:t>If your org runs Cisco Catalyst SD-WAN, the CISA ED 26-03 is the urgent read. Active exploitation right now.</a:t>
            </a:r>
          </a:p>
          <a:p>
            <a:endParaRPr sz="1100"/>
          </a:p>
          <a:p>
            <a:r>
              <a:rPr sz="1100" dirty="0"/>
              <a:t>The AWS Network Firewall stateless versus stateful doc is the authoritative source for understanding what security groups give you versus what a full firewall service provides.</a:t>
            </a:r>
          </a:p>
          <a:p>
            <a:endParaRPr sz="1100"/>
          </a:p>
          <a:p>
            <a:r>
              <a:rPr sz="1100" dirty="0"/>
              <a:t>Flow logs docs for AWS, Azure, and GCP are all there. Start with whichever is primary for you.</a:t>
            </a:r>
          </a:p>
          <a:p>
            <a:endParaRPr sz="1100"/>
          </a:p>
          <a:p>
            <a:r>
              <a:rPr sz="1100" dirty="0"/>
              <a:t>Thanks for coming. See you at the after-event.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411480"/>
            <a:ext cx="6400800" cy="292608"/>
          </a:xfrm>
          <a:prstGeom prst="rect">
            <a:avLst/>
          </a:prstGeom>
          <a:noFill/>
          <a:ln/>
        </p:spPr>
        <p:txBody>
          <a:bodyPr wrap="square" rtlCol="0" anchor="ctr"/>
          <a:lstStyle/>
          <a:p>
            <a:pPr marL="0" indent="0">
              <a:buNone/>
            </a:pPr>
            <a:r>
              <a:rPr lang="en-US" sz="1100" kern="0" spc="100" dirty="0">
                <a:solidFill>
                  <a:srgbClr val="6B7280"/>
                </a:solidFill>
                <a:latin typeface="Calibri" pitchFamily="34" charset="0"/>
                <a:ea typeface="Calibri" pitchFamily="34" charset="-122"/>
                <a:cs typeface="Calibri" pitchFamily="34" charset="-120"/>
              </a:rPr>
              <a:t>GRASSr00tz 2026  ·  Technical Track  ·  June 4</a:t>
            </a:r>
            <a:endParaRPr lang="en-US" sz="1100" dirty="0"/>
          </a:p>
        </p:txBody>
      </p:sp>
      <p:sp>
        <p:nvSpPr>
          <p:cNvPr id="3" name="Text 1"/>
          <p:cNvSpPr/>
          <p:nvPr/>
        </p:nvSpPr>
        <p:spPr>
          <a:xfrm>
            <a:off x="502920" y="822960"/>
            <a:ext cx="7132320" cy="2194560"/>
          </a:xfrm>
          <a:prstGeom prst="rect">
            <a:avLst/>
          </a:prstGeom>
          <a:noFill/>
          <a:ln/>
        </p:spPr>
        <p:txBody>
          <a:bodyPr wrap="square" rtlCol="0" anchor="ctr"/>
          <a:lstStyle/>
          <a:p>
            <a:pPr marL="0" indent="0">
              <a:lnSpc>
                <a:spcPct val="115000"/>
              </a:lnSpc>
              <a:buNone/>
            </a:pPr>
            <a:r>
              <a:rPr lang="en-US" sz="4400" b="1" dirty="0">
                <a:solidFill>
                  <a:srgbClr val="F9FAFB"/>
                </a:solidFill>
                <a:latin typeface="Calibri" pitchFamily="34" charset="0"/>
                <a:ea typeface="Calibri" pitchFamily="34" charset="-122"/>
                <a:cs typeface="Calibri" pitchFamily="34" charset="-120"/>
              </a:rPr>
              <a:t>Your Deployment Pipeline</a:t>
            </a:r>
            <a:endParaRPr lang="en-US" sz="4400" dirty="0"/>
          </a:p>
          <a:p>
            <a:pPr marL="0" indent="0">
              <a:lnSpc>
                <a:spcPct val="115000"/>
              </a:lnSpc>
              <a:buNone/>
            </a:pPr>
            <a:r>
              <a:rPr lang="en-US" sz="4400" b="1" dirty="0">
                <a:solidFill>
                  <a:srgbClr val="F9FAFB"/>
                </a:solidFill>
                <a:latin typeface="Calibri" pitchFamily="34" charset="0"/>
                <a:ea typeface="Calibri" pitchFamily="34" charset="-122"/>
                <a:cs typeface="Calibri" pitchFamily="34" charset="-120"/>
              </a:rPr>
              <a:t>Ends at a Firewall Ticket</a:t>
            </a:r>
            <a:endParaRPr lang="en-US" sz="4400" dirty="0"/>
          </a:p>
        </p:txBody>
      </p:sp>
      <p:sp>
        <p:nvSpPr>
          <p:cNvPr id="4" name="Text 2"/>
          <p:cNvSpPr/>
          <p:nvPr/>
        </p:nvSpPr>
        <p:spPr>
          <a:xfrm>
            <a:off x="502920" y="3154680"/>
            <a:ext cx="6583680" cy="777240"/>
          </a:xfrm>
          <a:prstGeom prst="rect">
            <a:avLst/>
          </a:prstGeom>
          <a:noFill/>
          <a:ln/>
        </p:spPr>
        <p:txBody>
          <a:bodyPr wrap="square" rtlCol="0" anchor="ctr"/>
          <a:lstStyle/>
          <a:p>
            <a:pPr marL="0" indent="0">
              <a:lnSpc>
                <a:spcPct val="140000"/>
              </a:lnSpc>
              <a:buNone/>
            </a:pPr>
            <a:r>
              <a:rPr lang="en-US" sz="1600" i="1" dirty="0">
                <a:solidFill>
                  <a:srgbClr val="D1D5DB"/>
                </a:solidFill>
                <a:latin typeface="Calibri" pitchFamily="34" charset="0"/>
                <a:ea typeface="Calibri" pitchFamily="34" charset="-122"/>
                <a:cs typeface="Calibri" pitchFamily="34" charset="-120"/>
              </a:rPr>
              <a:t>How cloud migration carries the wrong network security</a:t>
            </a:r>
            <a:endParaRPr lang="en-US" sz="1600" dirty="0"/>
          </a:p>
          <a:p>
            <a:pPr marL="0" indent="0">
              <a:lnSpc>
                <a:spcPct val="140000"/>
              </a:lnSpc>
              <a:buNone/>
            </a:pPr>
            <a:r>
              <a:rPr lang="en-US" sz="1600" i="1" dirty="0">
                <a:solidFill>
                  <a:srgbClr val="D1D5DB"/>
                </a:solidFill>
                <a:latin typeface="Calibri" pitchFamily="34" charset="0"/>
                <a:ea typeface="Calibri" pitchFamily="34" charset="-122"/>
                <a:cs typeface="Calibri" pitchFamily="34" charset="-120"/>
              </a:rPr>
              <a:t>assumptions, and what to do about it.</a:t>
            </a:r>
            <a:endParaRPr lang="en-US" sz="1600" dirty="0"/>
          </a:p>
        </p:txBody>
      </p:sp>
      <p:sp>
        <p:nvSpPr>
          <p:cNvPr id="5" name="Shape 3"/>
          <p:cNvSpPr/>
          <p:nvPr/>
        </p:nvSpPr>
        <p:spPr>
          <a:xfrm>
            <a:off x="502920" y="4160520"/>
            <a:ext cx="3200400" cy="27432"/>
          </a:xfrm>
          <a:prstGeom prst="rect">
            <a:avLst/>
          </a:prstGeom>
          <a:solidFill>
            <a:srgbClr val="14B8A6"/>
          </a:solidFill>
          <a:ln w="12700">
            <a:solidFill>
              <a:srgbClr val="14B8A6"/>
            </a:solidFill>
            <a:prstDash val="solid"/>
          </a:ln>
        </p:spPr>
        <p:txBody>
          <a:bodyPr/>
          <a:lstStyle/>
          <a:p>
            <a:endParaRPr lang="en-US"/>
          </a:p>
        </p:txBody>
      </p:sp>
      <p:sp>
        <p:nvSpPr>
          <p:cNvPr id="6" name="Text 4"/>
          <p:cNvSpPr/>
          <p:nvPr/>
        </p:nvSpPr>
        <p:spPr>
          <a:xfrm>
            <a:off x="502920" y="4315968"/>
            <a:ext cx="4572000" cy="347472"/>
          </a:xfrm>
          <a:prstGeom prst="rect">
            <a:avLst/>
          </a:prstGeom>
          <a:noFill/>
          <a:ln/>
        </p:spPr>
        <p:txBody>
          <a:bodyPr wrap="square" rtlCol="0" anchor="ctr"/>
          <a:lstStyle/>
          <a:p>
            <a:pPr marL="0" indent="0">
              <a:buNone/>
            </a:pPr>
            <a:r>
              <a:rPr lang="en-US" sz="1700" b="1" dirty="0">
                <a:solidFill>
                  <a:srgbClr val="F9FAFB"/>
                </a:solidFill>
                <a:latin typeface="Calibri" pitchFamily="34" charset="0"/>
                <a:ea typeface="Calibri" pitchFamily="34" charset="-122"/>
                <a:cs typeface="Calibri" pitchFamily="34" charset="-120"/>
              </a:rPr>
              <a:t>Tyler Coady</a:t>
            </a:r>
            <a:endParaRPr lang="en-US" sz="1700" dirty="0"/>
          </a:p>
        </p:txBody>
      </p:sp>
      <p:sp>
        <p:nvSpPr>
          <p:cNvPr id="7" name="Text 5"/>
          <p:cNvSpPr/>
          <p:nvPr/>
        </p:nvSpPr>
        <p:spPr>
          <a:xfrm>
            <a:off x="502920" y="4663440"/>
            <a:ext cx="8229600" cy="274320"/>
          </a:xfrm>
          <a:prstGeom prst="rect">
            <a:avLst/>
          </a:prstGeom>
          <a:noFill/>
          <a:ln/>
        </p:spPr>
        <p:txBody>
          <a:bodyPr wrap="square" rtlCol="0" anchor="ctr"/>
          <a:lstStyle/>
          <a:p>
            <a:pPr marL="0" indent="0">
              <a:buNone/>
            </a:pPr>
            <a:r>
              <a:rPr lang="en-US" sz="1100" dirty="0">
                <a:solidFill>
                  <a:srgbClr val="9CA3AF"/>
                </a:solidFill>
                <a:latin typeface="Calibri" pitchFamily="34" charset="0"/>
                <a:ea typeface="Calibri" pitchFamily="34" charset="-122"/>
                <a:cs typeface="Calibri" pitchFamily="34" charset="-120"/>
              </a:rPr>
              <a:t xml:space="preserve">Cloud Security Professional  ·  AWS  ·  Azure  ·  GCP </a:t>
            </a:r>
            <a:endParaRPr lang="en-US" sz="1100" dirty="0"/>
          </a:p>
        </p:txBody>
      </p:sp>
      <p:sp>
        <p:nvSpPr>
          <p:cNvPr id="8" name="Shape 6"/>
          <p:cNvSpPr/>
          <p:nvPr/>
        </p:nvSpPr>
        <p:spPr>
          <a:xfrm>
            <a:off x="7406640" y="457200"/>
            <a:ext cx="1508760" cy="4480560"/>
          </a:xfrm>
          <a:prstGeom prst="rect">
            <a:avLst/>
          </a:prstGeom>
          <a:solidFill>
            <a:srgbClr val="0F3D3A"/>
          </a:solidFill>
          <a:ln w="12700">
            <a:solidFill>
              <a:srgbClr val="14B8A6"/>
            </a:solidFill>
            <a:prstDash val="solid"/>
          </a:ln>
        </p:spPr>
        <p:txBody>
          <a:bodyPr/>
          <a:lstStyle/>
          <a:p>
            <a:endParaRPr lang="en-US"/>
          </a:p>
        </p:txBody>
      </p:sp>
      <p:sp>
        <p:nvSpPr>
          <p:cNvPr id="9" name="Text 7"/>
          <p:cNvSpPr/>
          <p:nvPr/>
        </p:nvSpPr>
        <p:spPr>
          <a:xfrm>
            <a:off x="7452360" y="594360"/>
            <a:ext cx="1417320" cy="4206240"/>
          </a:xfrm>
          <a:prstGeom prst="rect">
            <a:avLst/>
          </a:prstGeom>
          <a:noFill/>
          <a:ln/>
        </p:spPr>
        <p:txBody>
          <a:bodyPr wrap="square" rtlCol="0" anchor="ctr"/>
          <a:lstStyle/>
          <a:p>
            <a:pPr marL="0" indent="0">
              <a:lnSpc>
                <a:spcPct val="150000"/>
              </a:lnSpc>
              <a:buNone/>
            </a:pPr>
            <a:r>
              <a:rPr lang="en-US" sz="1100" b="1" dirty="0">
                <a:solidFill>
                  <a:srgbClr val="14B8A6"/>
                </a:solidFill>
                <a:latin typeface="Calibri" pitchFamily="34" charset="0"/>
                <a:ea typeface="Calibri" pitchFamily="34" charset="-122"/>
                <a:cs typeface="Calibri" pitchFamily="34" charset="-120"/>
              </a:rPr>
              <a:t>Security groups
</a:t>
            </a:r>
            <a:r>
              <a:rPr lang="en-US" sz="1100" dirty="0">
                <a:solidFill>
                  <a:srgbClr val="D1D5DB"/>
                </a:solidFill>
                <a:latin typeface="Calibri" pitchFamily="34" charset="0"/>
                <a:ea typeface="Calibri" pitchFamily="34" charset="-122"/>
                <a:cs typeface="Calibri" pitchFamily="34" charset="-120"/>
              </a:rPr>
              <a:t>≠ stateful firewalls
</a:t>
            </a:r>
            <a:r>
              <a:rPr lang="en-US" sz="1100" b="1" dirty="0">
                <a:solidFill>
                  <a:srgbClr val="14B8A6"/>
                </a:solidFill>
                <a:latin typeface="Calibri" pitchFamily="34" charset="0"/>
                <a:ea typeface="Calibri" pitchFamily="34" charset="-122"/>
                <a:cs typeface="Calibri" pitchFamily="34" charset="-120"/>
              </a:rPr>
              <a:t>VPC subnets
</a:t>
            </a:r>
            <a:r>
              <a:rPr lang="en-US" sz="1100" dirty="0">
                <a:solidFill>
                  <a:srgbClr val="D1D5DB"/>
                </a:solidFill>
                <a:latin typeface="Calibri" pitchFamily="34" charset="0"/>
                <a:ea typeface="Calibri" pitchFamily="34" charset="-122"/>
                <a:cs typeface="Calibri" pitchFamily="34" charset="-120"/>
              </a:rPr>
              <a:t>≠ VLANs
</a:t>
            </a:r>
            <a:r>
              <a:rPr lang="en-US" sz="1100" b="1" dirty="0">
                <a:solidFill>
                  <a:srgbClr val="14B8A6"/>
                </a:solidFill>
                <a:latin typeface="Calibri" pitchFamily="34" charset="0"/>
                <a:ea typeface="Calibri" pitchFamily="34" charset="-122"/>
                <a:cs typeface="Calibri" pitchFamily="34" charset="-120"/>
              </a:rPr>
              <a:t>NAT gateways
</a:t>
            </a:r>
            <a:r>
              <a:rPr lang="en-US" sz="1100" dirty="0">
                <a:solidFill>
                  <a:srgbClr val="D1D5DB"/>
                </a:solidFill>
                <a:latin typeface="Calibri" pitchFamily="34" charset="0"/>
                <a:ea typeface="Calibri" pitchFamily="34" charset="-122"/>
                <a:cs typeface="Calibri" pitchFamily="34" charset="-120"/>
              </a:rPr>
              <a:t>≠ DMZs
</a:t>
            </a:r>
            <a:r>
              <a:rPr lang="en-US" sz="1100" b="1" dirty="0">
                <a:solidFill>
                  <a:srgbClr val="14B8A6"/>
                </a:solidFill>
                <a:latin typeface="Calibri" pitchFamily="34" charset="0"/>
                <a:ea typeface="Calibri" pitchFamily="34" charset="-122"/>
                <a:cs typeface="Calibri" pitchFamily="34" charset="-120"/>
              </a:rPr>
              <a:t>SD-WAN breakout
</a:t>
            </a:r>
            <a:r>
              <a:rPr lang="en-US" sz="1100" dirty="0">
                <a:solidFill>
                  <a:srgbClr val="D1D5DB"/>
                </a:solidFill>
                <a:latin typeface="Calibri" pitchFamily="34" charset="0"/>
                <a:ea typeface="Calibri" pitchFamily="34" charset="-122"/>
                <a:cs typeface="Calibri" pitchFamily="34" charset="-120"/>
              </a:rPr>
              <a:t>≠ inspection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320040"/>
            <a:ext cx="8229600" cy="502920"/>
          </a:xfrm>
          <a:prstGeom prst="rect">
            <a:avLst/>
          </a:prstGeom>
          <a:noFill/>
          <a:ln/>
        </p:spPr>
        <p:txBody>
          <a:bodyPr wrap="square" rtlCol="0" anchor="ctr"/>
          <a:lstStyle/>
          <a:p>
            <a:pPr marL="0" indent="0">
              <a:buNone/>
            </a:pPr>
            <a:r>
              <a:rPr lang="en-US" sz="3000" b="1" dirty="0">
                <a:solidFill>
                  <a:srgbClr val="F9FAFB"/>
                </a:solidFill>
                <a:latin typeface="Calibri" pitchFamily="34" charset="0"/>
                <a:ea typeface="Calibri" pitchFamily="34" charset="-122"/>
                <a:cs typeface="Calibri" pitchFamily="34" charset="-120"/>
              </a:rPr>
              <a:t>Agenda</a:t>
            </a:r>
            <a:endParaRPr lang="en-US" sz="3000" dirty="0"/>
          </a:p>
        </p:txBody>
      </p:sp>
      <p:sp>
        <p:nvSpPr>
          <p:cNvPr id="3" name="Text 1"/>
          <p:cNvSpPr/>
          <p:nvPr/>
        </p:nvSpPr>
        <p:spPr>
          <a:xfrm>
            <a:off x="502920" y="822960"/>
            <a:ext cx="8229600" cy="292608"/>
          </a:xfrm>
          <a:prstGeom prst="rect">
            <a:avLst/>
          </a:prstGeom>
          <a:noFill/>
          <a:ln/>
        </p:spPr>
        <p:txBody>
          <a:bodyPr wrap="square" rtlCol="0" anchor="ctr"/>
          <a:lstStyle/>
          <a:p>
            <a:pPr marL="0" indent="0">
              <a:buNone/>
            </a:pPr>
            <a:r>
              <a:rPr lang="en-US" sz="1300" i="1" dirty="0">
                <a:solidFill>
                  <a:srgbClr val="9CA3AF"/>
                </a:solidFill>
                <a:latin typeface="Calibri" pitchFamily="34" charset="0"/>
                <a:ea typeface="Calibri" pitchFamily="34" charset="-122"/>
                <a:cs typeface="Calibri" pitchFamily="34" charset="-120"/>
              </a:rPr>
              <a:t>45 minutes · 4 sections · leave with things you can actually do this week</a:t>
            </a:r>
            <a:endParaRPr lang="en-US" sz="1300" dirty="0"/>
          </a:p>
        </p:txBody>
      </p:sp>
      <p:sp>
        <p:nvSpPr>
          <p:cNvPr id="4" name="Shape 2"/>
          <p:cNvSpPr/>
          <p:nvPr/>
        </p:nvSpPr>
        <p:spPr>
          <a:xfrm>
            <a:off x="502920" y="1280160"/>
            <a:ext cx="8321040" cy="777240"/>
          </a:xfrm>
          <a:prstGeom prst="rect">
            <a:avLst/>
          </a:prstGeom>
          <a:solidFill>
            <a:srgbClr val="1F2937"/>
          </a:solidFill>
          <a:ln w="12700">
            <a:solidFill>
              <a:srgbClr val="374151"/>
            </a:solidFill>
            <a:prstDash val="solid"/>
          </a:ln>
        </p:spPr>
        <p:txBody>
          <a:bodyPr/>
          <a:lstStyle/>
          <a:p>
            <a:endParaRPr lang="en-US"/>
          </a:p>
        </p:txBody>
      </p:sp>
      <p:sp>
        <p:nvSpPr>
          <p:cNvPr id="5" name="Shape 3"/>
          <p:cNvSpPr/>
          <p:nvPr/>
        </p:nvSpPr>
        <p:spPr>
          <a:xfrm>
            <a:off x="731520" y="1394460"/>
            <a:ext cx="548640" cy="548640"/>
          </a:xfrm>
          <a:prstGeom prst="ellipse">
            <a:avLst/>
          </a:prstGeom>
          <a:solidFill>
            <a:srgbClr val="14B8A6"/>
          </a:solidFill>
          <a:ln w="12700">
            <a:solidFill>
              <a:srgbClr val="14B8A6"/>
            </a:solidFill>
            <a:prstDash val="solid"/>
          </a:ln>
        </p:spPr>
        <p:txBody>
          <a:bodyPr/>
          <a:lstStyle/>
          <a:p>
            <a:endParaRPr lang="en-US"/>
          </a:p>
        </p:txBody>
      </p:sp>
      <p:sp>
        <p:nvSpPr>
          <p:cNvPr id="6" name="Text 4"/>
          <p:cNvSpPr/>
          <p:nvPr/>
        </p:nvSpPr>
        <p:spPr>
          <a:xfrm>
            <a:off x="731520" y="1444752"/>
            <a:ext cx="548640" cy="457200"/>
          </a:xfrm>
          <a:prstGeom prst="rect">
            <a:avLst/>
          </a:prstGeom>
          <a:noFill/>
          <a:ln/>
        </p:spPr>
        <p:txBody>
          <a:bodyPr wrap="square" rtlCol="0" anchor="ctr"/>
          <a:lstStyle/>
          <a:p>
            <a:pPr marL="0" indent="0" algn="ctr">
              <a:buNone/>
            </a:pPr>
            <a:r>
              <a:rPr lang="en-US" sz="1300" b="1" dirty="0">
                <a:solidFill>
                  <a:srgbClr val="111827"/>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417320" y="1353312"/>
            <a:ext cx="5303520" cy="320040"/>
          </a:xfrm>
          <a:prstGeom prst="rect">
            <a:avLst/>
          </a:prstGeom>
          <a:noFill/>
          <a:ln/>
        </p:spPr>
        <p:txBody>
          <a:bodyPr wrap="square" rtlCol="0" anchor="ctr"/>
          <a:lstStyle/>
          <a:p>
            <a:pPr marL="0" indent="0">
              <a:buNone/>
            </a:pPr>
            <a:r>
              <a:rPr lang="en-US" sz="1600" b="1" dirty="0">
                <a:solidFill>
                  <a:srgbClr val="F9FAFB"/>
                </a:solidFill>
                <a:latin typeface="Calibri" pitchFamily="34" charset="0"/>
                <a:ea typeface="Calibri" pitchFamily="34" charset="-122"/>
                <a:cs typeface="Calibri" pitchFamily="34" charset="-120"/>
              </a:rPr>
              <a:t>The Mental Model Problem</a:t>
            </a:r>
            <a:endParaRPr lang="en-US" sz="1600" dirty="0"/>
          </a:p>
        </p:txBody>
      </p:sp>
      <p:sp>
        <p:nvSpPr>
          <p:cNvPr id="8" name="Text 6"/>
          <p:cNvSpPr/>
          <p:nvPr/>
        </p:nvSpPr>
        <p:spPr>
          <a:xfrm>
            <a:off x="1417320" y="1682496"/>
            <a:ext cx="5303520" cy="274320"/>
          </a:xfrm>
          <a:prstGeom prst="rect">
            <a:avLst/>
          </a:prstGeom>
          <a:noFill/>
          <a:ln/>
        </p:spPr>
        <p:txBody>
          <a:bodyPr wrap="square" rtlCol="0" anchor="ctr"/>
          <a:lstStyle/>
          <a:p>
            <a:pPr marL="0" indent="0">
              <a:buNone/>
            </a:pPr>
            <a:r>
              <a:rPr lang="en-US" sz="1200" dirty="0">
                <a:solidFill>
                  <a:srgbClr val="9CA3AF"/>
                </a:solidFill>
                <a:latin typeface="Calibri" pitchFamily="34" charset="0"/>
                <a:ea typeface="Calibri" pitchFamily="34" charset="-122"/>
                <a:cs typeface="Calibri" pitchFamily="34" charset="-120"/>
              </a:rPr>
              <a:t>Why on-prem assumptions break in the cloud</a:t>
            </a:r>
            <a:endParaRPr lang="en-US" sz="1200" dirty="0"/>
          </a:p>
        </p:txBody>
      </p:sp>
      <p:sp>
        <p:nvSpPr>
          <p:cNvPr id="9" name="Shape 7"/>
          <p:cNvSpPr/>
          <p:nvPr/>
        </p:nvSpPr>
        <p:spPr>
          <a:xfrm>
            <a:off x="8046720" y="1481328"/>
            <a:ext cx="685800" cy="347472"/>
          </a:xfrm>
          <a:prstGeom prst="rect">
            <a:avLst/>
          </a:prstGeom>
          <a:solidFill>
            <a:srgbClr val="0F3D3A"/>
          </a:solidFill>
          <a:ln w="12700">
            <a:solidFill>
              <a:srgbClr val="14B8A6"/>
            </a:solidFill>
            <a:prstDash val="solid"/>
          </a:ln>
        </p:spPr>
        <p:txBody>
          <a:bodyPr/>
          <a:lstStyle/>
          <a:p>
            <a:endParaRPr lang="en-US"/>
          </a:p>
        </p:txBody>
      </p:sp>
      <p:sp>
        <p:nvSpPr>
          <p:cNvPr id="10" name="Text 8"/>
          <p:cNvSpPr/>
          <p:nvPr/>
        </p:nvSpPr>
        <p:spPr>
          <a:xfrm>
            <a:off x="8046720" y="1481328"/>
            <a:ext cx="685800" cy="347472"/>
          </a:xfrm>
          <a:prstGeom prst="rect">
            <a:avLst/>
          </a:prstGeom>
          <a:noFill/>
          <a:ln/>
        </p:spPr>
        <p:txBody>
          <a:bodyPr wrap="square" rtlCol="0" anchor="ctr"/>
          <a:lstStyle/>
          <a:p>
            <a:pPr marL="0" indent="0" algn="ctr">
              <a:buNone/>
            </a:pPr>
            <a:r>
              <a:rPr lang="en-US" sz="1100" b="1" dirty="0">
                <a:solidFill>
                  <a:srgbClr val="14B8A6"/>
                </a:solidFill>
                <a:latin typeface="Calibri" pitchFamily="34" charset="0"/>
                <a:ea typeface="Calibri" pitchFamily="34" charset="-122"/>
                <a:cs typeface="Calibri" pitchFamily="34" charset="-120"/>
              </a:rPr>
              <a:t>10 min</a:t>
            </a:r>
            <a:endParaRPr lang="en-US" sz="1100" dirty="0"/>
          </a:p>
        </p:txBody>
      </p:sp>
      <p:sp>
        <p:nvSpPr>
          <p:cNvPr id="11" name="Shape 9"/>
          <p:cNvSpPr/>
          <p:nvPr/>
        </p:nvSpPr>
        <p:spPr>
          <a:xfrm>
            <a:off x="502920" y="2194560"/>
            <a:ext cx="8321040" cy="777240"/>
          </a:xfrm>
          <a:prstGeom prst="rect">
            <a:avLst/>
          </a:prstGeom>
          <a:solidFill>
            <a:srgbClr val="1F2937"/>
          </a:solidFill>
          <a:ln w="12700">
            <a:solidFill>
              <a:srgbClr val="374151"/>
            </a:solidFill>
            <a:prstDash val="solid"/>
          </a:ln>
        </p:spPr>
        <p:txBody>
          <a:bodyPr/>
          <a:lstStyle/>
          <a:p>
            <a:endParaRPr lang="en-US"/>
          </a:p>
        </p:txBody>
      </p:sp>
      <p:sp>
        <p:nvSpPr>
          <p:cNvPr id="12" name="Shape 10"/>
          <p:cNvSpPr/>
          <p:nvPr/>
        </p:nvSpPr>
        <p:spPr>
          <a:xfrm>
            <a:off x="731520" y="2308860"/>
            <a:ext cx="548640" cy="548640"/>
          </a:xfrm>
          <a:prstGeom prst="ellipse">
            <a:avLst/>
          </a:prstGeom>
          <a:solidFill>
            <a:srgbClr val="14B8A6"/>
          </a:solidFill>
          <a:ln w="12700">
            <a:solidFill>
              <a:srgbClr val="14B8A6"/>
            </a:solidFill>
            <a:prstDash val="solid"/>
          </a:ln>
        </p:spPr>
        <p:txBody>
          <a:bodyPr/>
          <a:lstStyle/>
          <a:p>
            <a:endParaRPr lang="en-US"/>
          </a:p>
        </p:txBody>
      </p:sp>
      <p:sp>
        <p:nvSpPr>
          <p:cNvPr id="13" name="Text 11"/>
          <p:cNvSpPr/>
          <p:nvPr/>
        </p:nvSpPr>
        <p:spPr>
          <a:xfrm>
            <a:off x="731520" y="2359152"/>
            <a:ext cx="548640" cy="457200"/>
          </a:xfrm>
          <a:prstGeom prst="rect">
            <a:avLst/>
          </a:prstGeom>
          <a:noFill/>
          <a:ln/>
        </p:spPr>
        <p:txBody>
          <a:bodyPr wrap="square" rtlCol="0" anchor="ctr"/>
          <a:lstStyle/>
          <a:p>
            <a:pPr marL="0" indent="0" algn="ctr">
              <a:buNone/>
            </a:pPr>
            <a:r>
              <a:rPr lang="en-US" sz="1300" b="1" dirty="0">
                <a:solidFill>
                  <a:srgbClr val="111827"/>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1417320" y="2267712"/>
            <a:ext cx="5303520" cy="320040"/>
          </a:xfrm>
          <a:prstGeom prst="rect">
            <a:avLst/>
          </a:prstGeom>
          <a:noFill/>
          <a:ln/>
        </p:spPr>
        <p:txBody>
          <a:bodyPr wrap="square" rtlCol="0" anchor="ctr"/>
          <a:lstStyle/>
          <a:p>
            <a:pPr marL="0" indent="0">
              <a:buNone/>
            </a:pPr>
            <a:r>
              <a:rPr lang="en-US" sz="1600" b="1" dirty="0">
                <a:solidFill>
                  <a:srgbClr val="F9FAFB"/>
                </a:solidFill>
                <a:latin typeface="Calibri" pitchFamily="34" charset="0"/>
                <a:ea typeface="Calibri" pitchFamily="34" charset="-122"/>
                <a:cs typeface="Calibri" pitchFamily="34" charset="-120"/>
              </a:rPr>
              <a:t>Where the Assumptions Break</a:t>
            </a:r>
            <a:endParaRPr lang="en-US" sz="1600" dirty="0"/>
          </a:p>
        </p:txBody>
      </p:sp>
      <p:sp>
        <p:nvSpPr>
          <p:cNvPr id="15" name="Text 13"/>
          <p:cNvSpPr/>
          <p:nvPr/>
        </p:nvSpPr>
        <p:spPr>
          <a:xfrm>
            <a:off x="1417320" y="2596896"/>
            <a:ext cx="5303520" cy="274320"/>
          </a:xfrm>
          <a:prstGeom prst="rect">
            <a:avLst/>
          </a:prstGeom>
          <a:noFill/>
          <a:ln/>
        </p:spPr>
        <p:txBody>
          <a:bodyPr wrap="square" rtlCol="0" anchor="ctr"/>
          <a:lstStyle/>
          <a:p>
            <a:pPr marL="0" indent="0">
              <a:buNone/>
            </a:pPr>
            <a:r>
              <a:rPr lang="en-US" sz="1200" dirty="0">
                <a:solidFill>
                  <a:srgbClr val="9CA3AF"/>
                </a:solidFill>
                <a:latin typeface="Calibri" pitchFamily="34" charset="0"/>
                <a:ea typeface="Calibri" pitchFamily="34" charset="-122"/>
                <a:cs typeface="Calibri" pitchFamily="34" charset="-120"/>
              </a:rPr>
              <a:t>5 specific gaps: security groups, VPCs, NAT, load balancers, VPN</a:t>
            </a:r>
            <a:endParaRPr lang="en-US" sz="1200" dirty="0"/>
          </a:p>
        </p:txBody>
      </p:sp>
      <p:sp>
        <p:nvSpPr>
          <p:cNvPr id="16" name="Shape 14"/>
          <p:cNvSpPr/>
          <p:nvPr/>
        </p:nvSpPr>
        <p:spPr>
          <a:xfrm>
            <a:off x="8046720" y="2395728"/>
            <a:ext cx="685800" cy="347472"/>
          </a:xfrm>
          <a:prstGeom prst="rect">
            <a:avLst/>
          </a:prstGeom>
          <a:solidFill>
            <a:srgbClr val="0F3D3A"/>
          </a:solidFill>
          <a:ln w="12700">
            <a:solidFill>
              <a:srgbClr val="14B8A6"/>
            </a:solidFill>
            <a:prstDash val="solid"/>
          </a:ln>
        </p:spPr>
        <p:txBody>
          <a:bodyPr/>
          <a:lstStyle/>
          <a:p>
            <a:endParaRPr lang="en-US"/>
          </a:p>
        </p:txBody>
      </p:sp>
      <p:sp>
        <p:nvSpPr>
          <p:cNvPr id="17" name="Text 15"/>
          <p:cNvSpPr/>
          <p:nvPr/>
        </p:nvSpPr>
        <p:spPr>
          <a:xfrm>
            <a:off x="8046720" y="2395728"/>
            <a:ext cx="685800" cy="347472"/>
          </a:xfrm>
          <a:prstGeom prst="rect">
            <a:avLst/>
          </a:prstGeom>
          <a:noFill/>
          <a:ln/>
        </p:spPr>
        <p:txBody>
          <a:bodyPr wrap="square" rtlCol="0" anchor="ctr"/>
          <a:lstStyle/>
          <a:p>
            <a:pPr marL="0" indent="0" algn="ctr">
              <a:buNone/>
            </a:pPr>
            <a:r>
              <a:rPr lang="en-US" sz="1100" b="1" dirty="0">
                <a:solidFill>
                  <a:srgbClr val="14B8A6"/>
                </a:solidFill>
                <a:latin typeface="Calibri" pitchFamily="34" charset="0"/>
                <a:ea typeface="Calibri" pitchFamily="34" charset="-122"/>
                <a:cs typeface="Calibri" pitchFamily="34" charset="-120"/>
              </a:rPr>
              <a:t>12 min</a:t>
            </a:r>
            <a:endParaRPr lang="en-US" sz="1100" dirty="0"/>
          </a:p>
        </p:txBody>
      </p:sp>
      <p:sp>
        <p:nvSpPr>
          <p:cNvPr id="18" name="Shape 16"/>
          <p:cNvSpPr/>
          <p:nvPr/>
        </p:nvSpPr>
        <p:spPr>
          <a:xfrm>
            <a:off x="502920" y="3108960"/>
            <a:ext cx="8321040" cy="777240"/>
          </a:xfrm>
          <a:prstGeom prst="rect">
            <a:avLst/>
          </a:prstGeom>
          <a:solidFill>
            <a:srgbClr val="1F2937"/>
          </a:solidFill>
          <a:ln w="12700">
            <a:solidFill>
              <a:srgbClr val="374151"/>
            </a:solidFill>
            <a:prstDash val="solid"/>
          </a:ln>
        </p:spPr>
        <p:txBody>
          <a:bodyPr/>
          <a:lstStyle/>
          <a:p>
            <a:endParaRPr lang="en-US"/>
          </a:p>
        </p:txBody>
      </p:sp>
      <p:sp>
        <p:nvSpPr>
          <p:cNvPr id="19" name="Shape 17"/>
          <p:cNvSpPr/>
          <p:nvPr/>
        </p:nvSpPr>
        <p:spPr>
          <a:xfrm>
            <a:off x="731520" y="3223260"/>
            <a:ext cx="548640" cy="548640"/>
          </a:xfrm>
          <a:prstGeom prst="ellipse">
            <a:avLst/>
          </a:prstGeom>
          <a:solidFill>
            <a:srgbClr val="EF4444"/>
          </a:solidFill>
          <a:ln w="12700">
            <a:solidFill>
              <a:srgbClr val="EF4444"/>
            </a:solidFill>
            <a:prstDash val="solid"/>
          </a:ln>
        </p:spPr>
        <p:txBody>
          <a:bodyPr/>
          <a:lstStyle/>
          <a:p>
            <a:endParaRPr lang="en-US"/>
          </a:p>
        </p:txBody>
      </p:sp>
      <p:sp>
        <p:nvSpPr>
          <p:cNvPr id="20" name="Text 18"/>
          <p:cNvSpPr/>
          <p:nvPr/>
        </p:nvSpPr>
        <p:spPr>
          <a:xfrm>
            <a:off x="731520" y="3273552"/>
            <a:ext cx="548640" cy="457200"/>
          </a:xfrm>
          <a:prstGeom prst="rect">
            <a:avLst/>
          </a:prstGeom>
          <a:noFill/>
          <a:ln/>
        </p:spPr>
        <p:txBody>
          <a:bodyPr wrap="square" rtlCol="0" anchor="ctr"/>
          <a:lstStyle/>
          <a:p>
            <a:pPr marL="0" indent="0" algn="ctr">
              <a:buNone/>
            </a:pPr>
            <a:r>
              <a:rPr lang="en-US" sz="1300" b="1" dirty="0">
                <a:solidFill>
                  <a:srgbClr val="111827"/>
                </a:solidFill>
                <a:latin typeface="Calibri" pitchFamily="34" charset="0"/>
                <a:ea typeface="Calibri" pitchFamily="34" charset="-122"/>
                <a:cs typeface="Calibri" pitchFamily="34" charset="-120"/>
              </a:rPr>
              <a:t>03</a:t>
            </a:r>
            <a:endParaRPr lang="en-US" sz="1300" dirty="0"/>
          </a:p>
        </p:txBody>
      </p:sp>
      <p:sp>
        <p:nvSpPr>
          <p:cNvPr id="21" name="Text 19"/>
          <p:cNvSpPr/>
          <p:nvPr/>
        </p:nvSpPr>
        <p:spPr>
          <a:xfrm>
            <a:off x="1417320" y="3182112"/>
            <a:ext cx="5303520" cy="320040"/>
          </a:xfrm>
          <a:prstGeom prst="rect">
            <a:avLst/>
          </a:prstGeom>
          <a:noFill/>
          <a:ln/>
        </p:spPr>
        <p:txBody>
          <a:bodyPr wrap="square" rtlCol="0" anchor="ctr"/>
          <a:lstStyle/>
          <a:p>
            <a:pPr marL="0" indent="0">
              <a:buNone/>
            </a:pPr>
            <a:r>
              <a:rPr lang="en-US" sz="1600" b="1" dirty="0">
                <a:solidFill>
                  <a:srgbClr val="F9FAFB"/>
                </a:solidFill>
                <a:latin typeface="Calibri" pitchFamily="34" charset="0"/>
                <a:ea typeface="Calibri" pitchFamily="34" charset="-122"/>
                <a:cs typeface="Calibri" pitchFamily="34" charset="-120"/>
              </a:rPr>
              <a:t>SD-WAN: The Accelerant</a:t>
            </a:r>
            <a:endParaRPr lang="en-US" sz="1600" dirty="0"/>
          </a:p>
        </p:txBody>
      </p:sp>
      <p:sp>
        <p:nvSpPr>
          <p:cNvPr id="22" name="Text 20"/>
          <p:cNvSpPr/>
          <p:nvPr/>
        </p:nvSpPr>
        <p:spPr>
          <a:xfrm>
            <a:off x="1417320" y="3511296"/>
            <a:ext cx="5303520" cy="274320"/>
          </a:xfrm>
          <a:prstGeom prst="rect">
            <a:avLst/>
          </a:prstGeom>
          <a:noFill/>
          <a:ln/>
        </p:spPr>
        <p:txBody>
          <a:bodyPr wrap="square" rtlCol="0" anchor="ctr"/>
          <a:lstStyle/>
          <a:p>
            <a:pPr marL="0" indent="0">
              <a:buNone/>
            </a:pPr>
            <a:r>
              <a:rPr lang="en-US" sz="1200" dirty="0">
                <a:solidFill>
                  <a:srgbClr val="9CA3AF"/>
                </a:solidFill>
                <a:latin typeface="Calibri" pitchFamily="34" charset="0"/>
                <a:ea typeface="Calibri" pitchFamily="34" charset="-122"/>
                <a:cs typeface="Calibri" pitchFamily="34" charset="-120"/>
              </a:rPr>
              <a:t>Direct breakout, split-brain routing, unmonitored attack paths</a:t>
            </a:r>
            <a:endParaRPr lang="en-US" sz="1200" dirty="0"/>
          </a:p>
        </p:txBody>
      </p:sp>
      <p:sp>
        <p:nvSpPr>
          <p:cNvPr id="23" name="Shape 21"/>
          <p:cNvSpPr/>
          <p:nvPr/>
        </p:nvSpPr>
        <p:spPr>
          <a:xfrm>
            <a:off x="8046720" y="3310128"/>
            <a:ext cx="685800" cy="347472"/>
          </a:xfrm>
          <a:prstGeom prst="rect">
            <a:avLst/>
          </a:prstGeom>
          <a:solidFill>
            <a:srgbClr val="2D0A0A"/>
          </a:solidFill>
          <a:ln w="12700">
            <a:solidFill>
              <a:srgbClr val="EF4444"/>
            </a:solidFill>
            <a:prstDash val="solid"/>
          </a:ln>
        </p:spPr>
        <p:txBody>
          <a:bodyPr/>
          <a:lstStyle/>
          <a:p>
            <a:endParaRPr lang="en-US"/>
          </a:p>
        </p:txBody>
      </p:sp>
      <p:sp>
        <p:nvSpPr>
          <p:cNvPr id="24" name="Text 22"/>
          <p:cNvSpPr/>
          <p:nvPr/>
        </p:nvSpPr>
        <p:spPr>
          <a:xfrm>
            <a:off x="8046720" y="3310128"/>
            <a:ext cx="685800" cy="347472"/>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13 min</a:t>
            </a:r>
            <a:endParaRPr lang="en-US" sz="1100" dirty="0"/>
          </a:p>
        </p:txBody>
      </p:sp>
      <p:sp>
        <p:nvSpPr>
          <p:cNvPr id="25" name="Shape 23"/>
          <p:cNvSpPr/>
          <p:nvPr/>
        </p:nvSpPr>
        <p:spPr>
          <a:xfrm>
            <a:off x="502920" y="4023360"/>
            <a:ext cx="8321040" cy="777240"/>
          </a:xfrm>
          <a:prstGeom prst="rect">
            <a:avLst/>
          </a:prstGeom>
          <a:solidFill>
            <a:srgbClr val="1F2937"/>
          </a:solidFill>
          <a:ln w="12700">
            <a:solidFill>
              <a:srgbClr val="374151"/>
            </a:solidFill>
            <a:prstDash val="solid"/>
          </a:ln>
        </p:spPr>
        <p:txBody>
          <a:bodyPr/>
          <a:lstStyle/>
          <a:p>
            <a:endParaRPr lang="en-US"/>
          </a:p>
        </p:txBody>
      </p:sp>
      <p:sp>
        <p:nvSpPr>
          <p:cNvPr id="26" name="Shape 24"/>
          <p:cNvSpPr/>
          <p:nvPr/>
        </p:nvSpPr>
        <p:spPr>
          <a:xfrm>
            <a:off x="731520" y="4137660"/>
            <a:ext cx="548640" cy="548640"/>
          </a:xfrm>
          <a:prstGeom prst="ellipse">
            <a:avLst/>
          </a:prstGeom>
          <a:solidFill>
            <a:srgbClr val="22C55E"/>
          </a:solidFill>
          <a:ln w="12700">
            <a:solidFill>
              <a:srgbClr val="22C55E"/>
            </a:solidFill>
            <a:prstDash val="solid"/>
          </a:ln>
        </p:spPr>
        <p:txBody>
          <a:bodyPr/>
          <a:lstStyle/>
          <a:p>
            <a:endParaRPr lang="en-US"/>
          </a:p>
        </p:txBody>
      </p:sp>
      <p:sp>
        <p:nvSpPr>
          <p:cNvPr id="27" name="Text 25"/>
          <p:cNvSpPr/>
          <p:nvPr/>
        </p:nvSpPr>
        <p:spPr>
          <a:xfrm>
            <a:off x="731520" y="4187952"/>
            <a:ext cx="548640" cy="457200"/>
          </a:xfrm>
          <a:prstGeom prst="rect">
            <a:avLst/>
          </a:prstGeom>
          <a:noFill/>
          <a:ln/>
        </p:spPr>
        <p:txBody>
          <a:bodyPr wrap="square" rtlCol="0" anchor="ctr"/>
          <a:lstStyle/>
          <a:p>
            <a:pPr marL="0" indent="0" algn="ctr">
              <a:buNone/>
            </a:pPr>
            <a:r>
              <a:rPr lang="en-US" sz="1300" b="1" dirty="0">
                <a:solidFill>
                  <a:srgbClr val="111827"/>
                </a:solidFill>
                <a:latin typeface="Calibri" pitchFamily="34" charset="0"/>
                <a:ea typeface="Calibri" pitchFamily="34" charset="-122"/>
                <a:cs typeface="Calibri" pitchFamily="34" charset="-120"/>
              </a:rPr>
              <a:t>04</a:t>
            </a:r>
            <a:endParaRPr lang="en-US" sz="1300" dirty="0"/>
          </a:p>
        </p:txBody>
      </p:sp>
      <p:sp>
        <p:nvSpPr>
          <p:cNvPr id="28" name="Text 26"/>
          <p:cNvSpPr/>
          <p:nvPr/>
        </p:nvSpPr>
        <p:spPr>
          <a:xfrm>
            <a:off x="1417320" y="4096512"/>
            <a:ext cx="5303520" cy="320040"/>
          </a:xfrm>
          <a:prstGeom prst="rect">
            <a:avLst/>
          </a:prstGeom>
          <a:noFill/>
          <a:ln/>
        </p:spPr>
        <p:txBody>
          <a:bodyPr wrap="square" rtlCol="0" anchor="ctr"/>
          <a:lstStyle/>
          <a:p>
            <a:pPr marL="0" indent="0">
              <a:buNone/>
            </a:pPr>
            <a:r>
              <a:rPr lang="en-US" sz="1600" b="1" dirty="0">
                <a:solidFill>
                  <a:srgbClr val="F9FAFB"/>
                </a:solidFill>
                <a:latin typeface="Calibri" pitchFamily="34" charset="0"/>
                <a:ea typeface="Calibri" pitchFamily="34" charset="-122"/>
                <a:cs typeface="Calibri" pitchFamily="34" charset="-120"/>
              </a:rPr>
              <a:t>Finding &amp; Fixing These Gaps</a:t>
            </a:r>
            <a:endParaRPr lang="en-US" sz="1600" dirty="0"/>
          </a:p>
        </p:txBody>
      </p:sp>
      <p:sp>
        <p:nvSpPr>
          <p:cNvPr id="29" name="Text 27"/>
          <p:cNvSpPr/>
          <p:nvPr/>
        </p:nvSpPr>
        <p:spPr>
          <a:xfrm>
            <a:off x="1417320" y="4425696"/>
            <a:ext cx="5303520" cy="274320"/>
          </a:xfrm>
          <a:prstGeom prst="rect">
            <a:avLst/>
          </a:prstGeom>
          <a:noFill/>
          <a:ln/>
        </p:spPr>
        <p:txBody>
          <a:bodyPr wrap="square" rtlCol="0" anchor="ctr"/>
          <a:lstStyle/>
          <a:p>
            <a:pPr marL="0" indent="0">
              <a:buNone/>
            </a:pPr>
            <a:r>
              <a:rPr lang="en-US" sz="1200" dirty="0">
                <a:solidFill>
                  <a:srgbClr val="9CA3AF"/>
                </a:solidFill>
                <a:latin typeface="Calibri" pitchFamily="34" charset="0"/>
                <a:ea typeface="Calibri" pitchFamily="34" charset="-122"/>
                <a:cs typeface="Calibri" pitchFamily="34" charset="-120"/>
              </a:rPr>
              <a:t>Flow log audit methodology + the 5 misconfigs to check first</a:t>
            </a:r>
            <a:endParaRPr lang="en-US" sz="1200" dirty="0"/>
          </a:p>
        </p:txBody>
      </p:sp>
      <p:sp>
        <p:nvSpPr>
          <p:cNvPr id="30" name="Shape 28"/>
          <p:cNvSpPr/>
          <p:nvPr/>
        </p:nvSpPr>
        <p:spPr>
          <a:xfrm>
            <a:off x="8046720" y="4224528"/>
            <a:ext cx="685800" cy="347472"/>
          </a:xfrm>
          <a:prstGeom prst="rect">
            <a:avLst/>
          </a:prstGeom>
          <a:solidFill>
            <a:srgbClr val="052E16"/>
          </a:solidFill>
          <a:ln w="12700">
            <a:solidFill>
              <a:srgbClr val="22C55E"/>
            </a:solidFill>
            <a:prstDash val="solid"/>
          </a:ln>
        </p:spPr>
        <p:txBody>
          <a:bodyPr/>
          <a:lstStyle/>
          <a:p>
            <a:endParaRPr lang="en-US"/>
          </a:p>
        </p:txBody>
      </p:sp>
      <p:sp>
        <p:nvSpPr>
          <p:cNvPr id="31" name="Text 29"/>
          <p:cNvSpPr/>
          <p:nvPr/>
        </p:nvSpPr>
        <p:spPr>
          <a:xfrm>
            <a:off x="8046720" y="4224528"/>
            <a:ext cx="685800" cy="347472"/>
          </a:xfrm>
          <a:prstGeom prst="rect">
            <a:avLst/>
          </a:prstGeom>
          <a:noFill/>
          <a:ln/>
        </p:spPr>
        <p:txBody>
          <a:bodyPr wrap="square" rtlCol="0" anchor="ctr"/>
          <a:lstStyle/>
          <a:p>
            <a:pPr marL="0" indent="0" algn="ctr">
              <a:buNone/>
            </a:pPr>
            <a:r>
              <a:rPr lang="en-US" sz="1100" b="1" dirty="0">
                <a:solidFill>
                  <a:srgbClr val="22C55E"/>
                </a:solidFill>
                <a:latin typeface="Calibri" pitchFamily="34" charset="0"/>
                <a:ea typeface="Calibri" pitchFamily="34" charset="-122"/>
                <a:cs typeface="Calibri" pitchFamily="34" charset="-120"/>
              </a:rPr>
              <a:t>10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4B8A6"/>
          </a:solidFill>
          <a:ln w="12700">
            <a:solidFill>
              <a:srgbClr val="14B8A6"/>
            </a:solidFill>
            <a:prstDash val="solid"/>
          </a:ln>
        </p:spPr>
        <p:txBody>
          <a:bodyPr/>
          <a:lstStyle/>
          <a:p>
            <a:endParaRPr lang="en-US"/>
          </a:p>
        </p:txBody>
      </p:sp>
      <p:sp>
        <p:nvSpPr>
          <p:cNvPr id="3" name="Text 1"/>
          <p:cNvSpPr/>
          <p:nvPr/>
        </p:nvSpPr>
        <p:spPr>
          <a:xfrm>
            <a:off x="502920" y="548640"/>
            <a:ext cx="8229600" cy="1828800"/>
          </a:xfrm>
          <a:prstGeom prst="rect">
            <a:avLst/>
          </a:prstGeom>
          <a:noFill/>
          <a:ln/>
        </p:spPr>
        <p:txBody>
          <a:bodyPr wrap="square" rtlCol="0" anchor="ctr"/>
          <a:lstStyle/>
          <a:p>
            <a:pPr marL="0" indent="0">
              <a:buNone/>
            </a:pPr>
            <a:r>
              <a:rPr lang="en-US" sz="12000" b="1" dirty="0">
                <a:solidFill>
                  <a:srgbClr val="263244"/>
                </a:solidFill>
                <a:latin typeface="Calibri" pitchFamily="34" charset="0"/>
                <a:ea typeface="Calibri" pitchFamily="34" charset="-122"/>
                <a:cs typeface="Calibri" pitchFamily="34" charset="-120"/>
              </a:rPr>
              <a:t>01</a:t>
            </a:r>
            <a:endParaRPr lang="en-US" sz="12000" dirty="0"/>
          </a:p>
        </p:txBody>
      </p:sp>
      <p:sp>
        <p:nvSpPr>
          <p:cNvPr id="4" name="Text 2"/>
          <p:cNvSpPr/>
          <p:nvPr/>
        </p:nvSpPr>
        <p:spPr>
          <a:xfrm>
            <a:off x="502920" y="1737360"/>
            <a:ext cx="7772400" cy="822960"/>
          </a:xfrm>
          <a:prstGeom prst="rect">
            <a:avLst/>
          </a:prstGeom>
          <a:noFill/>
          <a:ln/>
        </p:spPr>
        <p:txBody>
          <a:bodyPr wrap="square" rtlCol="0" anchor="ctr"/>
          <a:lstStyle/>
          <a:p>
            <a:pPr marL="0" indent="0">
              <a:buNone/>
            </a:pPr>
            <a:r>
              <a:rPr lang="en-US" sz="3800" b="1" dirty="0">
                <a:solidFill>
                  <a:srgbClr val="F9FAFB"/>
                </a:solidFill>
                <a:latin typeface="Calibri" pitchFamily="34" charset="0"/>
                <a:ea typeface="Calibri" pitchFamily="34" charset="-122"/>
                <a:cs typeface="Calibri" pitchFamily="34" charset="-120"/>
              </a:rPr>
              <a:t>The Mental Model Problem</a:t>
            </a:r>
            <a:endParaRPr lang="en-US" sz="3800" dirty="0"/>
          </a:p>
        </p:txBody>
      </p:sp>
      <p:sp>
        <p:nvSpPr>
          <p:cNvPr id="5" name="Text 3"/>
          <p:cNvSpPr/>
          <p:nvPr/>
        </p:nvSpPr>
        <p:spPr>
          <a:xfrm>
            <a:off x="502920" y="2651760"/>
            <a:ext cx="6858000" cy="914400"/>
          </a:xfrm>
          <a:prstGeom prst="rect">
            <a:avLst/>
          </a:prstGeom>
          <a:noFill/>
          <a:ln/>
        </p:spPr>
        <p:txBody>
          <a:bodyPr wrap="square" rtlCol="0" anchor="ctr"/>
          <a:lstStyle/>
          <a:p>
            <a:pPr marL="0" indent="0">
              <a:lnSpc>
                <a:spcPct val="140000"/>
              </a:lnSpc>
              <a:buNone/>
            </a:pPr>
            <a:r>
              <a:rPr lang="en-US" sz="1700" dirty="0">
                <a:solidFill>
                  <a:srgbClr val="D1D5DB"/>
                </a:solidFill>
                <a:latin typeface="Calibri" pitchFamily="34" charset="0"/>
                <a:ea typeface="Calibri" pitchFamily="34" charset="-122"/>
                <a:cs typeface="Calibri" pitchFamily="34" charset="-120"/>
              </a:rPr>
              <a:t>The biggest risk in cloud migration isn't the technology,</a:t>
            </a:r>
            <a:endParaRPr lang="en-US" sz="1700" dirty="0"/>
          </a:p>
          <a:p>
            <a:pPr marL="0" indent="0">
              <a:lnSpc>
                <a:spcPct val="140000"/>
              </a:lnSpc>
              <a:buNone/>
            </a:pPr>
            <a:r>
              <a:rPr lang="en-US" sz="1700" dirty="0">
                <a:solidFill>
                  <a:srgbClr val="D1D5DB"/>
                </a:solidFill>
                <a:latin typeface="Calibri" pitchFamily="34" charset="0"/>
                <a:ea typeface="Calibri" pitchFamily="34" charset="-122"/>
                <a:cs typeface="Calibri" pitchFamily="34" charset="-120"/>
              </a:rPr>
              <a:t>it's the assumptions people carry over from the data center.</a:t>
            </a:r>
            <a:endParaRPr lang="en-US" sz="1700" dirty="0"/>
          </a:p>
        </p:txBody>
      </p:sp>
      <p:sp>
        <p:nvSpPr>
          <p:cNvPr id="6" name="Shape 4"/>
          <p:cNvSpPr/>
          <p:nvPr/>
        </p:nvSpPr>
        <p:spPr>
          <a:xfrm>
            <a:off x="502920" y="3794760"/>
            <a:ext cx="8321040" cy="27432"/>
          </a:xfrm>
          <a:prstGeom prst="rect">
            <a:avLst/>
          </a:prstGeom>
          <a:solidFill>
            <a:srgbClr val="374151"/>
          </a:solidFill>
          <a:ln w="12700">
            <a:solidFill>
              <a:srgbClr val="374151"/>
            </a:solidFill>
            <a:prstDash val="solid"/>
          </a:ln>
        </p:spPr>
        <p:txBody>
          <a:bodyPr/>
          <a:lstStyle/>
          <a:p>
            <a:endParaRPr lang="en-US"/>
          </a:p>
        </p:txBody>
      </p:sp>
      <p:sp>
        <p:nvSpPr>
          <p:cNvPr id="7" name="Text 5"/>
          <p:cNvSpPr/>
          <p:nvPr/>
        </p:nvSpPr>
        <p:spPr>
          <a:xfrm>
            <a:off x="502920" y="3931920"/>
            <a:ext cx="2743200" cy="2743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10 minutes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02920"/>
          </a:xfrm>
          <a:prstGeom prst="rect">
            <a:avLst/>
          </a:prstGeom>
          <a:noFill/>
          <a:ln/>
        </p:spPr>
        <p:txBody>
          <a:bodyPr wrap="square" rtlCol="0" anchor="ctr"/>
          <a:lstStyle/>
          <a:p>
            <a:pPr marL="0" indent="0">
              <a:buNone/>
            </a:pPr>
            <a:r>
              <a:rPr lang="en-US" sz="2400" b="1" dirty="0">
                <a:solidFill>
                  <a:srgbClr val="F9FAFB"/>
                </a:solidFill>
                <a:latin typeface="Calibri" pitchFamily="34" charset="0"/>
                <a:ea typeface="Calibri" pitchFamily="34" charset="-122"/>
                <a:cs typeface="Calibri" pitchFamily="34" charset="-120"/>
              </a:rPr>
              <a:t>"It looks the same, so it must work the same"</a:t>
            </a:r>
            <a:endParaRPr lang="en-US" sz="2400" dirty="0"/>
          </a:p>
        </p:txBody>
      </p:sp>
      <p:sp>
        <p:nvSpPr>
          <p:cNvPr id="3" name="Text 1"/>
          <p:cNvSpPr/>
          <p:nvPr/>
        </p:nvSpPr>
        <p:spPr>
          <a:xfrm>
            <a:off x="502920" y="768096"/>
            <a:ext cx="8229600" cy="274320"/>
          </a:xfrm>
          <a:prstGeom prst="rect">
            <a:avLst/>
          </a:prstGeom>
          <a:noFill/>
          <a:ln/>
        </p:spPr>
        <p:txBody>
          <a:bodyPr wrap="square" rtlCol="0" anchor="ctr"/>
          <a:lstStyle/>
          <a:p>
            <a:pPr marL="0" indent="0">
              <a:buNone/>
            </a:pPr>
            <a:r>
              <a:rPr lang="en-US" sz="1300" i="1" dirty="0">
                <a:solidFill>
                  <a:srgbClr val="9CA3AF"/>
                </a:solidFill>
                <a:latin typeface="Calibri" pitchFamily="34" charset="0"/>
                <a:ea typeface="Calibri" pitchFamily="34" charset="-122"/>
                <a:cs typeface="Calibri" pitchFamily="34" charset="-120"/>
              </a:rPr>
              <a:t>Every one of these mappings has a gap. The gap is where the breach lives.</a:t>
            </a:r>
            <a:endParaRPr lang="en-US" sz="1300" dirty="0"/>
          </a:p>
        </p:txBody>
      </p:sp>
      <p:sp>
        <p:nvSpPr>
          <p:cNvPr id="4" name="Shape 2"/>
          <p:cNvSpPr/>
          <p:nvPr/>
        </p:nvSpPr>
        <p:spPr>
          <a:xfrm>
            <a:off x="502920" y="1188720"/>
            <a:ext cx="3108960" cy="347472"/>
          </a:xfrm>
          <a:prstGeom prst="rect">
            <a:avLst/>
          </a:prstGeom>
          <a:solidFill>
            <a:srgbClr val="1F2937"/>
          </a:solidFill>
          <a:ln w="12700">
            <a:solidFill>
              <a:srgbClr val="374151"/>
            </a:solidFill>
            <a:prstDash val="solid"/>
          </a:ln>
        </p:spPr>
        <p:txBody>
          <a:bodyPr/>
          <a:lstStyle/>
          <a:p>
            <a:endParaRPr lang="en-US"/>
          </a:p>
        </p:txBody>
      </p:sp>
      <p:sp>
        <p:nvSpPr>
          <p:cNvPr id="5" name="Shape 3"/>
          <p:cNvSpPr/>
          <p:nvPr/>
        </p:nvSpPr>
        <p:spPr>
          <a:xfrm>
            <a:off x="3794760" y="1188720"/>
            <a:ext cx="3108960" cy="347472"/>
          </a:xfrm>
          <a:prstGeom prst="rect">
            <a:avLst/>
          </a:prstGeom>
          <a:solidFill>
            <a:srgbClr val="0F3D3A"/>
          </a:solidFill>
          <a:ln w="12700">
            <a:solidFill>
              <a:srgbClr val="14B8A6"/>
            </a:solidFill>
            <a:prstDash val="solid"/>
          </a:ln>
        </p:spPr>
        <p:txBody>
          <a:bodyPr/>
          <a:lstStyle/>
          <a:p>
            <a:endParaRPr lang="en-US"/>
          </a:p>
        </p:txBody>
      </p:sp>
      <p:sp>
        <p:nvSpPr>
          <p:cNvPr id="6" name="Shape 4"/>
          <p:cNvSpPr/>
          <p:nvPr/>
        </p:nvSpPr>
        <p:spPr>
          <a:xfrm>
            <a:off x="7086600" y="1188720"/>
            <a:ext cx="1737360" cy="347472"/>
          </a:xfrm>
          <a:prstGeom prst="rect">
            <a:avLst/>
          </a:prstGeom>
          <a:solidFill>
            <a:srgbClr val="2D0A0A"/>
          </a:solidFill>
          <a:ln w="12700">
            <a:solidFill>
              <a:srgbClr val="EF4444"/>
            </a:solidFill>
            <a:prstDash val="solid"/>
          </a:ln>
        </p:spPr>
        <p:txBody>
          <a:bodyPr/>
          <a:lstStyle/>
          <a:p>
            <a:endParaRPr lang="en-US"/>
          </a:p>
        </p:txBody>
      </p:sp>
      <p:sp>
        <p:nvSpPr>
          <p:cNvPr id="7" name="Text 5"/>
          <p:cNvSpPr/>
          <p:nvPr/>
        </p:nvSpPr>
        <p:spPr>
          <a:xfrm>
            <a:off x="502920" y="1188720"/>
            <a:ext cx="3108960" cy="347472"/>
          </a:xfrm>
          <a:prstGeom prst="rect">
            <a:avLst/>
          </a:prstGeom>
          <a:noFill/>
          <a:ln/>
        </p:spPr>
        <p:txBody>
          <a:bodyPr wrap="square" rtlCol="0" anchor="ctr"/>
          <a:lstStyle/>
          <a:p>
            <a:pPr marL="0" indent="0" algn="ctr">
              <a:buNone/>
            </a:pPr>
            <a:r>
              <a:rPr lang="en-US" sz="1100" b="1" kern="0" spc="150" dirty="0">
                <a:solidFill>
                  <a:srgbClr val="9CA3AF"/>
                </a:solidFill>
                <a:latin typeface="Calibri" pitchFamily="34" charset="0"/>
                <a:ea typeface="Calibri" pitchFamily="34" charset="-122"/>
                <a:cs typeface="Calibri" pitchFamily="34" charset="-120"/>
              </a:rPr>
              <a:t>ON-PREMISES</a:t>
            </a:r>
            <a:endParaRPr lang="en-US" sz="1100" dirty="0"/>
          </a:p>
        </p:txBody>
      </p:sp>
      <p:sp>
        <p:nvSpPr>
          <p:cNvPr id="8" name="Text 6"/>
          <p:cNvSpPr/>
          <p:nvPr/>
        </p:nvSpPr>
        <p:spPr>
          <a:xfrm>
            <a:off x="3794760" y="1188720"/>
            <a:ext cx="3108960" cy="347472"/>
          </a:xfrm>
          <a:prstGeom prst="rect">
            <a:avLst/>
          </a:prstGeom>
          <a:noFill/>
          <a:ln/>
        </p:spPr>
        <p:txBody>
          <a:bodyPr wrap="square" rtlCol="0" anchor="ctr"/>
          <a:lstStyle/>
          <a:p>
            <a:pPr marL="0" indent="0" algn="ctr">
              <a:buNone/>
            </a:pPr>
            <a:r>
              <a:rPr lang="en-US" sz="1100" b="1" kern="0" spc="150" dirty="0">
                <a:solidFill>
                  <a:srgbClr val="14B8A6"/>
                </a:solidFill>
                <a:latin typeface="Calibri" pitchFamily="34" charset="0"/>
                <a:ea typeface="Calibri" pitchFamily="34" charset="-122"/>
                <a:cs typeface="Calibri" pitchFamily="34" charset="-120"/>
              </a:rPr>
              <a:t>CLOUD EQUIVALENT</a:t>
            </a:r>
            <a:endParaRPr lang="en-US" sz="1100" dirty="0"/>
          </a:p>
        </p:txBody>
      </p:sp>
      <p:sp>
        <p:nvSpPr>
          <p:cNvPr id="9" name="Text 7"/>
          <p:cNvSpPr/>
          <p:nvPr/>
        </p:nvSpPr>
        <p:spPr>
          <a:xfrm>
            <a:off x="7086600" y="1188720"/>
            <a:ext cx="1737360" cy="347472"/>
          </a:xfrm>
          <a:prstGeom prst="rect">
            <a:avLst/>
          </a:prstGeom>
          <a:noFill/>
          <a:ln/>
        </p:spPr>
        <p:txBody>
          <a:bodyPr wrap="square" rtlCol="0" anchor="ctr"/>
          <a:lstStyle/>
          <a:p>
            <a:pPr marL="0" indent="0" algn="ctr">
              <a:buNone/>
            </a:pPr>
            <a:r>
              <a:rPr lang="en-US" sz="1100" b="1" kern="0" spc="150" dirty="0">
                <a:solidFill>
                  <a:srgbClr val="EF4444"/>
                </a:solidFill>
                <a:latin typeface="Calibri" pitchFamily="34" charset="0"/>
                <a:ea typeface="Calibri" pitchFamily="34" charset="-122"/>
                <a:cs typeface="Calibri" pitchFamily="34" charset="-120"/>
              </a:rPr>
              <a:t>THE GAP</a:t>
            </a:r>
            <a:endParaRPr lang="en-US" sz="1100" dirty="0"/>
          </a:p>
        </p:txBody>
      </p:sp>
      <p:sp>
        <p:nvSpPr>
          <p:cNvPr id="10" name="Shape 8"/>
          <p:cNvSpPr/>
          <p:nvPr/>
        </p:nvSpPr>
        <p:spPr>
          <a:xfrm>
            <a:off x="502920" y="1627632"/>
            <a:ext cx="3108960" cy="566928"/>
          </a:xfrm>
          <a:prstGeom prst="rect">
            <a:avLst/>
          </a:prstGeom>
          <a:solidFill>
            <a:srgbClr val="111827"/>
          </a:solidFill>
          <a:ln w="12700">
            <a:solidFill>
              <a:srgbClr val="374151"/>
            </a:solidFill>
            <a:prstDash val="solid"/>
          </a:ln>
        </p:spPr>
        <p:txBody>
          <a:bodyPr/>
          <a:lstStyle/>
          <a:p>
            <a:endParaRPr lang="en-US"/>
          </a:p>
        </p:txBody>
      </p:sp>
      <p:sp>
        <p:nvSpPr>
          <p:cNvPr id="11" name="Shape 9"/>
          <p:cNvSpPr/>
          <p:nvPr/>
        </p:nvSpPr>
        <p:spPr>
          <a:xfrm>
            <a:off x="3794760" y="1627632"/>
            <a:ext cx="3108960" cy="566928"/>
          </a:xfrm>
          <a:prstGeom prst="rect">
            <a:avLst/>
          </a:prstGeom>
          <a:solidFill>
            <a:srgbClr val="111827"/>
          </a:solidFill>
          <a:ln w="12700">
            <a:solidFill>
              <a:srgbClr val="374151"/>
            </a:solidFill>
            <a:prstDash val="solid"/>
          </a:ln>
        </p:spPr>
        <p:txBody>
          <a:bodyPr/>
          <a:lstStyle/>
          <a:p>
            <a:endParaRPr lang="en-US"/>
          </a:p>
        </p:txBody>
      </p:sp>
      <p:sp>
        <p:nvSpPr>
          <p:cNvPr id="12" name="Shape 10"/>
          <p:cNvSpPr/>
          <p:nvPr/>
        </p:nvSpPr>
        <p:spPr>
          <a:xfrm>
            <a:off x="7086600" y="1627632"/>
            <a:ext cx="1737360" cy="566928"/>
          </a:xfrm>
          <a:prstGeom prst="rect">
            <a:avLst/>
          </a:prstGeom>
          <a:solidFill>
            <a:srgbClr val="111827"/>
          </a:solidFill>
          <a:ln w="12700">
            <a:solidFill>
              <a:srgbClr val="374151"/>
            </a:solidFill>
            <a:prstDash val="solid"/>
          </a:ln>
        </p:spPr>
        <p:txBody>
          <a:bodyPr/>
          <a:lstStyle/>
          <a:p>
            <a:endParaRPr lang="en-US"/>
          </a:p>
        </p:txBody>
      </p:sp>
      <p:sp>
        <p:nvSpPr>
          <p:cNvPr id="13" name="Text 11"/>
          <p:cNvSpPr/>
          <p:nvPr/>
        </p:nvSpPr>
        <p:spPr>
          <a:xfrm>
            <a:off x="640080" y="1627632"/>
            <a:ext cx="2834640" cy="566928"/>
          </a:xfrm>
          <a:prstGeom prst="rect">
            <a:avLst/>
          </a:prstGeom>
          <a:noFill/>
          <a:ln/>
        </p:spPr>
        <p:txBody>
          <a:bodyPr wrap="square" rtlCol="0" anchor="ctr"/>
          <a:lstStyle/>
          <a:p>
            <a:pPr marL="0" indent="0">
              <a:buNone/>
            </a:pPr>
            <a:r>
              <a:rPr lang="en-US" sz="1300" b="1" dirty="0">
                <a:solidFill>
                  <a:srgbClr val="F9FAFB"/>
                </a:solidFill>
                <a:latin typeface="Calibri" pitchFamily="34" charset="0"/>
                <a:ea typeface="Calibri" pitchFamily="34" charset="-122"/>
                <a:cs typeface="Calibri" pitchFamily="34" charset="-120"/>
              </a:rPr>
              <a:t>Stateful Firewall</a:t>
            </a:r>
            <a:endParaRPr lang="en-US" sz="1300" dirty="0"/>
          </a:p>
        </p:txBody>
      </p:sp>
      <p:sp>
        <p:nvSpPr>
          <p:cNvPr id="14" name="Text 12"/>
          <p:cNvSpPr/>
          <p:nvPr/>
        </p:nvSpPr>
        <p:spPr>
          <a:xfrm>
            <a:off x="3931920" y="1627632"/>
            <a:ext cx="2834640" cy="566928"/>
          </a:xfrm>
          <a:prstGeom prst="rect">
            <a:avLst/>
          </a:prstGeom>
          <a:noFill/>
          <a:ln/>
        </p:spPr>
        <p:txBody>
          <a:bodyPr wrap="square" rtlCol="0" anchor="ctr"/>
          <a:lstStyle/>
          <a:p>
            <a:pPr marL="0" indent="0">
              <a:buNone/>
            </a:pPr>
            <a:r>
              <a:rPr lang="en-US" sz="1300" dirty="0">
                <a:solidFill>
                  <a:srgbClr val="14B8A6"/>
                </a:solidFill>
                <a:latin typeface="Calibri" pitchFamily="34" charset="0"/>
                <a:ea typeface="Calibri" pitchFamily="34" charset="-122"/>
                <a:cs typeface="Calibri" pitchFamily="34" charset="-120"/>
              </a:rPr>
              <a:t>Security Group / NSG</a:t>
            </a:r>
            <a:endParaRPr lang="en-US" sz="1300" dirty="0"/>
          </a:p>
        </p:txBody>
      </p:sp>
      <p:sp>
        <p:nvSpPr>
          <p:cNvPr id="15" name="Text 13"/>
          <p:cNvSpPr/>
          <p:nvPr/>
        </p:nvSpPr>
        <p:spPr>
          <a:xfrm>
            <a:off x="7114032" y="1627632"/>
            <a:ext cx="1682496" cy="566928"/>
          </a:xfrm>
          <a:prstGeom prst="rect">
            <a:avLst/>
          </a:prstGeom>
          <a:noFill/>
          <a:ln/>
        </p:spPr>
        <p:txBody>
          <a:bodyPr wrap="square" rtlCol="0" anchor="ctr"/>
          <a:lstStyle/>
          <a:p>
            <a:pPr marL="0" indent="0">
              <a:buNone/>
            </a:pPr>
            <a:r>
              <a:rPr lang="en-US" sz="1050" i="1" dirty="0">
                <a:solidFill>
                  <a:srgbClr val="EF4444"/>
                </a:solidFill>
                <a:latin typeface="Calibri" pitchFamily="34" charset="0"/>
                <a:ea typeface="Calibri" pitchFamily="34" charset="-122"/>
                <a:cs typeface="Calibri" pitchFamily="34" charset="-120"/>
              </a:rPr>
              <a:t>No DPI, no L7 inspection</a:t>
            </a:r>
            <a:endParaRPr lang="en-US" sz="1050" dirty="0"/>
          </a:p>
        </p:txBody>
      </p:sp>
      <p:sp>
        <p:nvSpPr>
          <p:cNvPr id="16" name="Shape 14"/>
          <p:cNvSpPr/>
          <p:nvPr/>
        </p:nvSpPr>
        <p:spPr>
          <a:xfrm>
            <a:off x="502920" y="2276856"/>
            <a:ext cx="3108960" cy="566928"/>
          </a:xfrm>
          <a:prstGeom prst="rect">
            <a:avLst/>
          </a:prstGeom>
          <a:solidFill>
            <a:srgbClr val="1F2937"/>
          </a:solidFill>
          <a:ln w="12700">
            <a:solidFill>
              <a:srgbClr val="374151"/>
            </a:solidFill>
            <a:prstDash val="solid"/>
          </a:ln>
        </p:spPr>
        <p:txBody>
          <a:bodyPr/>
          <a:lstStyle/>
          <a:p>
            <a:endParaRPr lang="en-US"/>
          </a:p>
        </p:txBody>
      </p:sp>
      <p:sp>
        <p:nvSpPr>
          <p:cNvPr id="17" name="Shape 15"/>
          <p:cNvSpPr/>
          <p:nvPr/>
        </p:nvSpPr>
        <p:spPr>
          <a:xfrm>
            <a:off x="3794760" y="2276856"/>
            <a:ext cx="3108960" cy="566928"/>
          </a:xfrm>
          <a:prstGeom prst="rect">
            <a:avLst/>
          </a:prstGeom>
          <a:solidFill>
            <a:srgbClr val="1F2937"/>
          </a:solidFill>
          <a:ln w="12700">
            <a:solidFill>
              <a:srgbClr val="374151"/>
            </a:solidFill>
            <a:prstDash val="solid"/>
          </a:ln>
        </p:spPr>
        <p:txBody>
          <a:bodyPr/>
          <a:lstStyle/>
          <a:p>
            <a:endParaRPr lang="en-US"/>
          </a:p>
        </p:txBody>
      </p:sp>
      <p:sp>
        <p:nvSpPr>
          <p:cNvPr id="18" name="Shape 16"/>
          <p:cNvSpPr/>
          <p:nvPr/>
        </p:nvSpPr>
        <p:spPr>
          <a:xfrm>
            <a:off x="7086600" y="2276856"/>
            <a:ext cx="1737360" cy="566928"/>
          </a:xfrm>
          <a:prstGeom prst="rect">
            <a:avLst/>
          </a:prstGeom>
          <a:solidFill>
            <a:srgbClr val="1F2937"/>
          </a:solidFill>
          <a:ln w="12700">
            <a:solidFill>
              <a:srgbClr val="374151"/>
            </a:solidFill>
            <a:prstDash val="solid"/>
          </a:ln>
        </p:spPr>
        <p:txBody>
          <a:bodyPr/>
          <a:lstStyle/>
          <a:p>
            <a:endParaRPr lang="en-US"/>
          </a:p>
        </p:txBody>
      </p:sp>
      <p:sp>
        <p:nvSpPr>
          <p:cNvPr id="19" name="Text 17"/>
          <p:cNvSpPr/>
          <p:nvPr/>
        </p:nvSpPr>
        <p:spPr>
          <a:xfrm>
            <a:off x="640080" y="2276856"/>
            <a:ext cx="2834640" cy="566928"/>
          </a:xfrm>
          <a:prstGeom prst="rect">
            <a:avLst/>
          </a:prstGeom>
          <a:noFill/>
          <a:ln/>
        </p:spPr>
        <p:txBody>
          <a:bodyPr wrap="square" rtlCol="0" anchor="ctr"/>
          <a:lstStyle/>
          <a:p>
            <a:pPr marL="0" indent="0">
              <a:buNone/>
            </a:pPr>
            <a:r>
              <a:rPr lang="en-US" sz="1300" b="1" dirty="0">
                <a:solidFill>
                  <a:srgbClr val="F9FAFB"/>
                </a:solidFill>
                <a:latin typeface="Calibri" pitchFamily="34" charset="0"/>
                <a:ea typeface="Calibri" pitchFamily="34" charset="-122"/>
                <a:cs typeface="Calibri" pitchFamily="34" charset="-120"/>
              </a:rPr>
              <a:t>VLAN Segmentation</a:t>
            </a:r>
            <a:endParaRPr lang="en-US" sz="1300" dirty="0"/>
          </a:p>
        </p:txBody>
      </p:sp>
      <p:sp>
        <p:nvSpPr>
          <p:cNvPr id="20" name="Text 18"/>
          <p:cNvSpPr/>
          <p:nvPr/>
        </p:nvSpPr>
        <p:spPr>
          <a:xfrm>
            <a:off x="3931920" y="2276856"/>
            <a:ext cx="2834640" cy="566928"/>
          </a:xfrm>
          <a:prstGeom prst="rect">
            <a:avLst/>
          </a:prstGeom>
          <a:noFill/>
          <a:ln/>
        </p:spPr>
        <p:txBody>
          <a:bodyPr wrap="square" rtlCol="0" anchor="ctr"/>
          <a:lstStyle/>
          <a:p>
            <a:pPr marL="0" indent="0">
              <a:buNone/>
            </a:pPr>
            <a:r>
              <a:rPr lang="en-US" sz="1300" dirty="0">
                <a:solidFill>
                  <a:srgbClr val="14B8A6"/>
                </a:solidFill>
                <a:latin typeface="Calibri" pitchFamily="34" charset="0"/>
                <a:ea typeface="Calibri" pitchFamily="34" charset="-122"/>
                <a:cs typeface="Calibri" pitchFamily="34" charset="-120"/>
              </a:rPr>
              <a:t>VPC Subnets</a:t>
            </a:r>
            <a:endParaRPr lang="en-US" sz="1300" dirty="0"/>
          </a:p>
        </p:txBody>
      </p:sp>
      <p:sp>
        <p:nvSpPr>
          <p:cNvPr id="21" name="Text 19"/>
          <p:cNvSpPr/>
          <p:nvPr/>
        </p:nvSpPr>
        <p:spPr>
          <a:xfrm>
            <a:off x="7114032" y="2276856"/>
            <a:ext cx="1682496" cy="566928"/>
          </a:xfrm>
          <a:prstGeom prst="rect">
            <a:avLst/>
          </a:prstGeom>
          <a:noFill/>
          <a:ln/>
        </p:spPr>
        <p:txBody>
          <a:bodyPr wrap="square" rtlCol="0" anchor="ctr"/>
          <a:lstStyle/>
          <a:p>
            <a:pPr marL="0" indent="0">
              <a:buNone/>
            </a:pPr>
            <a:r>
              <a:rPr lang="en-US" sz="1050" i="1" dirty="0">
                <a:solidFill>
                  <a:srgbClr val="EF4444"/>
                </a:solidFill>
                <a:latin typeface="Calibri" pitchFamily="34" charset="0"/>
                <a:ea typeface="Calibri" pitchFamily="34" charset="-122"/>
                <a:cs typeface="Calibri" pitchFamily="34" charset="-120"/>
              </a:rPr>
              <a:t>No isolation by default</a:t>
            </a:r>
            <a:endParaRPr lang="en-US" sz="1050" dirty="0"/>
          </a:p>
        </p:txBody>
      </p:sp>
      <p:sp>
        <p:nvSpPr>
          <p:cNvPr id="22" name="Shape 20"/>
          <p:cNvSpPr/>
          <p:nvPr/>
        </p:nvSpPr>
        <p:spPr>
          <a:xfrm>
            <a:off x="502920" y="2926080"/>
            <a:ext cx="3108960" cy="566928"/>
          </a:xfrm>
          <a:prstGeom prst="rect">
            <a:avLst/>
          </a:prstGeom>
          <a:solidFill>
            <a:srgbClr val="111827"/>
          </a:solidFill>
          <a:ln w="12700">
            <a:solidFill>
              <a:srgbClr val="374151"/>
            </a:solidFill>
            <a:prstDash val="solid"/>
          </a:ln>
        </p:spPr>
        <p:txBody>
          <a:bodyPr/>
          <a:lstStyle/>
          <a:p>
            <a:endParaRPr lang="en-US"/>
          </a:p>
        </p:txBody>
      </p:sp>
      <p:sp>
        <p:nvSpPr>
          <p:cNvPr id="23" name="Shape 21"/>
          <p:cNvSpPr/>
          <p:nvPr/>
        </p:nvSpPr>
        <p:spPr>
          <a:xfrm>
            <a:off x="3794760" y="2926080"/>
            <a:ext cx="3108960" cy="566928"/>
          </a:xfrm>
          <a:prstGeom prst="rect">
            <a:avLst/>
          </a:prstGeom>
          <a:solidFill>
            <a:srgbClr val="111827"/>
          </a:solidFill>
          <a:ln w="12700">
            <a:solidFill>
              <a:srgbClr val="374151"/>
            </a:solidFill>
            <a:prstDash val="solid"/>
          </a:ln>
        </p:spPr>
        <p:txBody>
          <a:bodyPr/>
          <a:lstStyle/>
          <a:p>
            <a:endParaRPr lang="en-US"/>
          </a:p>
        </p:txBody>
      </p:sp>
      <p:sp>
        <p:nvSpPr>
          <p:cNvPr id="24" name="Shape 22"/>
          <p:cNvSpPr/>
          <p:nvPr/>
        </p:nvSpPr>
        <p:spPr>
          <a:xfrm>
            <a:off x="7086600" y="2926080"/>
            <a:ext cx="1737360" cy="566928"/>
          </a:xfrm>
          <a:prstGeom prst="rect">
            <a:avLst/>
          </a:prstGeom>
          <a:solidFill>
            <a:srgbClr val="111827"/>
          </a:solidFill>
          <a:ln w="12700">
            <a:solidFill>
              <a:srgbClr val="374151"/>
            </a:solidFill>
            <a:prstDash val="solid"/>
          </a:ln>
        </p:spPr>
        <p:txBody>
          <a:bodyPr/>
          <a:lstStyle/>
          <a:p>
            <a:endParaRPr lang="en-US"/>
          </a:p>
        </p:txBody>
      </p:sp>
      <p:sp>
        <p:nvSpPr>
          <p:cNvPr id="25" name="Text 23"/>
          <p:cNvSpPr/>
          <p:nvPr/>
        </p:nvSpPr>
        <p:spPr>
          <a:xfrm>
            <a:off x="640080" y="2926080"/>
            <a:ext cx="2834640" cy="566928"/>
          </a:xfrm>
          <a:prstGeom prst="rect">
            <a:avLst/>
          </a:prstGeom>
          <a:noFill/>
          <a:ln/>
        </p:spPr>
        <p:txBody>
          <a:bodyPr wrap="square" rtlCol="0" anchor="ctr"/>
          <a:lstStyle/>
          <a:p>
            <a:pPr marL="0" indent="0">
              <a:buNone/>
            </a:pPr>
            <a:r>
              <a:rPr lang="en-US" sz="1300" b="1" dirty="0">
                <a:solidFill>
                  <a:srgbClr val="F9FAFB"/>
                </a:solidFill>
                <a:latin typeface="Calibri" pitchFamily="34" charset="0"/>
                <a:ea typeface="Calibri" pitchFamily="34" charset="-122"/>
                <a:cs typeface="Calibri" pitchFamily="34" charset="-120"/>
              </a:rPr>
              <a:t>DMZ</a:t>
            </a:r>
            <a:endParaRPr lang="en-US" sz="1300" dirty="0"/>
          </a:p>
        </p:txBody>
      </p:sp>
      <p:sp>
        <p:nvSpPr>
          <p:cNvPr id="26" name="Text 24"/>
          <p:cNvSpPr/>
          <p:nvPr/>
        </p:nvSpPr>
        <p:spPr>
          <a:xfrm>
            <a:off x="3931920" y="2926080"/>
            <a:ext cx="2834640" cy="566928"/>
          </a:xfrm>
          <a:prstGeom prst="rect">
            <a:avLst/>
          </a:prstGeom>
          <a:noFill/>
          <a:ln/>
        </p:spPr>
        <p:txBody>
          <a:bodyPr wrap="square" rtlCol="0" anchor="ctr"/>
          <a:lstStyle/>
          <a:p>
            <a:pPr marL="0" indent="0">
              <a:buNone/>
            </a:pPr>
            <a:r>
              <a:rPr lang="en-US" sz="1300" dirty="0">
                <a:solidFill>
                  <a:srgbClr val="14B8A6"/>
                </a:solidFill>
                <a:latin typeface="Calibri" pitchFamily="34" charset="0"/>
                <a:ea typeface="Calibri" pitchFamily="34" charset="-122"/>
                <a:cs typeface="Calibri" pitchFamily="34" charset="-120"/>
              </a:rPr>
              <a:t>NAT Gateway</a:t>
            </a:r>
            <a:endParaRPr lang="en-US" sz="1300" dirty="0"/>
          </a:p>
        </p:txBody>
      </p:sp>
      <p:sp>
        <p:nvSpPr>
          <p:cNvPr id="27" name="Text 25"/>
          <p:cNvSpPr/>
          <p:nvPr/>
        </p:nvSpPr>
        <p:spPr>
          <a:xfrm>
            <a:off x="7114032" y="2926080"/>
            <a:ext cx="1682496" cy="566928"/>
          </a:xfrm>
          <a:prstGeom prst="rect">
            <a:avLst/>
          </a:prstGeom>
          <a:noFill/>
          <a:ln/>
        </p:spPr>
        <p:txBody>
          <a:bodyPr wrap="square" rtlCol="0" anchor="ctr"/>
          <a:lstStyle/>
          <a:p>
            <a:pPr marL="0" indent="0">
              <a:buNone/>
            </a:pPr>
            <a:r>
              <a:rPr lang="en-US" sz="1050" i="1" dirty="0">
                <a:solidFill>
                  <a:srgbClr val="EF4444"/>
                </a:solidFill>
                <a:latin typeface="Calibri" pitchFamily="34" charset="0"/>
                <a:ea typeface="Calibri" pitchFamily="34" charset="-122"/>
                <a:cs typeface="Calibri" pitchFamily="34" charset="-120"/>
              </a:rPr>
              <a:t>No inbound filtering</a:t>
            </a:r>
            <a:endParaRPr lang="en-US" sz="1050" dirty="0"/>
          </a:p>
        </p:txBody>
      </p:sp>
      <p:sp>
        <p:nvSpPr>
          <p:cNvPr id="28" name="Shape 26"/>
          <p:cNvSpPr/>
          <p:nvPr/>
        </p:nvSpPr>
        <p:spPr>
          <a:xfrm>
            <a:off x="502920" y="3575304"/>
            <a:ext cx="3108960" cy="566928"/>
          </a:xfrm>
          <a:prstGeom prst="rect">
            <a:avLst/>
          </a:prstGeom>
          <a:solidFill>
            <a:srgbClr val="1F2937"/>
          </a:solidFill>
          <a:ln w="12700">
            <a:solidFill>
              <a:srgbClr val="374151"/>
            </a:solidFill>
            <a:prstDash val="solid"/>
          </a:ln>
        </p:spPr>
        <p:txBody>
          <a:bodyPr/>
          <a:lstStyle/>
          <a:p>
            <a:endParaRPr lang="en-US"/>
          </a:p>
        </p:txBody>
      </p:sp>
      <p:sp>
        <p:nvSpPr>
          <p:cNvPr id="29" name="Shape 27"/>
          <p:cNvSpPr/>
          <p:nvPr/>
        </p:nvSpPr>
        <p:spPr>
          <a:xfrm>
            <a:off x="3794760" y="3575304"/>
            <a:ext cx="3108960" cy="566928"/>
          </a:xfrm>
          <a:prstGeom prst="rect">
            <a:avLst/>
          </a:prstGeom>
          <a:solidFill>
            <a:srgbClr val="1F2937"/>
          </a:solidFill>
          <a:ln w="12700">
            <a:solidFill>
              <a:srgbClr val="374151"/>
            </a:solidFill>
            <a:prstDash val="solid"/>
          </a:ln>
        </p:spPr>
        <p:txBody>
          <a:bodyPr/>
          <a:lstStyle/>
          <a:p>
            <a:endParaRPr lang="en-US"/>
          </a:p>
        </p:txBody>
      </p:sp>
      <p:sp>
        <p:nvSpPr>
          <p:cNvPr id="30" name="Shape 28"/>
          <p:cNvSpPr/>
          <p:nvPr/>
        </p:nvSpPr>
        <p:spPr>
          <a:xfrm>
            <a:off x="7086600" y="3575304"/>
            <a:ext cx="1737360" cy="566928"/>
          </a:xfrm>
          <a:prstGeom prst="rect">
            <a:avLst/>
          </a:prstGeom>
          <a:solidFill>
            <a:srgbClr val="1F2937"/>
          </a:solidFill>
          <a:ln w="12700">
            <a:solidFill>
              <a:srgbClr val="374151"/>
            </a:solidFill>
            <a:prstDash val="solid"/>
          </a:ln>
        </p:spPr>
        <p:txBody>
          <a:bodyPr/>
          <a:lstStyle/>
          <a:p>
            <a:endParaRPr lang="en-US"/>
          </a:p>
        </p:txBody>
      </p:sp>
      <p:sp>
        <p:nvSpPr>
          <p:cNvPr id="31" name="Text 29"/>
          <p:cNvSpPr/>
          <p:nvPr/>
        </p:nvSpPr>
        <p:spPr>
          <a:xfrm>
            <a:off x="640080" y="3575304"/>
            <a:ext cx="2834640" cy="566928"/>
          </a:xfrm>
          <a:prstGeom prst="rect">
            <a:avLst/>
          </a:prstGeom>
          <a:noFill/>
          <a:ln/>
        </p:spPr>
        <p:txBody>
          <a:bodyPr wrap="square" rtlCol="0" anchor="ctr"/>
          <a:lstStyle/>
          <a:p>
            <a:pPr marL="0" indent="0">
              <a:buNone/>
            </a:pPr>
            <a:r>
              <a:rPr lang="en-US" sz="1300" b="1" dirty="0">
                <a:solidFill>
                  <a:srgbClr val="F9FAFB"/>
                </a:solidFill>
                <a:latin typeface="Calibri" pitchFamily="34" charset="0"/>
                <a:ea typeface="Calibri" pitchFamily="34" charset="-122"/>
                <a:cs typeface="Calibri" pitchFamily="34" charset="-120"/>
              </a:rPr>
              <a:t>Reverse Proxy / WAF</a:t>
            </a:r>
            <a:endParaRPr lang="en-US" sz="1300" dirty="0"/>
          </a:p>
        </p:txBody>
      </p:sp>
      <p:sp>
        <p:nvSpPr>
          <p:cNvPr id="32" name="Text 30"/>
          <p:cNvSpPr/>
          <p:nvPr/>
        </p:nvSpPr>
        <p:spPr>
          <a:xfrm>
            <a:off x="3931920" y="3575304"/>
            <a:ext cx="2834640" cy="566928"/>
          </a:xfrm>
          <a:prstGeom prst="rect">
            <a:avLst/>
          </a:prstGeom>
          <a:noFill/>
          <a:ln/>
        </p:spPr>
        <p:txBody>
          <a:bodyPr wrap="square" rtlCol="0" anchor="ctr"/>
          <a:lstStyle/>
          <a:p>
            <a:pPr marL="0" indent="0">
              <a:buNone/>
            </a:pPr>
            <a:r>
              <a:rPr lang="en-US" sz="1300" dirty="0">
                <a:solidFill>
                  <a:srgbClr val="14B8A6"/>
                </a:solidFill>
                <a:latin typeface="Calibri" pitchFamily="34" charset="0"/>
                <a:ea typeface="Calibri" pitchFamily="34" charset="-122"/>
                <a:cs typeface="Calibri" pitchFamily="34" charset="-120"/>
              </a:rPr>
              <a:t>Cloud Load Balancer</a:t>
            </a:r>
            <a:endParaRPr lang="en-US" sz="1300" dirty="0"/>
          </a:p>
        </p:txBody>
      </p:sp>
      <p:sp>
        <p:nvSpPr>
          <p:cNvPr id="33" name="Text 31"/>
          <p:cNvSpPr/>
          <p:nvPr/>
        </p:nvSpPr>
        <p:spPr>
          <a:xfrm>
            <a:off x="7114032" y="3575304"/>
            <a:ext cx="1682496" cy="566928"/>
          </a:xfrm>
          <a:prstGeom prst="rect">
            <a:avLst/>
          </a:prstGeom>
          <a:noFill/>
          <a:ln/>
        </p:spPr>
        <p:txBody>
          <a:bodyPr wrap="square" rtlCol="0" anchor="ctr"/>
          <a:lstStyle/>
          <a:p>
            <a:pPr marL="0" indent="0">
              <a:buNone/>
            </a:pPr>
            <a:r>
              <a:rPr lang="en-US" sz="1050" i="1" dirty="0">
                <a:solidFill>
                  <a:srgbClr val="EF4444"/>
                </a:solidFill>
                <a:latin typeface="Calibri" pitchFamily="34" charset="0"/>
                <a:ea typeface="Calibri" pitchFamily="34" charset="-122"/>
                <a:cs typeface="Calibri" pitchFamily="34" charset="-120"/>
              </a:rPr>
              <a:t>WAF must be added explicitly</a:t>
            </a:r>
            <a:endParaRPr lang="en-US" sz="1050" dirty="0"/>
          </a:p>
        </p:txBody>
      </p:sp>
      <p:sp>
        <p:nvSpPr>
          <p:cNvPr id="34" name="Shape 32"/>
          <p:cNvSpPr/>
          <p:nvPr/>
        </p:nvSpPr>
        <p:spPr>
          <a:xfrm>
            <a:off x="502920" y="4224528"/>
            <a:ext cx="3108960" cy="566928"/>
          </a:xfrm>
          <a:prstGeom prst="rect">
            <a:avLst/>
          </a:prstGeom>
          <a:solidFill>
            <a:srgbClr val="111827"/>
          </a:solidFill>
          <a:ln w="12700">
            <a:solidFill>
              <a:srgbClr val="374151"/>
            </a:solidFill>
            <a:prstDash val="solid"/>
          </a:ln>
        </p:spPr>
        <p:txBody>
          <a:bodyPr/>
          <a:lstStyle/>
          <a:p>
            <a:endParaRPr lang="en-US"/>
          </a:p>
        </p:txBody>
      </p:sp>
      <p:sp>
        <p:nvSpPr>
          <p:cNvPr id="35" name="Shape 33"/>
          <p:cNvSpPr/>
          <p:nvPr/>
        </p:nvSpPr>
        <p:spPr>
          <a:xfrm>
            <a:off x="3794760" y="4224528"/>
            <a:ext cx="3108960" cy="566928"/>
          </a:xfrm>
          <a:prstGeom prst="rect">
            <a:avLst/>
          </a:prstGeom>
          <a:solidFill>
            <a:srgbClr val="111827"/>
          </a:solidFill>
          <a:ln w="12700">
            <a:solidFill>
              <a:srgbClr val="374151"/>
            </a:solidFill>
            <a:prstDash val="solid"/>
          </a:ln>
        </p:spPr>
        <p:txBody>
          <a:bodyPr/>
          <a:lstStyle/>
          <a:p>
            <a:endParaRPr lang="en-US"/>
          </a:p>
        </p:txBody>
      </p:sp>
      <p:sp>
        <p:nvSpPr>
          <p:cNvPr id="36" name="Shape 34"/>
          <p:cNvSpPr/>
          <p:nvPr/>
        </p:nvSpPr>
        <p:spPr>
          <a:xfrm>
            <a:off x="7086600" y="4224528"/>
            <a:ext cx="1737360" cy="566928"/>
          </a:xfrm>
          <a:prstGeom prst="rect">
            <a:avLst/>
          </a:prstGeom>
          <a:solidFill>
            <a:srgbClr val="111827"/>
          </a:solidFill>
          <a:ln w="12700">
            <a:solidFill>
              <a:srgbClr val="374151"/>
            </a:solidFill>
            <a:prstDash val="solid"/>
          </a:ln>
        </p:spPr>
        <p:txBody>
          <a:bodyPr/>
          <a:lstStyle/>
          <a:p>
            <a:endParaRPr lang="en-US"/>
          </a:p>
        </p:txBody>
      </p:sp>
      <p:sp>
        <p:nvSpPr>
          <p:cNvPr id="37" name="Text 35"/>
          <p:cNvSpPr/>
          <p:nvPr/>
        </p:nvSpPr>
        <p:spPr>
          <a:xfrm>
            <a:off x="640080" y="4224528"/>
            <a:ext cx="2834640" cy="566928"/>
          </a:xfrm>
          <a:prstGeom prst="rect">
            <a:avLst/>
          </a:prstGeom>
          <a:noFill/>
          <a:ln/>
        </p:spPr>
        <p:txBody>
          <a:bodyPr wrap="square" rtlCol="0" anchor="ctr"/>
          <a:lstStyle/>
          <a:p>
            <a:pPr marL="0" indent="0">
              <a:buNone/>
            </a:pPr>
            <a:r>
              <a:rPr lang="en-US" sz="1300" b="1" dirty="0">
                <a:solidFill>
                  <a:srgbClr val="F9FAFB"/>
                </a:solidFill>
                <a:latin typeface="Calibri" pitchFamily="34" charset="0"/>
                <a:ea typeface="Calibri" pitchFamily="34" charset="-122"/>
                <a:cs typeface="Calibri" pitchFamily="34" charset="-120"/>
              </a:rPr>
              <a:t>Hub &amp; Spoke Firewall</a:t>
            </a:r>
            <a:endParaRPr lang="en-US" sz="1300" dirty="0"/>
          </a:p>
        </p:txBody>
      </p:sp>
      <p:sp>
        <p:nvSpPr>
          <p:cNvPr id="38" name="Text 36"/>
          <p:cNvSpPr/>
          <p:nvPr/>
        </p:nvSpPr>
        <p:spPr>
          <a:xfrm>
            <a:off x="3931920" y="4224528"/>
            <a:ext cx="2834640" cy="566928"/>
          </a:xfrm>
          <a:prstGeom prst="rect">
            <a:avLst/>
          </a:prstGeom>
          <a:noFill/>
          <a:ln/>
        </p:spPr>
        <p:txBody>
          <a:bodyPr wrap="square" rtlCol="0" anchor="ctr"/>
          <a:lstStyle/>
          <a:p>
            <a:pPr marL="0" indent="0">
              <a:buNone/>
            </a:pPr>
            <a:r>
              <a:rPr lang="en-US" sz="1300" dirty="0">
                <a:solidFill>
                  <a:srgbClr val="14B8A6"/>
                </a:solidFill>
                <a:latin typeface="Calibri" pitchFamily="34" charset="0"/>
                <a:ea typeface="Calibri" pitchFamily="34" charset="-122"/>
                <a:cs typeface="Calibri" pitchFamily="34" charset="-120"/>
              </a:rPr>
              <a:t>SD-WAN Direct Breakout</a:t>
            </a:r>
            <a:endParaRPr lang="en-US" sz="1300" dirty="0"/>
          </a:p>
        </p:txBody>
      </p:sp>
      <p:sp>
        <p:nvSpPr>
          <p:cNvPr id="39" name="Text 37"/>
          <p:cNvSpPr/>
          <p:nvPr/>
        </p:nvSpPr>
        <p:spPr>
          <a:xfrm>
            <a:off x="7114032" y="4224528"/>
            <a:ext cx="1682496" cy="566928"/>
          </a:xfrm>
          <a:prstGeom prst="rect">
            <a:avLst/>
          </a:prstGeom>
          <a:noFill/>
          <a:ln/>
        </p:spPr>
        <p:txBody>
          <a:bodyPr wrap="square" rtlCol="0" anchor="ctr"/>
          <a:lstStyle/>
          <a:p>
            <a:pPr marL="0" indent="0">
              <a:buNone/>
            </a:pPr>
            <a:r>
              <a:rPr lang="en-US" sz="1050" i="1" dirty="0">
                <a:solidFill>
                  <a:srgbClr val="EF4444"/>
                </a:solidFill>
                <a:latin typeface="Calibri" pitchFamily="34" charset="0"/>
                <a:ea typeface="Calibri" pitchFamily="34" charset="-122"/>
                <a:cs typeface="Calibri" pitchFamily="34" charset="-120"/>
              </a:rPr>
              <a:t>Traffic bypasses inspection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4B8A6"/>
          </a:solidFill>
          <a:ln w="12700">
            <a:solidFill>
              <a:srgbClr val="14B8A6"/>
            </a:solidFill>
            <a:prstDash val="solid"/>
          </a:ln>
        </p:spPr>
        <p:txBody>
          <a:bodyPr/>
          <a:lstStyle/>
          <a:p>
            <a:endParaRPr lang="en-US"/>
          </a:p>
        </p:txBody>
      </p:sp>
      <p:sp>
        <p:nvSpPr>
          <p:cNvPr id="3" name="Text 1"/>
          <p:cNvSpPr/>
          <p:nvPr/>
        </p:nvSpPr>
        <p:spPr>
          <a:xfrm>
            <a:off x="502920" y="548640"/>
            <a:ext cx="8229600" cy="1828800"/>
          </a:xfrm>
          <a:prstGeom prst="rect">
            <a:avLst/>
          </a:prstGeom>
          <a:noFill/>
          <a:ln/>
        </p:spPr>
        <p:txBody>
          <a:bodyPr wrap="square" rtlCol="0" anchor="ctr"/>
          <a:lstStyle/>
          <a:p>
            <a:pPr marL="0" indent="0">
              <a:buNone/>
            </a:pPr>
            <a:r>
              <a:rPr lang="en-US" sz="12000" b="1" dirty="0">
                <a:solidFill>
                  <a:srgbClr val="263244"/>
                </a:solidFill>
                <a:latin typeface="Calibri" pitchFamily="34" charset="0"/>
                <a:ea typeface="Calibri" pitchFamily="34" charset="-122"/>
                <a:cs typeface="Calibri" pitchFamily="34" charset="-120"/>
              </a:rPr>
              <a:t>02</a:t>
            </a:r>
            <a:endParaRPr lang="en-US" sz="12000" dirty="0"/>
          </a:p>
        </p:txBody>
      </p:sp>
      <p:sp>
        <p:nvSpPr>
          <p:cNvPr id="4" name="Text 2"/>
          <p:cNvSpPr/>
          <p:nvPr/>
        </p:nvSpPr>
        <p:spPr>
          <a:xfrm>
            <a:off x="502920" y="1737360"/>
            <a:ext cx="7772400" cy="822960"/>
          </a:xfrm>
          <a:prstGeom prst="rect">
            <a:avLst/>
          </a:prstGeom>
          <a:noFill/>
          <a:ln/>
        </p:spPr>
        <p:txBody>
          <a:bodyPr wrap="square" rtlCol="0" anchor="ctr"/>
          <a:lstStyle/>
          <a:p>
            <a:pPr marL="0" indent="0">
              <a:buNone/>
            </a:pPr>
            <a:r>
              <a:rPr lang="en-US" sz="3800" b="1" dirty="0">
                <a:solidFill>
                  <a:srgbClr val="F9FAFB"/>
                </a:solidFill>
                <a:latin typeface="Calibri" pitchFamily="34" charset="0"/>
                <a:ea typeface="Calibri" pitchFamily="34" charset="-122"/>
                <a:cs typeface="Calibri" pitchFamily="34" charset="-120"/>
              </a:rPr>
              <a:t>Where the Assumptions Break</a:t>
            </a:r>
            <a:endParaRPr lang="en-US" sz="3800" dirty="0"/>
          </a:p>
        </p:txBody>
      </p:sp>
      <p:sp>
        <p:nvSpPr>
          <p:cNvPr id="5" name="Text 3"/>
          <p:cNvSpPr/>
          <p:nvPr/>
        </p:nvSpPr>
        <p:spPr>
          <a:xfrm>
            <a:off x="502920" y="2651760"/>
            <a:ext cx="6858000" cy="548640"/>
          </a:xfrm>
          <a:prstGeom prst="rect">
            <a:avLst/>
          </a:prstGeom>
          <a:noFill/>
          <a:ln/>
        </p:spPr>
        <p:txBody>
          <a:bodyPr wrap="square" rtlCol="0" anchor="ctr"/>
          <a:lstStyle/>
          <a:p>
            <a:pPr marL="0" indent="0">
              <a:buNone/>
            </a:pPr>
            <a:r>
              <a:rPr lang="en-US" sz="1700" dirty="0">
                <a:solidFill>
                  <a:srgbClr val="D1D5DB"/>
                </a:solidFill>
                <a:latin typeface="Calibri" pitchFamily="34" charset="0"/>
                <a:ea typeface="Calibri" pitchFamily="34" charset="-122"/>
                <a:cs typeface="Calibri" pitchFamily="34" charset="-120"/>
              </a:rPr>
              <a:t>On-prem control → cloud equivalent → the gap → what you can do about it.</a:t>
            </a:r>
            <a:endParaRPr lang="en-US" sz="1700" dirty="0"/>
          </a:p>
        </p:txBody>
      </p:sp>
      <p:sp>
        <p:nvSpPr>
          <p:cNvPr id="6" name="Shape 4"/>
          <p:cNvSpPr/>
          <p:nvPr/>
        </p:nvSpPr>
        <p:spPr>
          <a:xfrm>
            <a:off x="502920" y="3794760"/>
            <a:ext cx="8321040" cy="27432"/>
          </a:xfrm>
          <a:prstGeom prst="rect">
            <a:avLst/>
          </a:prstGeom>
          <a:solidFill>
            <a:srgbClr val="374151"/>
          </a:solidFill>
          <a:ln w="12700">
            <a:solidFill>
              <a:srgbClr val="374151"/>
            </a:solidFill>
            <a:prstDash val="solid"/>
          </a:ln>
        </p:spPr>
        <p:txBody>
          <a:bodyPr/>
          <a:lstStyle/>
          <a:p>
            <a:endParaRPr lang="en-US"/>
          </a:p>
        </p:txBody>
      </p:sp>
      <p:sp>
        <p:nvSpPr>
          <p:cNvPr id="7" name="Text 5"/>
          <p:cNvSpPr/>
          <p:nvPr/>
        </p:nvSpPr>
        <p:spPr>
          <a:xfrm>
            <a:off x="502920" y="3931920"/>
            <a:ext cx="2743200" cy="2743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12 minutes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502920" y="274320"/>
            <a:ext cx="640080" cy="256032"/>
          </a:xfrm>
          <a:prstGeom prst="rect">
            <a:avLst/>
          </a:prstGeom>
          <a:solidFill>
            <a:srgbClr val="14B8A6"/>
          </a:solidFill>
          <a:ln w="12700">
            <a:solidFill>
              <a:srgbClr val="14B8A6"/>
            </a:solidFill>
            <a:prstDash val="solid"/>
          </a:ln>
        </p:spPr>
        <p:txBody>
          <a:bodyPr/>
          <a:lstStyle/>
          <a:p>
            <a:endParaRPr lang="en-US"/>
          </a:p>
        </p:txBody>
      </p:sp>
      <p:sp>
        <p:nvSpPr>
          <p:cNvPr id="3" name="Text 1"/>
          <p:cNvSpPr/>
          <p:nvPr/>
        </p:nvSpPr>
        <p:spPr>
          <a:xfrm>
            <a:off x="502920" y="274320"/>
            <a:ext cx="640080" cy="256032"/>
          </a:xfrm>
          <a:prstGeom prst="rect">
            <a:avLst/>
          </a:prstGeom>
          <a:noFill/>
          <a:ln/>
        </p:spPr>
        <p:txBody>
          <a:bodyPr wrap="square" rtlCol="0" anchor="ctr"/>
          <a:lstStyle/>
          <a:p>
            <a:pPr marL="0" indent="0" algn="ctr">
              <a:buNone/>
            </a:pPr>
            <a:r>
              <a:rPr lang="en-US" sz="900" b="1" dirty="0">
                <a:solidFill>
                  <a:srgbClr val="111827"/>
                </a:solidFill>
                <a:latin typeface="Calibri" pitchFamily="34" charset="0"/>
                <a:ea typeface="Calibri" pitchFamily="34" charset="-122"/>
                <a:cs typeface="Calibri" pitchFamily="34" charset="-120"/>
              </a:rPr>
              <a:t>GAP 1</a:t>
            </a:r>
            <a:endParaRPr lang="en-US" sz="900" dirty="0"/>
          </a:p>
        </p:txBody>
      </p:sp>
      <p:sp>
        <p:nvSpPr>
          <p:cNvPr id="4" name="Text 2"/>
          <p:cNvSpPr/>
          <p:nvPr/>
        </p:nvSpPr>
        <p:spPr>
          <a:xfrm>
            <a:off x="1234440" y="256032"/>
            <a:ext cx="7589520" cy="320040"/>
          </a:xfrm>
          <a:prstGeom prst="rect">
            <a:avLst/>
          </a:prstGeom>
          <a:noFill/>
          <a:ln/>
        </p:spPr>
        <p:txBody>
          <a:bodyPr wrap="square" rtlCol="0" anchor="ctr"/>
          <a:lstStyle/>
          <a:p>
            <a:pPr marL="0" indent="0">
              <a:buNone/>
            </a:pPr>
            <a:r>
              <a:rPr lang="en-US" sz="2000" b="1" dirty="0">
                <a:solidFill>
                  <a:srgbClr val="F9FAFB"/>
                </a:solidFill>
                <a:latin typeface="Calibri" pitchFamily="34" charset="0"/>
                <a:ea typeface="Calibri" pitchFamily="34" charset="-122"/>
                <a:cs typeface="Calibri" pitchFamily="34" charset="-120"/>
              </a:rPr>
              <a:t>Security Groups ≠ Stateful Firewalls</a:t>
            </a:r>
            <a:endParaRPr lang="en-US" sz="2000" dirty="0"/>
          </a:p>
        </p:txBody>
      </p:sp>
      <p:sp>
        <p:nvSpPr>
          <p:cNvPr id="5" name="Shape 3"/>
          <p:cNvSpPr/>
          <p:nvPr/>
        </p:nvSpPr>
        <p:spPr>
          <a:xfrm>
            <a:off x="502920" y="713232"/>
            <a:ext cx="3931920" cy="2880360"/>
          </a:xfrm>
          <a:prstGeom prst="rect">
            <a:avLst/>
          </a:prstGeom>
          <a:solidFill>
            <a:srgbClr val="1F2937"/>
          </a:solidFill>
          <a:ln w="12700">
            <a:solidFill>
              <a:srgbClr val="374151"/>
            </a:solidFill>
            <a:prstDash val="solid"/>
          </a:ln>
        </p:spPr>
        <p:txBody>
          <a:bodyPr/>
          <a:lstStyle/>
          <a:p>
            <a:endParaRPr lang="en-US"/>
          </a:p>
        </p:txBody>
      </p:sp>
      <p:sp>
        <p:nvSpPr>
          <p:cNvPr id="6" name="Shape 4"/>
          <p:cNvSpPr/>
          <p:nvPr/>
        </p:nvSpPr>
        <p:spPr>
          <a:xfrm>
            <a:off x="4663440" y="713232"/>
            <a:ext cx="4160520" cy="2880360"/>
          </a:xfrm>
          <a:prstGeom prst="rect">
            <a:avLst/>
          </a:prstGeom>
          <a:solidFill>
            <a:srgbClr val="2D0A0A"/>
          </a:solidFill>
          <a:ln w="12700">
            <a:solidFill>
              <a:srgbClr val="EF4444"/>
            </a:solidFill>
            <a:prstDash val="solid"/>
          </a:ln>
        </p:spPr>
        <p:txBody>
          <a:bodyPr/>
          <a:lstStyle/>
          <a:p>
            <a:endParaRPr lang="en-US"/>
          </a:p>
        </p:txBody>
      </p:sp>
      <p:sp>
        <p:nvSpPr>
          <p:cNvPr id="7" name="Shape 5"/>
          <p:cNvSpPr/>
          <p:nvPr/>
        </p:nvSpPr>
        <p:spPr>
          <a:xfrm>
            <a:off x="502920" y="713232"/>
            <a:ext cx="3931920" cy="347472"/>
          </a:xfrm>
          <a:prstGeom prst="rect">
            <a:avLst/>
          </a:prstGeom>
          <a:solidFill>
            <a:srgbClr val="263244"/>
          </a:solidFill>
          <a:ln w="12700">
            <a:solidFill>
              <a:srgbClr val="374151"/>
            </a:solidFill>
            <a:prstDash val="solid"/>
          </a:ln>
        </p:spPr>
        <p:txBody>
          <a:bodyPr/>
          <a:lstStyle/>
          <a:p>
            <a:endParaRPr lang="en-US"/>
          </a:p>
        </p:txBody>
      </p:sp>
      <p:sp>
        <p:nvSpPr>
          <p:cNvPr id="8" name="Shape 6"/>
          <p:cNvSpPr/>
          <p:nvPr/>
        </p:nvSpPr>
        <p:spPr>
          <a:xfrm>
            <a:off x="4663440" y="713232"/>
            <a:ext cx="4160520" cy="347472"/>
          </a:xfrm>
          <a:prstGeom prst="rect">
            <a:avLst/>
          </a:prstGeom>
          <a:solidFill>
            <a:srgbClr val="EF4444"/>
          </a:solidFill>
          <a:ln w="12700">
            <a:solidFill>
              <a:srgbClr val="EF4444"/>
            </a:solidFill>
            <a:prstDash val="solid"/>
          </a:ln>
        </p:spPr>
        <p:txBody>
          <a:bodyPr/>
          <a:lstStyle/>
          <a:p>
            <a:endParaRPr lang="en-US"/>
          </a:p>
        </p:txBody>
      </p:sp>
      <p:sp>
        <p:nvSpPr>
          <p:cNvPr id="9" name="Text 7"/>
          <p:cNvSpPr/>
          <p:nvPr/>
        </p:nvSpPr>
        <p:spPr>
          <a:xfrm>
            <a:off x="594360" y="713232"/>
            <a:ext cx="3749040" cy="347472"/>
          </a:xfrm>
          <a:prstGeom prst="rect">
            <a:avLst/>
          </a:prstGeom>
          <a:noFill/>
          <a:ln/>
        </p:spPr>
        <p:txBody>
          <a:bodyPr wrap="square" rtlCol="0" anchor="ctr"/>
          <a:lstStyle/>
          <a:p>
            <a:pPr marL="0" indent="0">
              <a:buNone/>
            </a:pPr>
            <a:r>
              <a:rPr lang="en-US" sz="1100" b="1" dirty="0">
                <a:solidFill>
                  <a:srgbClr val="9CA3AF"/>
                </a:solidFill>
                <a:latin typeface="Calibri" pitchFamily="34" charset="0"/>
                <a:ea typeface="Calibri" pitchFamily="34" charset="-122"/>
                <a:cs typeface="Calibri" pitchFamily="34" charset="-120"/>
              </a:rPr>
              <a:t>ON-PREM FIREWALL  (what you had)</a:t>
            </a:r>
            <a:endParaRPr lang="en-US" sz="1100" dirty="0"/>
          </a:p>
        </p:txBody>
      </p:sp>
      <p:sp>
        <p:nvSpPr>
          <p:cNvPr id="10" name="Text 8"/>
          <p:cNvSpPr/>
          <p:nvPr/>
        </p:nvSpPr>
        <p:spPr>
          <a:xfrm>
            <a:off x="4754880" y="713232"/>
            <a:ext cx="3977640" cy="347472"/>
          </a:xfrm>
          <a:prstGeom prst="rect">
            <a:avLst/>
          </a:prstGeom>
          <a:noFill/>
          <a:ln/>
        </p:spPr>
        <p:txBody>
          <a:bodyPr wrap="square" rtlCol="0" anchor="ctr"/>
          <a:lstStyle/>
          <a:p>
            <a:pPr marL="0" indent="0">
              <a:buNone/>
            </a:pPr>
            <a:r>
              <a:rPr lang="en-US" sz="1100" b="1" dirty="0">
                <a:solidFill>
                  <a:srgbClr val="F9FAFB"/>
                </a:solidFill>
                <a:latin typeface="Calibri" pitchFamily="34" charset="0"/>
                <a:ea typeface="Calibri" pitchFamily="34" charset="-122"/>
                <a:cs typeface="Calibri" pitchFamily="34" charset="-120"/>
              </a:rPr>
              <a:t>SECURITY GROUP / NSG  (what you got)</a:t>
            </a:r>
            <a:endParaRPr lang="en-US" sz="1100" dirty="0"/>
          </a:p>
        </p:txBody>
      </p:sp>
      <p:sp>
        <p:nvSpPr>
          <p:cNvPr id="11" name="Text 9"/>
          <p:cNvSpPr/>
          <p:nvPr/>
        </p:nvSpPr>
        <p:spPr>
          <a:xfrm>
            <a:off x="621792" y="1143000"/>
            <a:ext cx="3703320" cy="347472"/>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Deep packet inspection: Layer 7</a:t>
            </a:r>
            <a:endParaRPr lang="en-US" sz="1400" dirty="0"/>
          </a:p>
        </p:txBody>
      </p:sp>
      <p:sp>
        <p:nvSpPr>
          <p:cNvPr id="12" name="Text 10"/>
          <p:cNvSpPr/>
          <p:nvPr/>
        </p:nvSpPr>
        <p:spPr>
          <a:xfrm>
            <a:off x="621792" y="1536192"/>
            <a:ext cx="3703320" cy="347472"/>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Application-aware rules (Palo App-ID, etc.)</a:t>
            </a:r>
            <a:endParaRPr lang="en-US" sz="1400" dirty="0"/>
          </a:p>
        </p:txBody>
      </p:sp>
      <p:sp>
        <p:nvSpPr>
          <p:cNvPr id="13" name="Text 11"/>
          <p:cNvSpPr/>
          <p:nvPr/>
        </p:nvSpPr>
        <p:spPr>
          <a:xfrm>
            <a:off x="621792" y="1929384"/>
            <a:ext cx="3703320" cy="347472"/>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URL &amp; FQDN filtering</a:t>
            </a:r>
            <a:endParaRPr lang="en-US" sz="1400" dirty="0"/>
          </a:p>
        </p:txBody>
      </p:sp>
      <p:sp>
        <p:nvSpPr>
          <p:cNvPr id="14" name="Text 12"/>
          <p:cNvSpPr/>
          <p:nvPr/>
        </p:nvSpPr>
        <p:spPr>
          <a:xfrm>
            <a:off x="621792" y="2322576"/>
            <a:ext cx="3703320" cy="347472"/>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IPS / threat signature matching</a:t>
            </a:r>
            <a:endParaRPr lang="en-US" sz="1400" dirty="0"/>
          </a:p>
        </p:txBody>
      </p:sp>
      <p:sp>
        <p:nvSpPr>
          <p:cNvPr id="15" name="Text 13"/>
          <p:cNvSpPr/>
          <p:nvPr/>
        </p:nvSpPr>
        <p:spPr>
          <a:xfrm>
            <a:off x="621792" y="2715768"/>
            <a:ext cx="3703320" cy="347472"/>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Full session logging with context</a:t>
            </a:r>
            <a:endParaRPr lang="en-US" sz="1400" dirty="0"/>
          </a:p>
        </p:txBody>
      </p:sp>
      <p:sp>
        <p:nvSpPr>
          <p:cNvPr id="16" name="Text 14"/>
          <p:cNvSpPr/>
          <p:nvPr/>
        </p:nvSpPr>
        <p:spPr>
          <a:xfrm>
            <a:off x="621792" y="3108960"/>
            <a:ext cx="3703320" cy="347472"/>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TLS inspection (with decryption)</a:t>
            </a:r>
            <a:endParaRPr lang="en-US" sz="1400" dirty="0"/>
          </a:p>
        </p:txBody>
      </p:sp>
      <p:sp>
        <p:nvSpPr>
          <p:cNvPr id="17" name="Text 15"/>
          <p:cNvSpPr/>
          <p:nvPr/>
        </p:nvSpPr>
        <p:spPr>
          <a:xfrm>
            <a:off x="4773168" y="1143000"/>
            <a:ext cx="3931920" cy="347472"/>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Port + protocol + IP allow/deny only (Layer 3/4)</a:t>
            </a:r>
            <a:endParaRPr lang="en-US" sz="1400" dirty="0"/>
          </a:p>
        </p:txBody>
      </p:sp>
      <p:sp>
        <p:nvSpPr>
          <p:cNvPr id="18" name="Text 16"/>
          <p:cNvSpPr/>
          <p:nvPr/>
        </p:nvSpPr>
        <p:spPr>
          <a:xfrm>
            <a:off x="4773168" y="1536192"/>
            <a:ext cx="3931920" cy="347472"/>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No application awareness</a:t>
            </a:r>
            <a:endParaRPr lang="en-US" sz="1400" dirty="0"/>
          </a:p>
        </p:txBody>
      </p:sp>
      <p:sp>
        <p:nvSpPr>
          <p:cNvPr id="19" name="Text 17"/>
          <p:cNvSpPr/>
          <p:nvPr/>
        </p:nvSpPr>
        <p:spPr>
          <a:xfrm>
            <a:off x="4773168" y="1929384"/>
            <a:ext cx="3931920" cy="347472"/>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No URL or FQDN filtering</a:t>
            </a:r>
            <a:endParaRPr lang="en-US" sz="1400" dirty="0"/>
          </a:p>
        </p:txBody>
      </p:sp>
      <p:sp>
        <p:nvSpPr>
          <p:cNvPr id="20" name="Text 18"/>
          <p:cNvSpPr/>
          <p:nvPr/>
        </p:nvSpPr>
        <p:spPr>
          <a:xfrm>
            <a:off x="4773168" y="2322576"/>
            <a:ext cx="3931920" cy="347472"/>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No IPS, no threat signatures</a:t>
            </a:r>
            <a:endParaRPr lang="en-US" sz="1400" dirty="0"/>
          </a:p>
        </p:txBody>
      </p:sp>
      <p:sp>
        <p:nvSpPr>
          <p:cNvPr id="21" name="Text 19"/>
          <p:cNvSpPr/>
          <p:nvPr/>
        </p:nvSpPr>
        <p:spPr>
          <a:xfrm>
            <a:off x="4773168" y="2715768"/>
            <a:ext cx="3931920" cy="347472"/>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No built-in traffic logging (VPC Flow Logs separate)</a:t>
            </a:r>
            <a:endParaRPr lang="en-US" sz="1400" dirty="0"/>
          </a:p>
        </p:txBody>
      </p:sp>
      <p:sp>
        <p:nvSpPr>
          <p:cNvPr id="22" name="Text 20"/>
          <p:cNvSpPr/>
          <p:nvPr/>
        </p:nvSpPr>
        <p:spPr>
          <a:xfrm>
            <a:off x="4773168" y="3108960"/>
            <a:ext cx="3931920" cy="347472"/>
          </a:xfrm>
          <a:prstGeom prst="rect">
            <a:avLst/>
          </a:prstGeom>
          <a:noFill/>
          <a:ln/>
        </p:spPr>
        <p:txBody>
          <a:bodyPr wrap="square" rtlCol="0" anchor="ctr"/>
          <a:lstStyle/>
          <a:p>
            <a:pPr marL="0" indent="0">
              <a:buNone/>
            </a:pPr>
            <a:r>
              <a:rPr lang="en-US" sz="1400" b="1" dirty="0">
                <a:solidFill>
                  <a:srgbClr val="EAB308"/>
                </a:solidFill>
                <a:latin typeface="Calibri" pitchFamily="34" charset="0"/>
                <a:ea typeface="Calibri" pitchFamily="34" charset="-122"/>
                <a:cs typeface="Calibri" pitchFamily="34" charset="-120"/>
              </a:rPr>
              <a:t xml:space="preserve">~  </a:t>
            </a:r>
            <a:r>
              <a:rPr lang="en-US" sz="1250" dirty="0">
                <a:solidFill>
                  <a:srgbClr val="D1D5DB"/>
                </a:solidFill>
                <a:latin typeface="Calibri" pitchFamily="34" charset="0"/>
                <a:ea typeface="Calibri" pitchFamily="34" charset="-122"/>
                <a:cs typeface="Calibri" pitchFamily="34" charset="-120"/>
              </a:rPr>
              <a:t>Stateful = connection tracking only, not inspection</a:t>
            </a:r>
            <a:endParaRPr lang="en-US" sz="1400" dirty="0"/>
          </a:p>
        </p:txBody>
      </p:sp>
      <p:sp>
        <p:nvSpPr>
          <p:cNvPr id="23" name="Shape 21"/>
          <p:cNvSpPr/>
          <p:nvPr/>
        </p:nvSpPr>
        <p:spPr>
          <a:xfrm>
            <a:off x="502920" y="3749040"/>
            <a:ext cx="8321040" cy="822960"/>
          </a:xfrm>
          <a:prstGeom prst="rect">
            <a:avLst/>
          </a:prstGeom>
          <a:solidFill>
            <a:srgbClr val="052E16"/>
          </a:solidFill>
          <a:ln w="12700">
            <a:solidFill>
              <a:srgbClr val="22C55E"/>
            </a:solidFill>
            <a:prstDash val="solid"/>
          </a:ln>
        </p:spPr>
        <p:txBody>
          <a:bodyPr/>
          <a:lstStyle/>
          <a:p>
            <a:endParaRPr lang="en-US"/>
          </a:p>
        </p:txBody>
      </p:sp>
      <p:sp>
        <p:nvSpPr>
          <p:cNvPr id="24" name="Text 22"/>
          <p:cNvSpPr/>
          <p:nvPr/>
        </p:nvSpPr>
        <p:spPr>
          <a:xfrm>
            <a:off x="685800" y="3776472"/>
            <a:ext cx="8229600" cy="256032"/>
          </a:xfrm>
          <a:prstGeom prst="rect">
            <a:avLst/>
          </a:prstGeom>
          <a:noFill/>
          <a:ln/>
        </p:spPr>
        <p:txBody>
          <a:bodyPr wrap="square" rtlCol="0" anchor="ctr"/>
          <a:lstStyle/>
          <a:p>
            <a:pPr marL="0" indent="0">
              <a:buNone/>
            </a:pPr>
            <a:r>
              <a:rPr lang="en-US" sz="1100" b="1" kern="0" spc="100" dirty="0">
                <a:solidFill>
                  <a:srgbClr val="22C55E"/>
                </a:solidFill>
                <a:latin typeface="Calibri" pitchFamily="34" charset="0"/>
                <a:ea typeface="Calibri" pitchFamily="34" charset="-122"/>
                <a:cs typeface="Calibri" pitchFamily="34" charset="-120"/>
              </a:rPr>
              <a:t>→  CHECK YOUR ENVIRONMENT</a:t>
            </a:r>
            <a:endParaRPr lang="en-US" sz="1100" dirty="0"/>
          </a:p>
        </p:txBody>
      </p:sp>
      <p:sp>
        <p:nvSpPr>
          <p:cNvPr id="25" name="Text 23"/>
          <p:cNvSpPr/>
          <p:nvPr/>
        </p:nvSpPr>
        <p:spPr>
          <a:xfrm>
            <a:off x="685800" y="3995928"/>
            <a:ext cx="8046720" cy="521208"/>
          </a:xfrm>
          <a:prstGeom prst="rect">
            <a:avLst/>
          </a:prstGeom>
          <a:noFill/>
          <a:ln/>
        </p:spPr>
        <p:txBody>
          <a:bodyPr wrap="square" rtlCol="0" anchor="ctr"/>
          <a:lstStyle/>
          <a:p>
            <a:pPr marL="0" indent="0">
              <a:buNone/>
            </a:pPr>
            <a:r>
              <a:rPr lang="en-US" sz="1100" dirty="0">
                <a:solidFill>
                  <a:srgbClr val="D1D5DB"/>
                </a:solidFill>
                <a:latin typeface="Calibri" pitchFamily="34" charset="0"/>
                <a:ea typeface="Calibri" pitchFamily="34" charset="-122"/>
                <a:cs typeface="Calibri" pitchFamily="34" charset="-120"/>
              </a:rPr>
              <a:t>AWS Console → Security Groups → look for any group with 0.0.0.0/0 inbound. Then ask: do any workloads communicate on unusual ports with no firewall between them? If you need L7, evaluate AWS Network Firewall or Azure Firewall Premium, but you must route traffic through it explicitly.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502920" y="274320"/>
            <a:ext cx="640080" cy="256032"/>
          </a:xfrm>
          <a:prstGeom prst="rect">
            <a:avLst/>
          </a:prstGeom>
          <a:solidFill>
            <a:srgbClr val="14B8A6"/>
          </a:solidFill>
          <a:ln w="12700">
            <a:solidFill>
              <a:srgbClr val="14B8A6"/>
            </a:solidFill>
            <a:prstDash val="solid"/>
          </a:ln>
        </p:spPr>
        <p:txBody>
          <a:bodyPr/>
          <a:lstStyle/>
          <a:p>
            <a:endParaRPr lang="en-US"/>
          </a:p>
        </p:txBody>
      </p:sp>
      <p:sp>
        <p:nvSpPr>
          <p:cNvPr id="3" name="Text 1"/>
          <p:cNvSpPr/>
          <p:nvPr/>
        </p:nvSpPr>
        <p:spPr>
          <a:xfrm>
            <a:off x="502920" y="274320"/>
            <a:ext cx="640080" cy="256032"/>
          </a:xfrm>
          <a:prstGeom prst="rect">
            <a:avLst/>
          </a:prstGeom>
          <a:noFill/>
          <a:ln/>
        </p:spPr>
        <p:txBody>
          <a:bodyPr wrap="square" rtlCol="0" anchor="ctr"/>
          <a:lstStyle/>
          <a:p>
            <a:pPr marL="0" indent="0" algn="ctr">
              <a:buNone/>
            </a:pPr>
            <a:r>
              <a:rPr lang="en-US" sz="900" b="1" dirty="0">
                <a:solidFill>
                  <a:srgbClr val="111827"/>
                </a:solidFill>
                <a:latin typeface="Calibri" pitchFamily="34" charset="0"/>
                <a:ea typeface="Calibri" pitchFamily="34" charset="-122"/>
                <a:cs typeface="Calibri" pitchFamily="34" charset="-120"/>
              </a:rPr>
              <a:t>GAP 2</a:t>
            </a:r>
            <a:endParaRPr lang="en-US" sz="900" dirty="0"/>
          </a:p>
        </p:txBody>
      </p:sp>
      <p:sp>
        <p:nvSpPr>
          <p:cNvPr id="4" name="Text 2"/>
          <p:cNvSpPr/>
          <p:nvPr/>
        </p:nvSpPr>
        <p:spPr>
          <a:xfrm>
            <a:off x="1234440" y="256032"/>
            <a:ext cx="7589520" cy="320040"/>
          </a:xfrm>
          <a:prstGeom prst="rect">
            <a:avLst/>
          </a:prstGeom>
          <a:noFill/>
          <a:ln/>
        </p:spPr>
        <p:txBody>
          <a:bodyPr wrap="square" rtlCol="0" anchor="ctr"/>
          <a:lstStyle/>
          <a:p>
            <a:pPr marL="0" indent="0">
              <a:buNone/>
            </a:pPr>
            <a:r>
              <a:rPr lang="en-US" sz="2000" b="1" dirty="0">
                <a:solidFill>
                  <a:srgbClr val="F9FAFB"/>
                </a:solidFill>
                <a:latin typeface="Calibri" pitchFamily="34" charset="0"/>
                <a:ea typeface="Calibri" pitchFamily="34" charset="-122"/>
                <a:cs typeface="Calibri" pitchFamily="34" charset="-120"/>
              </a:rPr>
              <a:t>VPC Subnets ≠ VLAN Segmentation</a:t>
            </a:r>
            <a:endParaRPr lang="en-US" sz="2000" dirty="0"/>
          </a:p>
        </p:txBody>
      </p:sp>
      <p:sp>
        <p:nvSpPr>
          <p:cNvPr id="5" name="Text 3"/>
          <p:cNvSpPr/>
          <p:nvPr/>
        </p:nvSpPr>
        <p:spPr>
          <a:xfrm>
            <a:off x="502920" y="731520"/>
            <a:ext cx="8229600" cy="274320"/>
          </a:xfrm>
          <a:prstGeom prst="rect">
            <a:avLst/>
          </a:prstGeom>
          <a:noFill/>
          <a:ln/>
        </p:spPr>
        <p:txBody>
          <a:bodyPr wrap="square" rtlCol="0" anchor="ctr"/>
          <a:lstStyle/>
          <a:p>
            <a:pPr marL="0" indent="0">
              <a:buNone/>
            </a:pPr>
            <a:r>
              <a:rPr lang="en-US" sz="1200" dirty="0">
                <a:solidFill>
                  <a:srgbClr val="9CA3AF"/>
                </a:solidFill>
                <a:latin typeface="Calibri" pitchFamily="34" charset="0"/>
                <a:ea typeface="Calibri" pitchFamily="34" charset="-122"/>
                <a:cs typeface="Calibri" pitchFamily="34" charset="-120"/>
              </a:rPr>
              <a:t>On-prem, a segmented design routes inter-VLAN traffic through a firewall:</a:t>
            </a:r>
            <a:endParaRPr lang="en-US" sz="1200" dirty="0"/>
          </a:p>
        </p:txBody>
      </p:sp>
      <p:sp>
        <p:nvSpPr>
          <p:cNvPr id="6" name="Shape 4"/>
          <p:cNvSpPr/>
          <p:nvPr/>
        </p:nvSpPr>
        <p:spPr>
          <a:xfrm>
            <a:off x="502920" y="1078992"/>
            <a:ext cx="1325880" cy="475488"/>
          </a:xfrm>
          <a:prstGeom prst="rect">
            <a:avLst/>
          </a:prstGeom>
          <a:solidFill>
            <a:srgbClr val="263244"/>
          </a:solidFill>
          <a:ln w="12700">
            <a:solidFill>
              <a:srgbClr val="374151"/>
            </a:solidFill>
            <a:prstDash val="solid"/>
          </a:ln>
        </p:spPr>
        <p:txBody>
          <a:bodyPr/>
          <a:lstStyle/>
          <a:p>
            <a:endParaRPr lang="en-US"/>
          </a:p>
        </p:txBody>
      </p:sp>
      <p:sp>
        <p:nvSpPr>
          <p:cNvPr id="7" name="Text 5"/>
          <p:cNvSpPr/>
          <p:nvPr/>
        </p:nvSpPr>
        <p:spPr>
          <a:xfrm>
            <a:off x="502920" y="1078992"/>
            <a:ext cx="1325880" cy="475488"/>
          </a:xfrm>
          <a:prstGeom prst="rect">
            <a:avLst/>
          </a:prstGeom>
          <a:noFill/>
          <a:ln/>
        </p:spPr>
        <p:txBody>
          <a:bodyPr wrap="square" rtlCol="0" anchor="ctr"/>
          <a:lstStyle/>
          <a:p>
            <a:pPr marL="0" indent="0" algn="ctr">
              <a:buNone/>
            </a:pPr>
            <a:r>
              <a:rPr lang="en-US" sz="1050" b="1" dirty="0">
                <a:solidFill>
                  <a:srgbClr val="14B8A6"/>
                </a:solidFill>
                <a:latin typeface="Calibri" pitchFamily="34" charset="0"/>
                <a:ea typeface="Calibri" pitchFamily="34" charset="-122"/>
                <a:cs typeface="Calibri" pitchFamily="34" charset="-120"/>
              </a:rPr>
              <a:t>VLAN 10</a:t>
            </a:r>
            <a:endParaRPr lang="en-US" sz="1050" dirty="0"/>
          </a:p>
          <a:p>
            <a:pPr marL="0" indent="0" algn="ctr">
              <a:buNone/>
            </a:pPr>
            <a:r>
              <a:rPr lang="en-US" sz="1050" b="1" dirty="0">
                <a:solidFill>
                  <a:srgbClr val="14B8A6"/>
                </a:solidFill>
                <a:latin typeface="Calibri" pitchFamily="34" charset="0"/>
                <a:ea typeface="Calibri" pitchFamily="34" charset="-122"/>
                <a:cs typeface="Calibri" pitchFamily="34" charset="-120"/>
              </a:rPr>
              <a:t>Web Tier</a:t>
            </a:r>
            <a:endParaRPr lang="en-US" sz="1050" dirty="0"/>
          </a:p>
        </p:txBody>
      </p:sp>
      <p:sp>
        <p:nvSpPr>
          <p:cNvPr id="8" name="Shape 6"/>
          <p:cNvSpPr/>
          <p:nvPr/>
        </p:nvSpPr>
        <p:spPr>
          <a:xfrm>
            <a:off x="1828800" y="1261872"/>
            <a:ext cx="502920" cy="73152"/>
          </a:xfrm>
          <a:prstGeom prst="rect">
            <a:avLst/>
          </a:prstGeom>
          <a:solidFill>
            <a:srgbClr val="22C55E"/>
          </a:solidFill>
          <a:ln w="12700">
            <a:solidFill>
              <a:srgbClr val="22C55E"/>
            </a:solidFill>
            <a:prstDash val="solid"/>
          </a:ln>
        </p:spPr>
        <p:txBody>
          <a:bodyPr/>
          <a:lstStyle/>
          <a:p>
            <a:endParaRPr lang="en-US"/>
          </a:p>
        </p:txBody>
      </p:sp>
      <p:sp>
        <p:nvSpPr>
          <p:cNvPr id="9" name="Shape 7"/>
          <p:cNvSpPr/>
          <p:nvPr/>
        </p:nvSpPr>
        <p:spPr>
          <a:xfrm>
            <a:off x="2331720" y="987552"/>
            <a:ext cx="1234440" cy="658368"/>
          </a:xfrm>
          <a:prstGeom prst="rect">
            <a:avLst/>
          </a:prstGeom>
          <a:solidFill>
            <a:srgbClr val="052E16"/>
          </a:solidFill>
          <a:ln w="12700">
            <a:solidFill>
              <a:srgbClr val="374151"/>
            </a:solidFill>
            <a:prstDash val="solid"/>
          </a:ln>
        </p:spPr>
        <p:txBody>
          <a:bodyPr/>
          <a:lstStyle/>
          <a:p>
            <a:endParaRPr lang="en-US"/>
          </a:p>
        </p:txBody>
      </p:sp>
      <p:sp>
        <p:nvSpPr>
          <p:cNvPr id="10" name="Text 8"/>
          <p:cNvSpPr/>
          <p:nvPr/>
        </p:nvSpPr>
        <p:spPr>
          <a:xfrm>
            <a:off x="2331720" y="987552"/>
            <a:ext cx="1234440" cy="658368"/>
          </a:xfrm>
          <a:prstGeom prst="rect">
            <a:avLst/>
          </a:prstGeom>
          <a:noFill/>
          <a:ln/>
        </p:spPr>
        <p:txBody>
          <a:bodyPr wrap="square" rtlCol="0" anchor="ctr"/>
          <a:lstStyle/>
          <a:p>
            <a:pPr marL="0" indent="0" algn="ctr">
              <a:buNone/>
            </a:pPr>
            <a:r>
              <a:rPr lang="en-US" sz="1050" b="1" dirty="0">
                <a:solidFill>
                  <a:srgbClr val="22C55E"/>
                </a:solidFill>
                <a:latin typeface="Calibri" pitchFamily="34" charset="0"/>
                <a:ea typeface="Calibri" pitchFamily="34" charset="-122"/>
                <a:cs typeface="Calibri" pitchFamily="34" charset="-120"/>
              </a:rPr>
              <a:t>Firewall</a:t>
            </a:r>
            <a:endParaRPr lang="en-US" sz="1050" dirty="0"/>
          </a:p>
          <a:p>
            <a:pPr marL="0" indent="0" algn="ctr">
              <a:buNone/>
            </a:pPr>
            <a:r>
              <a:rPr lang="en-US" sz="1050" b="1" dirty="0">
                <a:solidFill>
                  <a:srgbClr val="22C55E"/>
                </a:solidFill>
                <a:latin typeface="Calibri" pitchFamily="34" charset="0"/>
                <a:ea typeface="Calibri" pitchFamily="34" charset="-122"/>
                <a:cs typeface="Calibri" pitchFamily="34" charset="-120"/>
              </a:rPr>
              <a:t>✓ inspects</a:t>
            </a:r>
            <a:endParaRPr lang="en-US" sz="1050" dirty="0"/>
          </a:p>
        </p:txBody>
      </p:sp>
      <p:sp>
        <p:nvSpPr>
          <p:cNvPr id="11" name="Shape 9"/>
          <p:cNvSpPr/>
          <p:nvPr/>
        </p:nvSpPr>
        <p:spPr>
          <a:xfrm>
            <a:off x="3566160" y="1261872"/>
            <a:ext cx="502920" cy="73152"/>
          </a:xfrm>
          <a:prstGeom prst="rect">
            <a:avLst/>
          </a:prstGeom>
          <a:solidFill>
            <a:srgbClr val="22C55E"/>
          </a:solidFill>
          <a:ln w="12700">
            <a:solidFill>
              <a:srgbClr val="22C55E"/>
            </a:solidFill>
            <a:prstDash val="solid"/>
          </a:ln>
        </p:spPr>
        <p:txBody>
          <a:bodyPr/>
          <a:lstStyle/>
          <a:p>
            <a:endParaRPr lang="en-US"/>
          </a:p>
        </p:txBody>
      </p:sp>
      <p:sp>
        <p:nvSpPr>
          <p:cNvPr id="12" name="Shape 10"/>
          <p:cNvSpPr/>
          <p:nvPr/>
        </p:nvSpPr>
        <p:spPr>
          <a:xfrm>
            <a:off x="4069080" y="1078992"/>
            <a:ext cx="1325880" cy="475488"/>
          </a:xfrm>
          <a:prstGeom prst="rect">
            <a:avLst/>
          </a:prstGeom>
          <a:solidFill>
            <a:srgbClr val="263244"/>
          </a:solidFill>
          <a:ln w="12700">
            <a:solidFill>
              <a:srgbClr val="374151"/>
            </a:solidFill>
            <a:prstDash val="solid"/>
          </a:ln>
        </p:spPr>
        <p:txBody>
          <a:bodyPr/>
          <a:lstStyle/>
          <a:p>
            <a:endParaRPr lang="en-US"/>
          </a:p>
        </p:txBody>
      </p:sp>
      <p:sp>
        <p:nvSpPr>
          <p:cNvPr id="13" name="Text 11"/>
          <p:cNvSpPr/>
          <p:nvPr/>
        </p:nvSpPr>
        <p:spPr>
          <a:xfrm>
            <a:off x="4069080" y="1078992"/>
            <a:ext cx="1325880" cy="475488"/>
          </a:xfrm>
          <a:prstGeom prst="rect">
            <a:avLst/>
          </a:prstGeom>
          <a:noFill/>
          <a:ln/>
        </p:spPr>
        <p:txBody>
          <a:bodyPr wrap="square" rtlCol="0" anchor="ctr"/>
          <a:lstStyle/>
          <a:p>
            <a:pPr marL="0" indent="0" algn="ctr">
              <a:buNone/>
            </a:pPr>
            <a:r>
              <a:rPr lang="en-US" sz="1050" b="1" dirty="0">
                <a:solidFill>
                  <a:srgbClr val="14B8A6"/>
                </a:solidFill>
                <a:latin typeface="Calibri" pitchFamily="34" charset="0"/>
                <a:ea typeface="Calibri" pitchFamily="34" charset="-122"/>
                <a:cs typeface="Calibri" pitchFamily="34" charset="-120"/>
              </a:rPr>
              <a:t>VLAN 20</a:t>
            </a:r>
            <a:endParaRPr lang="en-US" sz="1050" dirty="0"/>
          </a:p>
          <a:p>
            <a:pPr marL="0" indent="0" algn="ctr">
              <a:buNone/>
            </a:pPr>
            <a:r>
              <a:rPr lang="en-US" sz="1050" b="1" dirty="0">
                <a:solidFill>
                  <a:srgbClr val="14B8A6"/>
                </a:solidFill>
                <a:latin typeface="Calibri" pitchFamily="34" charset="0"/>
                <a:ea typeface="Calibri" pitchFamily="34" charset="-122"/>
                <a:cs typeface="Calibri" pitchFamily="34" charset="-120"/>
              </a:rPr>
              <a:t>App Tier</a:t>
            </a:r>
            <a:endParaRPr lang="en-US" sz="1050" dirty="0"/>
          </a:p>
        </p:txBody>
      </p:sp>
      <p:sp>
        <p:nvSpPr>
          <p:cNvPr id="14" name="Text 12"/>
          <p:cNvSpPr/>
          <p:nvPr/>
        </p:nvSpPr>
        <p:spPr>
          <a:xfrm>
            <a:off x="1737360" y="1627632"/>
            <a:ext cx="3840480" cy="256032"/>
          </a:xfrm>
          <a:prstGeom prst="rect">
            <a:avLst/>
          </a:prstGeom>
          <a:noFill/>
          <a:ln/>
        </p:spPr>
        <p:txBody>
          <a:bodyPr wrap="square" rtlCol="0" anchor="ctr"/>
          <a:lstStyle/>
          <a:p>
            <a:pPr marL="0" indent="0" algn="ctr">
              <a:buNone/>
            </a:pPr>
            <a:r>
              <a:rPr lang="en-US" sz="1000" i="1" dirty="0">
                <a:solidFill>
                  <a:srgbClr val="22C55E"/>
                </a:solidFill>
                <a:latin typeface="Calibri" pitchFamily="34" charset="0"/>
                <a:ea typeface="Calibri" pitchFamily="34" charset="-122"/>
                <a:cs typeface="Calibri" pitchFamily="34" charset="-120"/>
              </a:rPr>
              <a:t>← inspected at the firewall →</a:t>
            </a:r>
            <a:endParaRPr lang="en-US" sz="1000" dirty="0"/>
          </a:p>
        </p:txBody>
      </p:sp>
      <p:sp>
        <p:nvSpPr>
          <p:cNvPr id="15" name="Text 13"/>
          <p:cNvSpPr/>
          <p:nvPr/>
        </p:nvSpPr>
        <p:spPr>
          <a:xfrm>
            <a:off x="502920" y="2057400"/>
            <a:ext cx="8229600" cy="274320"/>
          </a:xfrm>
          <a:prstGeom prst="rect">
            <a:avLst/>
          </a:prstGeom>
          <a:noFill/>
          <a:ln/>
        </p:spPr>
        <p:txBody>
          <a:bodyPr wrap="square" rtlCol="0" anchor="ctr"/>
          <a:lstStyle/>
          <a:p>
            <a:pPr marL="0" indent="0">
              <a:buNone/>
            </a:pPr>
            <a:r>
              <a:rPr lang="en-US" sz="1200" dirty="0">
                <a:solidFill>
                  <a:srgbClr val="EF4444"/>
                </a:solidFill>
                <a:latin typeface="Calibri" pitchFamily="34" charset="0"/>
                <a:ea typeface="Calibri" pitchFamily="34" charset="-122"/>
                <a:cs typeface="Calibri" pitchFamily="34" charset="-120"/>
              </a:rPr>
              <a:t>Cloud, traffic between subnets in the same VPC bypasses inspection by default:</a:t>
            </a:r>
            <a:endParaRPr lang="en-US" sz="1200" dirty="0"/>
          </a:p>
        </p:txBody>
      </p:sp>
      <p:sp>
        <p:nvSpPr>
          <p:cNvPr id="16" name="Shape 14"/>
          <p:cNvSpPr/>
          <p:nvPr/>
        </p:nvSpPr>
        <p:spPr>
          <a:xfrm>
            <a:off x="502920" y="2395728"/>
            <a:ext cx="1417320" cy="475488"/>
          </a:xfrm>
          <a:prstGeom prst="rect">
            <a:avLst/>
          </a:prstGeom>
          <a:solidFill>
            <a:srgbClr val="263244"/>
          </a:solidFill>
          <a:ln w="12700">
            <a:solidFill>
              <a:srgbClr val="374151"/>
            </a:solidFill>
            <a:prstDash val="solid"/>
          </a:ln>
        </p:spPr>
        <p:txBody>
          <a:bodyPr/>
          <a:lstStyle/>
          <a:p>
            <a:endParaRPr lang="en-US"/>
          </a:p>
        </p:txBody>
      </p:sp>
      <p:sp>
        <p:nvSpPr>
          <p:cNvPr id="17" name="Text 15"/>
          <p:cNvSpPr/>
          <p:nvPr/>
        </p:nvSpPr>
        <p:spPr>
          <a:xfrm>
            <a:off x="502920" y="2395728"/>
            <a:ext cx="1417320" cy="475488"/>
          </a:xfrm>
          <a:prstGeom prst="rect">
            <a:avLst/>
          </a:prstGeom>
          <a:noFill/>
          <a:ln/>
        </p:spPr>
        <p:txBody>
          <a:bodyPr wrap="square" rtlCol="0" anchor="ctr"/>
          <a:lstStyle/>
          <a:p>
            <a:pPr marL="0" indent="0" algn="ctr">
              <a:buNone/>
            </a:pPr>
            <a:r>
              <a:rPr lang="en-US" sz="1050" b="1" dirty="0">
                <a:solidFill>
                  <a:srgbClr val="14B8A6"/>
                </a:solidFill>
                <a:latin typeface="Calibri" pitchFamily="34" charset="0"/>
                <a:ea typeface="Calibri" pitchFamily="34" charset="-122"/>
                <a:cs typeface="Calibri" pitchFamily="34" charset="-120"/>
              </a:rPr>
              <a:t>Subnet A</a:t>
            </a:r>
            <a:endParaRPr lang="en-US" sz="1050" dirty="0"/>
          </a:p>
          <a:p>
            <a:pPr marL="0" indent="0" algn="ctr">
              <a:buNone/>
            </a:pPr>
            <a:r>
              <a:rPr lang="en-US" sz="1050" b="1" dirty="0">
                <a:solidFill>
                  <a:srgbClr val="14B8A6"/>
                </a:solidFill>
                <a:latin typeface="Calibri" pitchFamily="34" charset="0"/>
                <a:ea typeface="Calibri" pitchFamily="34" charset="-122"/>
                <a:cs typeface="Calibri" pitchFamily="34" charset="-120"/>
              </a:rPr>
              <a:t>Web Tier</a:t>
            </a:r>
            <a:endParaRPr lang="en-US" sz="1050" dirty="0"/>
          </a:p>
        </p:txBody>
      </p:sp>
      <p:sp>
        <p:nvSpPr>
          <p:cNvPr id="18" name="Shape 16"/>
          <p:cNvSpPr/>
          <p:nvPr/>
        </p:nvSpPr>
        <p:spPr>
          <a:xfrm>
            <a:off x="1920240" y="2578608"/>
            <a:ext cx="2377440" cy="73152"/>
          </a:xfrm>
          <a:prstGeom prst="rect">
            <a:avLst/>
          </a:prstGeom>
          <a:solidFill>
            <a:srgbClr val="EF4444"/>
          </a:solidFill>
          <a:ln w="12700">
            <a:solidFill>
              <a:srgbClr val="EF4444"/>
            </a:solidFill>
            <a:prstDash val="solid"/>
          </a:ln>
        </p:spPr>
        <p:txBody>
          <a:bodyPr/>
          <a:lstStyle/>
          <a:p>
            <a:endParaRPr lang="en-US"/>
          </a:p>
        </p:txBody>
      </p:sp>
      <p:sp>
        <p:nvSpPr>
          <p:cNvPr id="19" name="Text 17"/>
          <p:cNvSpPr/>
          <p:nvPr/>
        </p:nvSpPr>
        <p:spPr>
          <a:xfrm>
            <a:off x="1965960" y="2680000"/>
            <a:ext cx="2286000" cy="260000"/>
          </a:xfrm>
          <a:prstGeom prst="rect">
            <a:avLst/>
          </a:prstGeom>
          <a:noFill/>
          <a:ln/>
        </p:spPr>
        <p:txBody>
          <a:bodyPr wrap="square" rtlCol="0" anchor="ctr"/>
          <a:lstStyle/>
          <a:p>
            <a:pPr marL="0" indent="0" algn="ctr">
              <a:buNone/>
            </a:pPr>
            <a:r>
              <a:rPr lang="en-US" sz="1050" i="1" dirty="0">
                <a:solidFill>
                  <a:srgbClr val="EF4444"/>
                </a:solidFill>
                <a:latin typeface="Calibri" pitchFamily="34" charset="0"/>
                <a:ea typeface="Calibri" pitchFamily="34" charset="-122"/>
                <a:cs typeface="Calibri" pitchFamily="34" charset="-120"/>
              </a:rPr>
              <a:t>→ direct, no inspection ⚠</a:t>
            </a:r>
            <a:endParaRPr lang="en-US" sz="1050" dirty="0"/>
          </a:p>
        </p:txBody>
      </p:sp>
      <p:sp>
        <p:nvSpPr>
          <p:cNvPr id="20" name="Shape 18"/>
          <p:cNvSpPr/>
          <p:nvPr/>
        </p:nvSpPr>
        <p:spPr>
          <a:xfrm>
            <a:off x="4297680" y="2395728"/>
            <a:ext cx="1417320" cy="475488"/>
          </a:xfrm>
          <a:prstGeom prst="rect">
            <a:avLst/>
          </a:prstGeom>
          <a:solidFill>
            <a:srgbClr val="263244"/>
          </a:solidFill>
          <a:ln w="12700">
            <a:solidFill>
              <a:srgbClr val="374151"/>
            </a:solidFill>
            <a:prstDash val="solid"/>
          </a:ln>
        </p:spPr>
        <p:txBody>
          <a:bodyPr/>
          <a:lstStyle/>
          <a:p>
            <a:endParaRPr lang="en-US"/>
          </a:p>
        </p:txBody>
      </p:sp>
      <p:sp>
        <p:nvSpPr>
          <p:cNvPr id="21" name="Text 19"/>
          <p:cNvSpPr/>
          <p:nvPr/>
        </p:nvSpPr>
        <p:spPr>
          <a:xfrm>
            <a:off x="4297680" y="2395728"/>
            <a:ext cx="1417320" cy="475488"/>
          </a:xfrm>
          <a:prstGeom prst="rect">
            <a:avLst/>
          </a:prstGeom>
          <a:noFill/>
          <a:ln/>
        </p:spPr>
        <p:txBody>
          <a:bodyPr wrap="square" rtlCol="0" anchor="ctr"/>
          <a:lstStyle/>
          <a:p>
            <a:pPr marL="0" indent="0" algn="ctr">
              <a:buNone/>
            </a:pPr>
            <a:r>
              <a:rPr lang="en-US" sz="1050" b="1" dirty="0">
                <a:solidFill>
                  <a:srgbClr val="14B8A6"/>
                </a:solidFill>
                <a:latin typeface="Calibri" pitchFamily="34" charset="0"/>
                <a:ea typeface="Calibri" pitchFamily="34" charset="-122"/>
                <a:cs typeface="Calibri" pitchFamily="34" charset="-120"/>
              </a:rPr>
              <a:t>Subnet B</a:t>
            </a:r>
            <a:endParaRPr lang="en-US" sz="1050" dirty="0"/>
          </a:p>
          <a:p>
            <a:pPr marL="0" indent="0" algn="ctr">
              <a:buNone/>
            </a:pPr>
            <a:r>
              <a:rPr lang="en-US" sz="1050" b="1" dirty="0">
                <a:solidFill>
                  <a:srgbClr val="14B8A6"/>
                </a:solidFill>
                <a:latin typeface="Calibri" pitchFamily="34" charset="0"/>
                <a:ea typeface="Calibri" pitchFamily="34" charset="-122"/>
                <a:cs typeface="Calibri" pitchFamily="34" charset="-120"/>
              </a:rPr>
              <a:t>App Tier</a:t>
            </a:r>
            <a:endParaRPr lang="en-US" sz="1050" dirty="0"/>
          </a:p>
        </p:txBody>
      </p:sp>
      <p:sp>
        <p:nvSpPr>
          <p:cNvPr id="22" name="Shape 20"/>
          <p:cNvSpPr/>
          <p:nvPr/>
        </p:nvSpPr>
        <p:spPr>
          <a:xfrm>
            <a:off x="502920" y="3035808"/>
            <a:ext cx="8321040" cy="329184"/>
          </a:xfrm>
          <a:prstGeom prst="rect">
            <a:avLst/>
          </a:prstGeom>
          <a:solidFill>
            <a:srgbClr val="1F2937"/>
          </a:solidFill>
          <a:ln w="12700">
            <a:solidFill>
              <a:srgbClr val="374151"/>
            </a:solidFill>
            <a:prstDash val="solid"/>
          </a:ln>
        </p:spPr>
        <p:txBody>
          <a:bodyPr/>
          <a:lstStyle/>
          <a:p>
            <a:endParaRPr lang="en-US"/>
          </a:p>
        </p:txBody>
      </p:sp>
      <p:sp>
        <p:nvSpPr>
          <p:cNvPr id="23" name="Text 21"/>
          <p:cNvSpPr/>
          <p:nvPr/>
        </p:nvSpPr>
        <p:spPr>
          <a:xfrm>
            <a:off x="502920" y="3035808"/>
            <a:ext cx="8321040" cy="329184"/>
          </a:xfrm>
          <a:prstGeom prst="rect">
            <a:avLst/>
          </a:prstGeom>
          <a:noFill/>
          <a:ln/>
        </p:spPr>
        <p:txBody>
          <a:bodyPr wrap="square" rtlCol="0" anchor="ctr"/>
          <a:lstStyle/>
          <a:p>
            <a:pPr marL="0" indent="0">
              <a:buNone/>
            </a:pPr>
            <a:r>
              <a:rPr lang="en-US" sz="1200" dirty="0">
                <a:solidFill>
                  <a:srgbClr val="EF4444"/>
                </a:solidFill>
                <a:latin typeface="Calibri" pitchFamily="34" charset="0"/>
                <a:ea typeface="Calibri" pitchFamily="34" charset="-122"/>
                <a:cs typeface="Calibri" pitchFamily="34" charset="-120"/>
              </a:rPr>
              <a:t xml:space="preserve">  ▸  </a:t>
            </a:r>
            <a:r>
              <a:rPr lang="en-US" sz="1200" dirty="0">
                <a:solidFill>
                  <a:srgbClr val="D1D5DB"/>
                </a:solidFill>
                <a:latin typeface="Calibri" pitchFamily="34" charset="0"/>
                <a:ea typeface="Calibri" pitchFamily="34" charset="-122"/>
                <a:cs typeface="Calibri" pitchFamily="34" charset="-120"/>
              </a:rPr>
              <a:t>Subnets in cloud are a routing construct, not an enforcement boundary</a:t>
            </a:r>
            <a:endParaRPr lang="en-US" sz="1200" dirty="0"/>
          </a:p>
        </p:txBody>
      </p:sp>
      <p:sp>
        <p:nvSpPr>
          <p:cNvPr id="24" name="Shape 22"/>
          <p:cNvSpPr/>
          <p:nvPr/>
        </p:nvSpPr>
        <p:spPr>
          <a:xfrm>
            <a:off x="502920" y="3419856"/>
            <a:ext cx="8321040" cy="329184"/>
          </a:xfrm>
          <a:prstGeom prst="rect">
            <a:avLst/>
          </a:prstGeom>
          <a:solidFill>
            <a:srgbClr val="111827"/>
          </a:solidFill>
          <a:ln w="12700">
            <a:solidFill>
              <a:srgbClr val="374151"/>
            </a:solidFill>
            <a:prstDash val="solid"/>
          </a:ln>
        </p:spPr>
        <p:txBody>
          <a:bodyPr/>
          <a:lstStyle/>
          <a:p>
            <a:endParaRPr lang="en-US"/>
          </a:p>
        </p:txBody>
      </p:sp>
      <p:sp>
        <p:nvSpPr>
          <p:cNvPr id="25" name="Text 23"/>
          <p:cNvSpPr/>
          <p:nvPr/>
        </p:nvSpPr>
        <p:spPr>
          <a:xfrm>
            <a:off x="502920" y="3419856"/>
            <a:ext cx="8321040" cy="329184"/>
          </a:xfrm>
          <a:prstGeom prst="rect">
            <a:avLst/>
          </a:prstGeom>
          <a:noFill/>
          <a:ln/>
        </p:spPr>
        <p:txBody>
          <a:bodyPr wrap="square" rtlCol="0" anchor="ctr"/>
          <a:lstStyle/>
          <a:p>
            <a:pPr marL="0" indent="0">
              <a:buNone/>
            </a:pPr>
            <a:r>
              <a:rPr lang="en-US" sz="1200" dirty="0">
                <a:solidFill>
                  <a:srgbClr val="EF4444"/>
                </a:solidFill>
                <a:latin typeface="Calibri" pitchFamily="34" charset="0"/>
                <a:ea typeface="Calibri" pitchFamily="34" charset="-122"/>
                <a:cs typeface="Calibri" pitchFamily="34" charset="-120"/>
              </a:rPr>
              <a:t xml:space="preserve">  ▸  </a:t>
            </a:r>
            <a:r>
              <a:rPr lang="en-US" sz="1200" dirty="0">
                <a:solidFill>
                  <a:srgbClr val="D1D5DB"/>
                </a:solidFill>
                <a:latin typeface="Calibri" pitchFamily="34" charset="0"/>
                <a:ea typeface="Calibri" pitchFamily="34" charset="-122"/>
                <a:cs typeface="Calibri" pitchFamily="34" charset="-120"/>
              </a:rPr>
              <a:t>East-west traffic between instances in the same security group is unrestricted by default</a:t>
            </a:r>
            <a:endParaRPr lang="en-US" sz="1200" dirty="0"/>
          </a:p>
        </p:txBody>
      </p:sp>
      <p:sp>
        <p:nvSpPr>
          <p:cNvPr id="26" name="Shape 24"/>
          <p:cNvSpPr/>
          <p:nvPr/>
        </p:nvSpPr>
        <p:spPr>
          <a:xfrm>
            <a:off x="502920" y="3803904"/>
            <a:ext cx="8321040" cy="329184"/>
          </a:xfrm>
          <a:prstGeom prst="rect">
            <a:avLst/>
          </a:prstGeom>
          <a:solidFill>
            <a:srgbClr val="1F2937"/>
          </a:solidFill>
          <a:ln w="12700">
            <a:solidFill>
              <a:srgbClr val="374151"/>
            </a:solidFill>
            <a:prstDash val="solid"/>
          </a:ln>
        </p:spPr>
        <p:txBody>
          <a:bodyPr/>
          <a:lstStyle/>
          <a:p>
            <a:endParaRPr lang="en-US"/>
          </a:p>
        </p:txBody>
      </p:sp>
      <p:sp>
        <p:nvSpPr>
          <p:cNvPr id="27" name="Text 25"/>
          <p:cNvSpPr/>
          <p:nvPr/>
        </p:nvSpPr>
        <p:spPr>
          <a:xfrm>
            <a:off x="502920" y="3803904"/>
            <a:ext cx="8321040" cy="329184"/>
          </a:xfrm>
          <a:prstGeom prst="rect">
            <a:avLst/>
          </a:prstGeom>
          <a:noFill/>
          <a:ln/>
        </p:spPr>
        <p:txBody>
          <a:bodyPr wrap="square" rtlCol="0" anchor="ctr"/>
          <a:lstStyle/>
          <a:p>
            <a:pPr marL="0" indent="0">
              <a:buNone/>
            </a:pPr>
            <a:r>
              <a:rPr lang="en-US" sz="1200" dirty="0">
                <a:solidFill>
                  <a:srgbClr val="EF4444"/>
                </a:solidFill>
                <a:latin typeface="Calibri" pitchFamily="34" charset="0"/>
                <a:ea typeface="Calibri" pitchFamily="34" charset="-122"/>
                <a:cs typeface="Calibri" pitchFamily="34" charset="-120"/>
              </a:rPr>
              <a:t xml:space="preserve">  ▸  </a:t>
            </a:r>
            <a:r>
              <a:rPr lang="en-US" sz="1200" dirty="0">
                <a:solidFill>
                  <a:srgbClr val="D1D5DB"/>
                </a:solidFill>
                <a:latin typeface="Calibri" pitchFamily="34" charset="0"/>
                <a:ea typeface="Calibri" pitchFamily="34" charset="-122"/>
                <a:cs typeface="Calibri" pitchFamily="34" charset="-120"/>
              </a:rPr>
              <a:t>Lateral movement from a compromised workload may be completely invisible without additional controls</a:t>
            </a:r>
            <a:endParaRPr lang="en-US" sz="1200" dirty="0"/>
          </a:p>
        </p:txBody>
      </p:sp>
      <p:sp>
        <p:nvSpPr>
          <p:cNvPr id="28" name="Shape 26"/>
          <p:cNvSpPr/>
          <p:nvPr/>
        </p:nvSpPr>
        <p:spPr>
          <a:xfrm>
            <a:off x="502920" y="4187952"/>
            <a:ext cx="8321040" cy="329184"/>
          </a:xfrm>
          <a:prstGeom prst="rect">
            <a:avLst/>
          </a:prstGeom>
          <a:solidFill>
            <a:srgbClr val="111827"/>
          </a:solidFill>
          <a:ln w="12700">
            <a:solidFill>
              <a:srgbClr val="374151"/>
            </a:solidFill>
            <a:prstDash val="solid"/>
          </a:ln>
        </p:spPr>
        <p:txBody>
          <a:bodyPr/>
          <a:lstStyle/>
          <a:p>
            <a:endParaRPr lang="en-US"/>
          </a:p>
        </p:txBody>
      </p:sp>
      <p:sp>
        <p:nvSpPr>
          <p:cNvPr id="29" name="Text 27"/>
          <p:cNvSpPr/>
          <p:nvPr/>
        </p:nvSpPr>
        <p:spPr>
          <a:xfrm>
            <a:off x="502920" y="4187952"/>
            <a:ext cx="8321040" cy="329184"/>
          </a:xfrm>
          <a:prstGeom prst="rect">
            <a:avLst/>
          </a:prstGeom>
          <a:noFill/>
          <a:ln/>
        </p:spPr>
        <p:txBody>
          <a:bodyPr wrap="square" rtlCol="0" anchor="ctr"/>
          <a:lstStyle/>
          <a:p>
            <a:pPr marL="0" indent="0">
              <a:buNone/>
            </a:pPr>
            <a:r>
              <a:rPr lang="en-US" sz="1200" dirty="0">
                <a:solidFill>
                  <a:srgbClr val="EF4444"/>
                </a:solidFill>
                <a:latin typeface="Calibri" pitchFamily="34" charset="0"/>
                <a:ea typeface="Calibri" pitchFamily="34" charset="-122"/>
                <a:cs typeface="Calibri" pitchFamily="34" charset="-120"/>
              </a:rPr>
              <a:t xml:space="preserve">  ▸  </a:t>
            </a:r>
            <a:r>
              <a:rPr lang="en-US" sz="1200" dirty="0">
                <a:solidFill>
                  <a:srgbClr val="D1D5DB"/>
                </a:solidFill>
                <a:latin typeface="Calibri" pitchFamily="34" charset="0"/>
                <a:ea typeface="Calibri" pitchFamily="34" charset="-122"/>
                <a:cs typeface="Calibri" pitchFamily="34" charset="-120"/>
              </a:rPr>
              <a:t>Transit Gateway + AWS Network Firewall (or NVA) required to enforce east-west inspection</a:t>
            </a:r>
            <a:endParaRPr lang="en-US" sz="1200" dirty="0"/>
          </a:p>
        </p:txBody>
      </p:sp>
      <p:sp>
        <p:nvSpPr>
          <p:cNvPr id="30" name="Shape 28"/>
          <p:cNvSpPr/>
          <p:nvPr/>
        </p:nvSpPr>
        <p:spPr>
          <a:xfrm>
            <a:off x="502920" y="4599432"/>
            <a:ext cx="8321040" cy="384048"/>
          </a:xfrm>
          <a:prstGeom prst="rect">
            <a:avLst/>
          </a:prstGeom>
          <a:solidFill>
            <a:srgbClr val="052E16"/>
          </a:solidFill>
          <a:ln w="12700">
            <a:solidFill>
              <a:srgbClr val="22C55E"/>
            </a:solidFill>
            <a:prstDash val="solid"/>
          </a:ln>
        </p:spPr>
        <p:txBody>
          <a:bodyPr/>
          <a:lstStyle/>
          <a:p>
            <a:endParaRPr lang="en-US"/>
          </a:p>
        </p:txBody>
      </p:sp>
      <p:sp>
        <p:nvSpPr>
          <p:cNvPr id="31" name="Text 29"/>
          <p:cNvSpPr/>
          <p:nvPr/>
        </p:nvSpPr>
        <p:spPr>
          <a:xfrm>
            <a:off x="658368" y="4599432"/>
            <a:ext cx="8046720" cy="384048"/>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CHECK:  Run VPC Flow Logs for 7 days. Query for ACCEPT traffic between subnets that does NOT route through a firewall endpoint. Flag unexpected peer-to-peer flows between tiers.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438912"/>
          </a:xfrm>
          <a:prstGeom prst="rect">
            <a:avLst/>
          </a:prstGeom>
          <a:noFill/>
          <a:ln/>
        </p:spPr>
        <p:txBody>
          <a:bodyPr wrap="square" rtlCol="0" anchor="ctr"/>
          <a:lstStyle/>
          <a:p>
            <a:pPr marL="0" indent="0">
              <a:buNone/>
            </a:pPr>
            <a:r>
              <a:rPr lang="en-US" sz="2200" b="1" dirty="0">
                <a:solidFill>
                  <a:srgbClr val="F9FAFB"/>
                </a:solidFill>
                <a:latin typeface="Calibri" pitchFamily="34" charset="0"/>
                <a:ea typeface="Calibri" pitchFamily="34" charset="-122"/>
                <a:cs typeface="Calibri" pitchFamily="34" charset="-120"/>
              </a:rPr>
              <a:t>Gaps 3, 4, 5: Three More Quick Ones</a:t>
            </a:r>
            <a:endParaRPr lang="en-US" sz="2200" dirty="0"/>
          </a:p>
        </p:txBody>
      </p:sp>
      <p:sp>
        <p:nvSpPr>
          <p:cNvPr id="3" name="Shape 1"/>
          <p:cNvSpPr/>
          <p:nvPr/>
        </p:nvSpPr>
        <p:spPr>
          <a:xfrm>
            <a:off x="201168" y="822960"/>
            <a:ext cx="2834640" cy="3931920"/>
          </a:xfrm>
          <a:prstGeom prst="rect">
            <a:avLst/>
          </a:prstGeom>
          <a:solidFill>
            <a:srgbClr val="1F2937"/>
          </a:solidFill>
          <a:ln w="12700">
            <a:solidFill>
              <a:srgbClr val="374151"/>
            </a:solidFill>
            <a:prstDash val="solid"/>
          </a:ln>
        </p:spPr>
        <p:txBody>
          <a:bodyPr/>
          <a:lstStyle/>
          <a:p>
            <a:endParaRPr lang="en-US"/>
          </a:p>
        </p:txBody>
      </p:sp>
      <p:sp>
        <p:nvSpPr>
          <p:cNvPr id="4" name="Shape 2"/>
          <p:cNvSpPr/>
          <p:nvPr/>
        </p:nvSpPr>
        <p:spPr>
          <a:xfrm>
            <a:off x="201168" y="822960"/>
            <a:ext cx="2834640" cy="320040"/>
          </a:xfrm>
          <a:prstGeom prst="rect">
            <a:avLst/>
          </a:prstGeom>
          <a:solidFill>
            <a:srgbClr val="0F3D3A"/>
          </a:solidFill>
          <a:ln w="12700">
            <a:solidFill>
              <a:srgbClr val="14B8A6"/>
            </a:solidFill>
            <a:prstDash val="solid"/>
          </a:ln>
        </p:spPr>
        <p:txBody>
          <a:bodyPr/>
          <a:lstStyle/>
          <a:p>
            <a:endParaRPr lang="en-US"/>
          </a:p>
        </p:txBody>
      </p:sp>
      <p:sp>
        <p:nvSpPr>
          <p:cNvPr id="5" name="Text 3"/>
          <p:cNvSpPr/>
          <p:nvPr/>
        </p:nvSpPr>
        <p:spPr>
          <a:xfrm>
            <a:off x="292608" y="822960"/>
            <a:ext cx="658368" cy="320040"/>
          </a:xfrm>
          <a:prstGeom prst="rect">
            <a:avLst/>
          </a:prstGeom>
          <a:noFill/>
          <a:ln/>
        </p:spPr>
        <p:txBody>
          <a:bodyPr wrap="square" rtlCol="0" anchor="ctr"/>
          <a:lstStyle/>
          <a:p>
            <a:pPr marL="0" indent="0">
              <a:buNone/>
            </a:pPr>
            <a:r>
              <a:rPr lang="en-US" sz="950" b="1" dirty="0">
                <a:solidFill>
                  <a:srgbClr val="14B8A6"/>
                </a:solidFill>
                <a:latin typeface="Calibri" pitchFamily="34" charset="0"/>
                <a:ea typeface="Calibri" pitchFamily="34" charset="-122"/>
                <a:cs typeface="Calibri" pitchFamily="34" charset="-120"/>
              </a:rPr>
              <a:t>GAP 3</a:t>
            </a:r>
            <a:endParaRPr lang="en-US" sz="950" dirty="0"/>
          </a:p>
        </p:txBody>
      </p:sp>
      <p:sp>
        <p:nvSpPr>
          <p:cNvPr id="6" name="Text 4"/>
          <p:cNvSpPr/>
          <p:nvPr/>
        </p:nvSpPr>
        <p:spPr>
          <a:xfrm>
            <a:off x="310896" y="1216152"/>
            <a:ext cx="2615184" cy="475488"/>
          </a:xfrm>
          <a:prstGeom prst="rect">
            <a:avLst/>
          </a:prstGeom>
          <a:noFill/>
          <a:ln/>
        </p:spPr>
        <p:txBody>
          <a:bodyPr wrap="square" rtlCol="0" anchor="ctr"/>
          <a:lstStyle/>
          <a:p>
            <a:pPr marL="0" indent="0">
              <a:buNone/>
            </a:pPr>
            <a:r>
              <a:rPr lang="en-US" sz="1400" b="1" dirty="0">
                <a:solidFill>
                  <a:srgbClr val="F9FAFB"/>
                </a:solidFill>
                <a:latin typeface="Calibri" pitchFamily="34" charset="0"/>
                <a:ea typeface="Calibri" pitchFamily="34" charset="-122"/>
                <a:cs typeface="Calibri" pitchFamily="34" charset="-120"/>
              </a:rPr>
              <a:t>NAT Gateway ≠ DMZ</a:t>
            </a:r>
            <a:endParaRPr lang="en-US" sz="1400" dirty="0"/>
          </a:p>
        </p:txBody>
      </p:sp>
      <p:sp>
        <p:nvSpPr>
          <p:cNvPr id="7" name="Text 5"/>
          <p:cNvSpPr/>
          <p:nvPr/>
        </p:nvSpPr>
        <p:spPr>
          <a:xfrm>
            <a:off x="310896" y="1783080"/>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NAT Gateway = address translation for outbound only</a:t>
            </a:r>
            <a:endParaRPr lang="en-US" sz="1100" dirty="0"/>
          </a:p>
        </p:txBody>
      </p:sp>
      <p:sp>
        <p:nvSpPr>
          <p:cNvPr id="8" name="Text 6"/>
          <p:cNvSpPr/>
          <p:nvPr/>
        </p:nvSpPr>
        <p:spPr>
          <a:xfrm>
            <a:off x="310896" y="2295144"/>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No inbound filtering, no session inspection</a:t>
            </a:r>
            <a:endParaRPr lang="en-US" sz="1100" dirty="0"/>
          </a:p>
        </p:txBody>
      </p:sp>
      <p:sp>
        <p:nvSpPr>
          <p:cNvPr id="9" name="Text 7"/>
          <p:cNvSpPr/>
          <p:nvPr/>
        </p:nvSpPr>
        <p:spPr>
          <a:xfrm>
            <a:off x="310896" y="2807208"/>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Resources in a 'public subnet' are not behind inspection</a:t>
            </a:r>
            <a:endParaRPr lang="en-US" sz="1100" dirty="0"/>
          </a:p>
        </p:txBody>
      </p:sp>
      <p:sp>
        <p:nvSpPr>
          <p:cNvPr id="10" name="Text 8"/>
          <p:cNvSpPr/>
          <p:nvPr/>
        </p:nvSpPr>
        <p:spPr>
          <a:xfrm>
            <a:off x="310896" y="3319272"/>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Your DMZ had bidirectional traffic control, NAT has none</a:t>
            </a:r>
            <a:endParaRPr lang="en-US" sz="1100" dirty="0"/>
          </a:p>
        </p:txBody>
      </p:sp>
      <p:sp>
        <p:nvSpPr>
          <p:cNvPr id="11" name="Shape 9"/>
          <p:cNvSpPr/>
          <p:nvPr/>
        </p:nvSpPr>
        <p:spPr>
          <a:xfrm>
            <a:off x="201168" y="4050792"/>
            <a:ext cx="2834640" cy="621792"/>
          </a:xfrm>
          <a:prstGeom prst="rect">
            <a:avLst/>
          </a:prstGeom>
          <a:solidFill>
            <a:srgbClr val="052E16"/>
          </a:solidFill>
          <a:ln w="12700">
            <a:solidFill>
              <a:srgbClr val="22C55E"/>
            </a:solidFill>
            <a:prstDash val="solid"/>
          </a:ln>
        </p:spPr>
        <p:txBody>
          <a:bodyPr/>
          <a:lstStyle/>
          <a:p>
            <a:endParaRPr lang="en-US"/>
          </a:p>
        </p:txBody>
      </p:sp>
      <p:sp>
        <p:nvSpPr>
          <p:cNvPr id="12" name="Text 10"/>
          <p:cNvSpPr/>
          <p:nvPr/>
        </p:nvSpPr>
        <p:spPr>
          <a:xfrm>
            <a:off x="292608" y="4050792"/>
            <a:ext cx="2651760" cy="621792"/>
          </a:xfrm>
          <a:prstGeom prst="rect">
            <a:avLst/>
          </a:prstGeom>
          <a:noFill/>
          <a:ln/>
        </p:spPr>
        <p:txBody>
          <a:bodyPr wrap="square" rtlCol="0" anchor="ctr"/>
          <a:lstStyle/>
          <a:p>
            <a:pPr marL="0" indent="0">
              <a:buNone/>
            </a:pPr>
            <a:r>
              <a:rPr lang="en-US" sz="1000" b="1" dirty="0">
                <a:solidFill>
                  <a:srgbClr val="22C55E"/>
                </a:solidFill>
                <a:latin typeface="Calibri" pitchFamily="34" charset="0"/>
                <a:ea typeface="Calibri" pitchFamily="34" charset="-122"/>
                <a:cs typeface="Calibri" pitchFamily="34" charset="-120"/>
              </a:rPr>
              <a:t xml:space="preserve">→  </a:t>
            </a:r>
            <a:r>
              <a:rPr lang="en-US" sz="1000" dirty="0">
                <a:solidFill>
                  <a:srgbClr val="D1D5DB"/>
                </a:solidFill>
                <a:latin typeface="Calibri" pitchFamily="34" charset="0"/>
                <a:ea typeface="Calibri" pitchFamily="34" charset="-122"/>
                <a:cs typeface="Calibri" pitchFamily="34" charset="-120"/>
              </a:rPr>
              <a:t>Audit: any EC2/workload in a public subnet with a public IP and a security group open to 0.0.0.0/0? That's exposed.</a:t>
            </a:r>
            <a:endParaRPr lang="en-US" sz="1000" dirty="0"/>
          </a:p>
        </p:txBody>
      </p:sp>
      <p:sp>
        <p:nvSpPr>
          <p:cNvPr id="13" name="Shape 11"/>
          <p:cNvSpPr/>
          <p:nvPr/>
        </p:nvSpPr>
        <p:spPr>
          <a:xfrm>
            <a:off x="3172968" y="822960"/>
            <a:ext cx="2834640" cy="3931920"/>
          </a:xfrm>
          <a:prstGeom prst="rect">
            <a:avLst/>
          </a:prstGeom>
          <a:solidFill>
            <a:srgbClr val="1F2937"/>
          </a:solidFill>
          <a:ln w="12700">
            <a:solidFill>
              <a:srgbClr val="374151"/>
            </a:solidFill>
            <a:prstDash val="solid"/>
          </a:ln>
        </p:spPr>
        <p:txBody>
          <a:bodyPr/>
          <a:lstStyle/>
          <a:p>
            <a:endParaRPr lang="en-US"/>
          </a:p>
        </p:txBody>
      </p:sp>
      <p:sp>
        <p:nvSpPr>
          <p:cNvPr id="14" name="Shape 12"/>
          <p:cNvSpPr/>
          <p:nvPr/>
        </p:nvSpPr>
        <p:spPr>
          <a:xfrm>
            <a:off x="3172968" y="822960"/>
            <a:ext cx="2834640" cy="320040"/>
          </a:xfrm>
          <a:prstGeom prst="rect">
            <a:avLst/>
          </a:prstGeom>
          <a:solidFill>
            <a:srgbClr val="0F3D3A"/>
          </a:solidFill>
          <a:ln w="12700">
            <a:solidFill>
              <a:srgbClr val="14B8A6"/>
            </a:solidFill>
            <a:prstDash val="solid"/>
          </a:ln>
        </p:spPr>
        <p:txBody>
          <a:bodyPr/>
          <a:lstStyle/>
          <a:p>
            <a:endParaRPr lang="en-US"/>
          </a:p>
        </p:txBody>
      </p:sp>
      <p:sp>
        <p:nvSpPr>
          <p:cNvPr id="15" name="Text 13"/>
          <p:cNvSpPr/>
          <p:nvPr/>
        </p:nvSpPr>
        <p:spPr>
          <a:xfrm>
            <a:off x="3264408" y="822960"/>
            <a:ext cx="658368" cy="320040"/>
          </a:xfrm>
          <a:prstGeom prst="rect">
            <a:avLst/>
          </a:prstGeom>
          <a:noFill/>
          <a:ln/>
        </p:spPr>
        <p:txBody>
          <a:bodyPr wrap="square" rtlCol="0" anchor="ctr"/>
          <a:lstStyle/>
          <a:p>
            <a:pPr marL="0" indent="0">
              <a:buNone/>
            </a:pPr>
            <a:r>
              <a:rPr lang="en-US" sz="950" b="1" dirty="0">
                <a:solidFill>
                  <a:srgbClr val="14B8A6"/>
                </a:solidFill>
                <a:latin typeface="Calibri" pitchFamily="34" charset="0"/>
                <a:ea typeface="Calibri" pitchFamily="34" charset="-122"/>
                <a:cs typeface="Calibri" pitchFamily="34" charset="-120"/>
              </a:rPr>
              <a:t>GAP 4</a:t>
            </a:r>
            <a:endParaRPr lang="en-US" sz="950" dirty="0"/>
          </a:p>
        </p:txBody>
      </p:sp>
      <p:sp>
        <p:nvSpPr>
          <p:cNvPr id="16" name="Text 14"/>
          <p:cNvSpPr/>
          <p:nvPr/>
        </p:nvSpPr>
        <p:spPr>
          <a:xfrm>
            <a:off x="3282696" y="1216152"/>
            <a:ext cx="2615184" cy="475488"/>
          </a:xfrm>
          <a:prstGeom prst="rect">
            <a:avLst/>
          </a:prstGeom>
          <a:noFill/>
          <a:ln/>
        </p:spPr>
        <p:txBody>
          <a:bodyPr wrap="square" rtlCol="0" anchor="ctr"/>
          <a:lstStyle/>
          <a:p>
            <a:pPr marL="0" indent="0">
              <a:buNone/>
            </a:pPr>
            <a:r>
              <a:rPr lang="en-US" sz="1400" b="1" dirty="0">
                <a:solidFill>
                  <a:srgbClr val="F9FAFB"/>
                </a:solidFill>
                <a:latin typeface="Calibri" pitchFamily="34" charset="0"/>
                <a:ea typeface="Calibri" pitchFamily="34" charset="-122"/>
                <a:cs typeface="Calibri" pitchFamily="34" charset="-120"/>
              </a:rPr>
              <a:t>Cloud LB ≠ Reverse Proxy / WAF</a:t>
            </a:r>
            <a:endParaRPr lang="en-US" sz="1400" dirty="0"/>
          </a:p>
        </p:txBody>
      </p:sp>
      <p:sp>
        <p:nvSpPr>
          <p:cNvPr id="17" name="Text 15"/>
          <p:cNvSpPr/>
          <p:nvPr/>
        </p:nvSpPr>
        <p:spPr>
          <a:xfrm>
            <a:off x="3282696" y="1783080"/>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ALB/NLB balance load, they are not WAFs</a:t>
            </a:r>
            <a:endParaRPr lang="en-US" sz="1100" dirty="0"/>
          </a:p>
        </p:txBody>
      </p:sp>
      <p:sp>
        <p:nvSpPr>
          <p:cNvPr id="18" name="Text 16"/>
          <p:cNvSpPr/>
          <p:nvPr/>
        </p:nvSpPr>
        <p:spPr>
          <a:xfrm>
            <a:off x="3282696" y="2295144"/>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TLS termination at LB ≠ inspection at LB</a:t>
            </a:r>
            <a:endParaRPr lang="en-US" sz="1100" dirty="0"/>
          </a:p>
        </p:txBody>
      </p:sp>
      <p:sp>
        <p:nvSpPr>
          <p:cNvPr id="19" name="Text 17"/>
          <p:cNvSpPr/>
          <p:nvPr/>
        </p:nvSpPr>
        <p:spPr>
          <a:xfrm>
            <a:off x="3282696" y="2807208"/>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WAF must be explicitly attached to each public ALB</a:t>
            </a:r>
            <a:endParaRPr lang="en-US" sz="1100" dirty="0"/>
          </a:p>
        </p:txBody>
      </p:sp>
      <p:sp>
        <p:nvSpPr>
          <p:cNvPr id="20" name="Text 18"/>
          <p:cNvSpPr/>
          <p:nvPr/>
        </p:nvSpPr>
        <p:spPr>
          <a:xfrm>
            <a:off x="3282696" y="3319272"/>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Without it: no OWASP rule coverage, no bot mitigation</a:t>
            </a:r>
            <a:endParaRPr lang="en-US" sz="1100" dirty="0"/>
          </a:p>
        </p:txBody>
      </p:sp>
      <p:sp>
        <p:nvSpPr>
          <p:cNvPr id="21" name="Shape 19"/>
          <p:cNvSpPr/>
          <p:nvPr/>
        </p:nvSpPr>
        <p:spPr>
          <a:xfrm>
            <a:off x="3172968" y="4050792"/>
            <a:ext cx="2834640" cy="621792"/>
          </a:xfrm>
          <a:prstGeom prst="rect">
            <a:avLst/>
          </a:prstGeom>
          <a:solidFill>
            <a:srgbClr val="052E16"/>
          </a:solidFill>
          <a:ln w="12700">
            <a:solidFill>
              <a:srgbClr val="22C55E"/>
            </a:solidFill>
            <a:prstDash val="solid"/>
          </a:ln>
        </p:spPr>
        <p:txBody>
          <a:bodyPr/>
          <a:lstStyle/>
          <a:p>
            <a:endParaRPr lang="en-US"/>
          </a:p>
        </p:txBody>
      </p:sp>
      <p:sp>
        <p:nvSpPr>
          <p:cNvPr id="22" name="Text 20"/>
          <p:cNvSpPr/>
          <p:nvPr/>
        </p:nvSpPr>
        <p:spPr>
          <a:xfrm>
            <a:off x="3264408" y="4050792"/>
            <a:ext cx="2651760" cy="621792"/>
          </a:xfrm>
          <a:prstGeom prst="rect">
            <a:avLst/>
          </a:prstGeom>
          <a:noFill/>
          <a:ln/>
        </p:spPr>
        <p:txBody>
          <a:bodyPr wrap="square" rtlCol="0" anchor="ctr"/>
          <a:lstStyle/>
          <a:p>
            <a:pPr marL="0" indent="0">
              <a:buNone/>
            </a:pPr>
            <a:r>
              <a:rPr lang="en-US" sz="1000" b="1" dirty="0">
                <a:solidFill>
                  <a:srgbClr val="22C55E"/>
                </a:solidFill>
                <a:latin typeface="Calibri" pitchFamily="34" charset="0"/>
                <a:ea typeface="Calibri" pitchFamily="34" charset="-122"/>
                <a:cs typeface="Calibri" pitchFamily="34" charset="-120"/>
              </a:rPr>
              <a:t xml:space="preserve">→  </a:t>
            </a:r>
            <a:r>
              <a:rPr lang="en-US" sz="1000" dirty="0">
                <a:solidFill>
                  <a:srgbClr val="D1D5DB"/>
                </a:solidFill>
                <a:latin typeface="Calibri" pitchFamily="34" charset="0"/>
                <a:ea typeface="Calibri" pitchFamily="34" charset="-122"/>
                <a:cs typeface="Calibri" pitchFamily="34" charset="-120"/>
              </a:rPr>
              <a:t>Audit: AWS Console → WAF → check which ALBs have a Web ACL attached. Unattached public ALBs = unprotected.</a:t>
            </a:r>
            <a:endParaRPr lang="en-US" sz="1000" dirty="0"/>
          </a:p>
        </p:txBody>
      </p:sp>
      <p:sp>
        <p:nvSpPr>
          <p:cNvPr id="23" name="Shape 21"/>
          <p:cNvSpPr/>
          <p:nvPr/>
        </p:nvSpPr>
        <p:spPr>
          <a:xfrm>
            <a:off x="6144768" y="822960"/>
            <a:ext cx="2834640" cy="3931920"/>
          </a:xfrm>
          <a:prstGeom prst="rect">
            <a:avLst/>
          </a:prstGeom>
          <a:solidFill>
            <a:srgbClr val="1F2937"/>
          </a:solidFill>
          <a:ln w="12700">
            <a:solidFill>
              <a:srgbClr val="374151"/>
            </a:solidFill>
            <a:prstDash val="solid"/>
          </a:ln>
        </p:spPr>
        <p:txBody>
          <a:bodyPr/>
          <a:lstStyle/>
          <a:p>
            <a:endParaRPr lang="en-US"/>
          </a:p>
        </p:txBody>
      </p:sp>
      <p:sp>
        <p:nvSpPr>
          <p:cNvPr id="24" name="Shape 22"/>
          <p:cNvSpPr/>
          <p:nvPr/>
        </p:nvSpPr>
        <p:spPr>
          <a:xfrm>
            <a:off x="6144768" y="822960"/>
            <a:ext cx="2834640" cy="320040"/>
          </a:xfrm>
          <a:prstGeom prst="rect">
            <a:avLst/>
          </a:prstGeom>
          <a:solidFill>
            <a:srgbClr val="0F3D3A"/>
          </a:solidFill>
          <a:ln w="12700">
            <a:solidFill>
              <a:srgbClr val="14B8A6"/>
            </a:solidFill>
            <a:prstDash val="solid"/>
          </a:ln>
        </p:spPr>
        <p:txBody>
          <a:bodyPr/>
          <a:lstStyle/>
          <a:p>
            <a:endParaRPr lang="en-US"/>
          </a:p>
        </p:txBody>
      </p:sp>
      <p:sp>
        <p:nvSpPr>
          <p:cNvPr id="25" name="Text 23"/>
          <p:cNvSpPr/>
          <p:nvPr/>
        </p:nvSpPr>
        <p:spPr>
          <a:xfrm>
            <a:off x="6236208" y="822960"/>
            <a:ext cx="658368" cy="320040"/>
          </a:xfrm>
          <a:prstGeom prst="rect">
            <a:avLst/>
          </a:prstGeom>
          <a:noFill/>
          <a:ln/>
        </p:spPr>
        <p:txBody>
          <a:bodyPr wrap="square" rtlCol="0" anchor="ctr"/>
          <a:lstStyle/>
          <a:p>
            <a:pPr marL="0" indent="0">
              <a:buNone/>
            </a:pPr>
            <a:r>
              <a:rPr lang="en-US" sz="950" b="1" dirty="0">
                <a:solidFill>
                  <a:srgbClr val="14B8A6"/>
                </a:solidFill>
                <a:latin typeface="Calibri" pitchFamily="34" charset="0"/>
                <a:ea typeface="Calibri" pitchFamily="34" charset="-122"/>
                <a:cs typeface="Calibri" pitchFamily="34" charset="-120"/>
              </a:rPr>
              <a:t>GAP 5</a:t>
            </a:r>
            <a:endParaRPr lang="en-US" sz="950" dirty="0"/>
          </a:p>
        </p:txBody>
      </p:sp>
      <p:sp>
        <p:nvSpPr>
          <p:cNvPr id="26" name="Text 24"/>
          <p:cNvSpPr/>
          <p:nvPr/>
        </p:nvSpPr>
        <p:spPr>
          <a:xfrm>
            <a:off x="6254496" y="1216152"/>
            <a:ext cx="2615184" cy="475488"/>
          </a:xfrm>
          <a:prstGeom prst="rect">
            <a:avLst/>
          </a:prstGeom>
          <a:noFill/>
          <a:ln/>
        </p:spPr>
        <p:txBody>
          <a:bodyPr wrap="square" rtlCol="0" anchor="ctr"/>
          <a:lstStyle/>
          <a:p>
            <a:pPr marL="0" indent="0">
              <a:buNone/>
            </a:pPr>
            <a:r>
              <a:rPr lang="en-US" sz="1400" b="1" dirty="0">
                <a:solidFill>
                  <a:srgbClr val="F9FAFB"/>
                </a:solidFill>
                <a:latin typeface="Calibri" pitchFamily="34" charset="0"/>
                <a:ea typeface="Calibri" pitchFamily="34" charset="-122"/>
                <a:cs typeface="Calibri" pitchFamily="34" charset="-120"/>
              </a:rPr>
              <a:t>VPN Routing in Hybrid Environments</a:t>
            </a:r>
            <a:endParaRPr lang="en-US" sz="1400" dirty="0"/>
          </a:p>
        </p:txBody>
      </p:sp>
      <p:sp>
        <p:nvSpPr>
          <p:cNvPr id="27" name="Text 25"/>
          <p:cNvSpPr/>
          <p:nvPr/>
        </p:nvSpPr>
        <p:spPr>
          <a:xfrm>
            <a:off x="6254496" y="1783080"/>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Split tunneling: what actually goes via VPN vs. direct?</a:t>
            </a:r>
            <a:endParaRPr lang="en-US" sz="1100" dirty="0"/>
          </a:p>
        </p:txBody>
      </p:sp>
      <p:sp>
        <p:nvSpPr>
          <p:cNvPr id="28" name="Text 26"/>
          <p:cNvSpPr/>
          <p:nvPr/>
        </p:nvSpPr>
        <p:spPr>
          <a:xfrm>
            <a:off x="6254496" y="2295144"/>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BGP route leaks between on-prem and cloud</a:t>
            </a:r>
            <a:endParaRPr lang="en-US" sz="1100" dirty="0"/>
          </a:p>
        </p:txBody>
      </p:sp>
      <p:sp>
        <p:nvSpPr>
          <p:cNvPr id="29" name="Text 27"/>
          <p:cNvSpPr/>
          <p:nvPr/>
        </p:nvSpPr>
        <p:spPr>
          <a:xfrm>
            <a:off x="6254496" y="2807208"/>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Traffic you think traverses the DC firewall may not</a:t>
            </a:r>
            <a:endParaRPr lang="en-US" sz="1100" dirty="0"/>
          </a:p>
        </p:txBody>
      </p:sp>
      <p:sp>
        <p:nvSpPr>
          <p:cNvPr id="30" name="Text 28"/>
          <p:cNvSpPr/>
          <p:nvPr/>
        </p:nvSpPr>
        <p:spPr>
          <a:xfrm>
            <a:off x="6254496" y="3319272"/>
            <a:ext cx="2615184" cy="45720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xml:space="preserve">✗  </a:t>
            </a:r>
            <a:r>
              <a:rPr lang="en-US" sz="1100" dirty="0">
                <a:solidFill>
                  <a:srgbClr val="D1D5DB"/>
                </a:solidFill>
                <a:latin typeface="Calibri" pitchFamily="34" charset="0"/>
                <a:ea typeface="Calibri" pitchFamily="34" charset="-122"/>
                <a:cs typeface="Calibri" pitchFamily="34" charset="-120"/>
              </a:rPr>
              <a:t>Routing asymmetry: path in ≠ path out</a:t>
            </a:r>
            <a:endParaRPr lang="en-US" sz="1100" dirty="0"/>
          </a:p>
        </p:txBody>
      </p:sp>
      <p:sp>
        <p:nvSpPr>
          <p:cNvPr id="31" name="Shape 29"/>
          <p:cNvSpPr/>
          <p:nvPr/>
        </p:nvSpPr>
        <p:spPr>
          <a:xfrm>
            <a:off x="6144768" y="4050792"/>
            <a:ext cx="2834640" cy="621792"/>
          </a:xfrm>
          <a:prstGeom prst="rect">
            <a:avLst/>
          </a:prstGeom>
          <a:solidFill>
            <a:srgbClr val="052E16"/>
          </a:solidFill>
          <a:ln w="12700">
            <a:solidFill>
              <a:srgbClr val="22C55E"/>
            </a:solidFill>
            <a:prstDash val="solid"/>
          </a:ln>
        </p:spPr>
        <p:txBody>
          <a:bodyPr/>
          <a:lstStyle/>
          <a:p>
            <a:endParaRPr lang="en-US"/>
          </a:p>
        </p:txBody>
      </p:sp>
      <p:sp>
        <p:nvSpPr>
          <p:cNvPr id="32" name="Text 30"/>
          <p:cNvSpPr/>
          <p:nvPr/>
        </p:nvSpPr>
        <p:spPr>
          <a:xfrm>
            <a:off x="6236208" y="4050792"/>
            <a:ext cx="2651760" cy="621792"/>
          </a:xfrm>
          <a:prstGeom prst="rect">
            <a:avLst/>
          </a:prstGeom>
          <a:noFill/>
          <a:ln/>
        </p:spPr>
        <p:txBody>
          <a:bodyPr wrap="square" rtlCol="0" anchor="ctr"/>
          <a:lstStyle/>
          <a:p>
            <a:pPr marL="0" indent="0">
              <a:buNone/>
            </a:pPr>
            <a:r>
              <a:rPr lang="en-US" sz="1000" b="1" dirty="0">
                <a:solidFill>
                  <a:srgbClr val="22C55E"/>
                </a:solidFill>
                <a:latin typeface="Calibri" pitchFamily="34" charset="0"/>
                <a:ea typeface="Calibri" pitchFamily="34" charset="-122"/>
                <a:cs typeface="Calibri" pitchFamily="34" charset="-120"/>
              </a:rPr>
              <a:t xml:space="preserve">→  </a:t>
            </a:r>
            <a:r>
              <a:rPr lang="en-US" sz="1000" dirty="0">
                <a:solidFill>
                  <a:srgbClr val="D1D5DB"/>
                </a:solidFill>
                <a:latin typeface="Calibri" pitchFamily="34" charset="0"/>
                <a:ea typeface="Calibri" pitchFamily="34" charset="-122"/>
                <a:cs typeface="Calibri" pitchFamily="34" charset="-120"/>
              </a:rPr>
              <a:t>Audit: run 'ip route' on branch/edge devices, then cross-reference VPC Flow Logs. Compare what you expect vs. what's logged.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F4444"/>
          </a:solidFill>
          <a:ln w="12700">
            <a:solidFill>
              <a:srgbClr val="EF4444"/>
            </a:solidFill>
            <a:prstDash val="solid"/>
          </a:ln>
        </p:spPr>
        <p:txBody>
          <a:bodyPr/>
          <a:lstStyle/>
          <a:p>
            <a:endParaRPr lang="en-US"/>
          </a:p>
        </p:txBody>
      </p:sp>
      <p:sp>
        <p:nvSpPr>
          <p:cNvPr id="3" name="Text 1"/>
          <p:cNvSpPr/>
          <p:nvPr/>
        </p:nvSpPr>
        <p:spPr>
          <a:xfrm>
            <a:off x="502920" y="548640"/>
            <a:ext cx="8229600" cy="1828800"/>
          </a:xfrm>
          <a:prstGeom prst="rect">
            <a:avLst/>
          </a:prstGeom>
          <a:noFill/>
          <a:ln/>
        </p:spPr>
        <p:txBody>
          <a:bodyPr wrap="square" rtlCol="0" anchor="ctr"/>
          <a:lstStyle/>
          <a:p>
            <a:pPr marL="0" indent="0">
              <a:buNone/>
            </a:pPr>
            <a:r>
              <a:rPr lang="en-US" sz="12000" b="1" dirty="0">
                <a:solidFill>
                  <a:srgbClr val="263244"/>
                </a:solidFill>
                <a:latin typeface="Calibri" pitchFamily="34" charset="0"/>
                <a:ea typeface="Calibri" pitchFamily="34" charset="-122"/>
                <a:cs typeface="Calibri" pitchFamily="34" charset="-120"/>
              </a:rPr>
              <a:t>03</a:t>
            </a:r>
            <a:endParaRPr lang="en-US" sz="12000" dirty="0"/>
          </a:p>
        </p:txBody>
      </p:sp>
      <p:sp>
        <p:nvSpPr>
          <p:cNvPr id="4" name="Text 2"/>
          <p:cNvSpPr/>
          <p:nvPr/>
        </p:nvSpPr>
        <p:spPr>
          <a:xfrm>
            <a:off x="502920" y="1737360"/>
            <a:ext cx="7772400" cy="822960"/>
          </a:xfrm>
          <a:prstGeom prst="rect">
            <a:avLst/>
          </a:prstGeom>
          <a:noFill/>
          <a:ln/>
        </p:spPr>
        <p:txBody>
          <a:bodyPr wrap="square" rtlCol="0" anchor="ctr"/>
          <a:lstStyle/>
          <a:p>
            <a:pPr marL="0" indent="0">
              <a:buNone/>
            </a:pPr>
            <a:r>
              <a:rPr lang="en-US" sz="3800" b="1" dirty="0">
                <a:solidFill>
                  <a:srgbClr val="F9FAFB"/>
                </a:solidFill>
                <a:latin typeface="Calibri" pitchFamily="34" charset="0"/>
                <a:ea typeface="Calibri" pitchFamily="34" charset="-122"/>
                <a:cs typeface="Calibri" pitchFamily="34" charset="-120"/>
              </a:rPr>
              <a:t>SD-WAN: The Accelerant</a:t>
            </a:r>
            <a:endParaRPr lang="en-US" sz="3800" dirty="0"/>
          </a:p>
        </p:txBody>
      </p:sp>
      <p:sp>
        <p:nvSpPr>
          <p:cNvPr id="5" name="Text 3"/>
          <p:cNvSpPr/>
          <p:nvPr/>
        </p:nvSpPr>
        <p:spPr>
          <a:xfrm>
            <a:off x="502920" y="2651760"/>
            <a:ext cx="6858000" cy="548640"/>
          </a:xfrm>
          <a:prstGeom prst="rect">
            <a:avLst/>
          </a:prstGeom>
          <a:noFill/>
          <a:ln/>
        </p:spPr>
        <p:txBody>
          <a:bodyPr wrap="square" rtlCol="0" anchor="ctr"/>
          <a:lstStyle/>
          <a:p>
            <a:pPr marL="0" indent="0">
              <a:buNone/>
            </a:pPr>
            <a:r>
              <a:rPr lang="en-US" sz="1700" dirty="0">
                <a:solidFill>
                  <a:srgbClr val="D1D5DB"/>
                </a:solidFill>
                <a:latin typeface="Calibri" pitchFamily="34" charset="0"/>
                <a:ea typeface="Calibri" pitchFamily="34" charset="-122"/>
                <a:cs typeface="Calibri" pitchFamily="34" charset="-120"/>
              </a:rPr>
              <a:t>SD-WAN doesn't just add complexity, it reshapes the threat model.</a:t>
            </a:r>
            <a:endParaRPr lang="en-US" sz="1700" dirty="0"/>
          </a:p>
        </p:txBody>
      </p:sp>
      <p:sp>
        <p:nvSpPr>
          <p:cNvPr id="6" name="Shape 4"/>
          <p:cNvSpPr/>
          <p:nvPr/>
        </p:nvSpPr>
        <p:spPr>
          <a:xfrm>
            <a:off x="502920" y="3383280"/>
            <a:ext cx="8321040" cy="685800"/>
          </a:xfrm>
          <a:prstGeom prst="rect">
            <a:avLst/>
          </a:prstGeom>
          <a:solidFill>
            <a:srgbClr val="2D0A0A"/>
          </a:solidFill>
          <a:ln w="12700">
            <a:solidFill>
              <a:srgbClr val="EF4444"/>
            </a:solidFill>
            <a:prstDash val="solid"/>
          </a:ln>
        </p:spPr>
        <p:txBody>
          <a:bodyPr/>
          <a:lstStyle/>
          <a:p>
            <a:endParaRPr lang="en-US"/>
          </a:p>
        </p:txBody>
      </p:sp>
      <p:sp>
        <p:nvSpPr>
          <p:cNvPr id="7" name="Text 5"/>
          <p:cNvSpPr/>
          <p:nvPr/>
        </p:nvSpPr>
        <p:spPr>
          <a:xfrm>
            <a:off x="685800" y="3383280"/>
            <a:ext cx="8046720" cy="685800"/>
          </a:xfrm>
          <a:prstGeom prst="rect">
            <a:avLst/>
          </a:prstGeom>
          <a:noFill/>
          <a:ln/>
        </p:spPr>
        <p:txBody>
          <a:bodyPr wrap="square" rtlCol="0" anchor="ctr"/>
          <a:lstStyle/>
          <a:p>
            <a:pPr marL="0" indent="0">
              <a:buNone/>
            </a:pPr>
            <a:r>
              <a:rPr lang="en-US" sz="1200" dirty="0">
                <a:solidFill>
                  <a:srgbClr val="EF4444"/>
                </a:solidFill>
                <a:latin typeface="Calibri" pitchFamily="34" charset="0"/>
                <a:ea typeface="Calibri" pitchFamily="34" charset="-122"/>
                <a:cs typeface="Calibri" pitchFamily="34" charset="-120"/>
              </a:rPr>
              <a:t>⚠  CISA Emergency Directive 26-03 (February 2026): Active exploitation of Cisco Catalyst SD-WAN CVEs. SD-WAN infrastructure is a confirmed high-value target right now.</a:t>
            </a:r>
            <a:endParaRPr lang="en-US" sz="1200" dirty="0"/>
          </a:p>
        </p:txBody>
      </p:sp>
      <p:sp>
        <p:nvSpPr>
          <p:cNvPr id="8" name="Shape 6"/>
          <p:cNvSpPr/>
          <p:nvPr/>
        </p:nvSpPr>
        <p:spPr>
          <a:xfrm>
            <a:off x="502920" y="4251960"/>
            <a:ext cx="8321040" cy="27432"/>
          </a:xfrm>
          <a:prstGeom prst="rect">
            <a:avLst/>
          </a:prstGeom>
          <a:solidFill>
            <a:srgbClr val="374151"/>
          </a:solidFill>
          <a:ln w="12700">
            <a:solidFill>
              <a:srgbClr val="374151"/>
            </a:solidFill>
            <a:prstDash val="solid"/>
          </a:ln>
        </p:spPr>
        <p:txBody>
          <a:bodyPr/>
          <a:lstStyle/>
          <a:p>
            <a:endParaRPr lang="en-US"/>
          </a:p>
        </p:txBody>
      </p:sp>
      <p:sp>
        <p:nvSpPr>
          <p:cNvPr id="9" name="Text 7"/>
          <p:cNvSpPr/>
          <p:nvPr/>
        </p:nvSpPr>
        <p:spPr>
          <a:xfrm>
            <a:off x="502920" y="4389120"/>
            <a:ext cx="2743200" cy="2743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13 minutes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56032"/>
            <a:ext cx="8321040" cy="438912"/>
          </a:xfrm>
          <a:prstGeom prst="rect">
            <a:avLst/>
          </a:prstGeom>
          <a:noFill/>
          <a:ln/>
        </p:spPr>
        <p:txBody>
          <a:bodyPr wrap="square" rtlCol="0" anchor="ctr"/>
          <a:lstStyle/>
          <a:p>
            <a:pPr marL="0" indent="0">
              <a:buNone/>
            </a:pPr>
            <a:r>
              <a:rPr lang="en-US" sz="2100" b="1" dirty="0">
                <a:solidFill>
                  <a:srgbClr val="F9FAFB"/>
                </a:solidFill>
                <a:latin typeface="Calibri" pitchFamily="34" charset="0"/>
                <a:ea typeface="Calibri" pitchFamily="34" charset="-122"/>
                <a:cs typeface="Calibri" pitchFamily="34" charset="-120"/>
              </a:rPr>
              <a:t>Direct Internet Breakout Eliminates Your Inspection Chokepoint</a:t>
            </a:r>
            <a:endParaRPr lang="en-US" sz="2100" dirty="0"/>
          </a:p>
        </p:txBody>
      </p:sp>
      <p:sp>
        <p:nvSpPr>
          <p:cNvPr id="3" name="Shape 1"/>
          <p:cNvSpPr/>
          <p:nvPr/>
        </p:nvSpPr>
        <p:spPr>
          <a:xfrm>
            <a:off x="365760" y="804672"/>
            <a:ext cx="4114800" cy="3108960"/>
          </a:xfrm>
          <a:prstGeom prst="rect">
            <a:avLst/>
          </a:prstGeom>
          <a:solidFill>
            <a:srgbClr val="1F2937"/>
          </a:solidFill>
          <a:ln w="12700">
            <a:solidFill>
              <a:srgbClr val="374151"/>
            </a:solidFill>
            <a:prstDash val="solid"/>
          </a:ln>
        </p:spPr>
        <p:txBody>
          <a:bodyPr/>
          <a:lstStyle/>
          <a:p>
            <a:endParaRPr lang="en-US"/>
          </a:p>
        </p:txBody>
      </p:sp>
      <p:sp>
        <p:nvSpPr>
          <p:cNvPr id="4" name="Text 2"/>
          <p:cNvSpPr/>
          <p:nvPr/>
        </p:nvSpPr>
        <p:spPr>
          <a:xfrm>
            <a:off x="457200" y="850392"/>
            <a:ext cx="3931920" cy="292608"/>
          </a:xfrm>
          <a:prstGeom prst="rect">
            <a:avLst/>
          </a:prstGeom>
          <a:noFill/>
          <a:ln/>
        </p:spPr>
        <p:txBody>
          <a:bodyPr wrap="square" rtlCol="0" anchor="ctr"/>
          <a:lstStyle/>
          <a:p>
            <a:pPr marL="0" indent="0">
              <a:buNone/>
            </a:pPr>
            <a:r>
              <a:rPr lang="en-US" sz="1100" b="1" kern="0" spc="100" dirty="0">
                <a:solidFill>
                  <a:srgbClr val="9CA3AF"/>
                </a:solidFill>
                <a:latin typeface="Calibri" pitchFamily="34" charset="0"/>
                <a:ea typeface="Calibri" pitchFamily="34" charset="-122"/>
                <a:cs typeface="Calibri" pitchFamily="34" charset="-120"/>
              </a:rPr>
              <a:t>TRADITIONAL HUB &amp; SPOKE</a:t>
            </a:r>
            <a:endParaRPr lang="en-US" sz="1100" dirty="0"/>
          </a:p>
        </p:txBody>
      </p:sp>
      <p:sp>
        <p:nvSpPr>
          <p:cNvPr id="5" name="Shape 3"/>
          <p:cNvSpPr/>
          <p:nvPr/>
        </p:nvSpPr>
        <p:spPr>
          <a:xfrm>
            <a:off x="548640" y="1298448"/>
            <a:ext cx="1005840" cy="384048"/>
          </a:xfrm>
          <a:prstGeom prst="rect">
            <a:avLst/>
          </a:prstGeom>
          <a:solidFill>
            <a:srgbClr val="263244"/>
          </a:solidFill>
          <a:ln w="12700">
            <a:solidFill>
              <a:srgbClr val="374151"/>
            </a:solidFill>
            <a:prstDash val="solid"/>
          </a:ln>
        </p:spPr>
        <p:txBody>
          <a:bodyPr/>
          <a:lstStyle/>
          <a:p>
            <a:endParaRPr lang="en-US"/>
          </a:p>
        </p:txBody>
      </p:sp>
      <p:sp>
        <p:nvSpPr>
          <p:cNvPr id="6" name="Text 4"/>
          <p:cNvSpPr/>
          <p:nvPr/>
        </p:nvSpPr>
        <p:spPr>
          <a:xfrm>
            <a:off x="548640" y="1298448"/>
            <a:ext cx="1005840" cy="384048"/>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Branch A</a:t>
            </a:r>
            <a:endParaRPr lang="en-US" sz="1000" dirty="0"/>
          </a:p>
        </p:txBody>
      </p:sp>
      <p:sp>
        <p:nvSpPr>
          <p:cNvPr id="7" name="Shape 5"/>
          <p:cNvSpPr/>
          <p:nvPr/>
        </p:nvSpPr>
        <p:spPr>
          <a:xfrm>
            <a:off x="548640" y="1810512"/>
            <a:ext cx="1005840" cy="384048"/>
          </a:xfrm>
          <a:prstGeom prst="rect">
            <a:avLst/>
          </a:prstGeom>
          <a:solidFill>
            <a:srgbClr val="263244"/>
          </a:solidFill>
          <a:ln w="12700">
            <a:solidFill>
              <a:srgbClr val="374151"/>
            </a:solidFill>
            <a:prstDash val="solid"/>
          </a:ln>
        </p:spPr>
        <p:txBody>
          <a:bodyPr/>
          <a:lstStyle/>
          <a:p>
            <a:endParaRPr lang="en-US"/>
          </a:p>
        </p:txBody>
      </p:sp>
      <p:sp>
        <p:nvSpPr>
          <p:cNvPr id="8" name="Text 6"/>
          <p:cNvSpPr/>
          <p:nvPr/>
        </p:nvSpPr>
        <p:spPr>
          <a:xfrm>
            <a:off x="548640" y="1810512"/>
            <a:ext cx="1005840" cy="384048"/>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Branch B</a:t>
            </a:r>
            <a:endParaRPr lang="en-US" sz="1000" dirty="0"/>
          </a:p>
        </p:txBody>
      </p:sp>
      <p:sp>
        <p:nvSpPr>
          <p:cNvPr id="9" name="Shape 7"/>
          <p:cNvSpPr/>
          <p:nvPr/>
        </p:nvSpPr>
        <p:spPr>
          <a:xfrm>
            <a:off x="548640" y="2322576"/>
            <a:ext cx="1005840" cy="384048"/>
          </a:xfrm>
          <a:prstGeom prst="rect">
            <a:avLst/>
          </a:prstGeom>
          <a:solidFill>
            <a:srgbClr val="263244"/>
          </a:solidFill>
          <a:ln w="12700">
            <a:solidFill>
              <a:srgbClr val="374151"/>
            </a:solidFill>
            <a:prstDash val="solid"/>
          </a:ln>
        </p:spPr>
        <p:txBody>
          <a:bodyPr/>
          <a:lstStyle/>
          <a:p>
            <a:endParaRPr lang="en-US"/>
          </a:p>
        </p:txBody>
      </p:sp>
      <p:sp>
        <p:nvSpPr>
          <p:cNvPr id="10" name="Text 8"/>
          <p:cNvSpPr/>
          <p:nvPr/>
        </p:nvSpPr>
        <p:spPr>
          <a:xfrm>
            <a:off x="548640" y="2322576"/>
            <a:ext cx="1005840" cy="384048"/>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Branch C</a:t>
            </a:r>
            <a:endParaRPr lang="en-US" sz="1000" dirty="0"/>
          </a:p>
        </p:txBody>
      </p:sp>
      <p:sp>
        <p:nvSpPr>
          <p:cNvPr id="11" name="Shape 9"/>
          <p:cNvSpPr/>
          <p:nvPr/>
        </p:nvSpPr>
        <p:spPr>
          <a:xfrm>
            <a:off x="1554480" y="1490472"/>
            <a:ext cx="640080" cy="54864"/>
          </a:xfrm>
          <a:prstGeom prst="rect">
            <a:avLst/>
          </a:prstGeom>
          <a:solidFill>
            <a:srgbClr val="22C55E"/>
          </a:solidFill>
          <a:ln w="12700">
            <a:solidFill>
              <a:srgbClr val="22C55E"/>
            </a:solidFill>
            <a:prstDash val="solid"/>
          </a:ln>
        </p:spPr>
        <p:txBody>
          <a:bodyPr/>
          <a:lstStyle/>
          <a:p>
            <a:endParaRPr lang="en-US"/>
          </a:p>
        </p:txBody>
      </p:sp>
      <p:sp>
        <p:nvSpPr>
          <p:cNvPr id="12" name="Shape 10"/>
          <p:cNvSpPr/>
          <p:nvPr/>
        </p:nvSpPr>
        <p:spPr>
          <a:xfrm>
            <a:off x="1554480" y="2002536"/>
            <a:ext cx="640080" cy="54864"/>
          </a:xfrm>
          <a:prstGeom prst="rect">
            <a:avLst/>
          </a:prstGeom>
          <a:solidFill>
            <a:srgbClr val="22C55E"/>
          </a:solidFill>
          <a:ln w="12700">
            <a:solidFill>
              <a:srgbClr val="22C55E"/>
            </a:solidFill>
            <a:prstDash val="solid"/>
          </a:ln>
        </p:spPr>
        <p:txBody>
          <a:bodyPr/>
          <a:lstStyle/>
          <a:p>
            <a:endParaRPr lang="en-US"/>
          </a:p>
        </p:txBody>
      </p:sp>
      <p:sp>
        <p:nvSpPr>
          <p:cNvPr id="13" name="Shape 11"/>
          <p:cNvSpPr/>
          <p:nvPr/>
        </p:nvSpPr>
        <p:spPr>
          <a:xfrm>
            <a:off x="1554480" y="2514600"/>
            <a:ext cx="640080" cy="54864"/>
          </a:xfrm>
          <a:prstGeom prst="rect">
            <a:avLst/>
          </a:prstGeom>
          <a:solidFill>
            <a:srgbClr val="22C55E"/>
          </a:solidFill>
          <a:ln w="12700">
            <a:solidFill>
              <a:srgbClr val="22C55E"/>
            </a:solidFill>
            <a:prstDash val="solid"/>
          </a:ln>
        </p:spPr>
        <p:txBody>
          <a:bodyPr/>
          <a:lstStyle/>
          <a:p>
            <a:endParaRPr lang="en-US"/>
          </a:p>
        </p:txBody>
      </p:sp>
      <p:sp>
        <p:nvSpPr>
          <p:cNvPr id="14" name="Shape 12"/>
          <p:cNvSpPr/>
          <p:nvPr/>
        </p:nvSpPr>
        <p:spPr>
          <a:xfrm>
            <a:off x="2194560" y="1298448"/>
            <a:ext cx="1005840" cy="1408176"/>
          </a:xfrm>
          <a:prstGeom prst="rect">
            <a:avLst/>
          </a:prstGeom>
          <a:solidFill>
            <a:srgbClr val="052E16"/>
          </a:solidFill>
          <a:ln w="12700">
            <a:solidFill>
              <a:srgbClr val="374151"/>
            </a:solidFill>
            <a:prstDash val="solid"/>
          </a:ln>
        </p:spPr>
        <p:txBody>
          <a:bodyPr/>
          <a:lstStyle/>
          <a:p>
            <a:endParaRPr lang="en-US"/>
          </a:p>
        </p:txBody>
      </p:sp>
      <p:sp>
        <p:nvSpPr>
          <p:cNvPr id="15" name="Text 13"/>
          <p:cNvSpPr/>
          <p:nvPr/>
        </p:nvSpPr>
        <p:spPr>
          <a:xfrm>
            <a:off x="2194560" y="1298448"/>
            <a:ext cx="1005840" cy="1408176"/>
          </a:xfrm>
          <a:prstGeom prst="rect">
            <a:avLst/>
          </a:prstGeom>
          <a:noFill/>
          <a:ln/>
        </p:spPr>
        <p:txBody>
          <a:bodyPr wrap="square" rtlCol="0" anchor="ctr"/>
          <a:lstStyle/>
          <a:p>
            <a:pPr marL="0" indent="0" algn="ctr">
              <a:buNone/>
            </a:pPr>
            <a:r>
              <a:rPr lang="en-US" sz="1000" b="1" dirty="0">
                <a:solidFill>
                  <a:srgbClr val="22C55E"/>
                </a:solidFill>
                <a:latin typeface="Calibri" pitchFamily="34" charset="0"/>
                <a:ea typeface="Calibri" pitchFamily="34" charset="-122"/>
                <a:cs typeface="Calibri" pitchFamily="34" charset="-120"/>
              </a:rPr>
              <a:t>DC</a:t>
            </a:r>
            <a:endParaRPr lang="en-US" sz="1000" dirty="0"/>
          </a:p>
          <a:p>
            <a:pPr marL="0" indent="0" algn="ctr">
              <a:buNone/>
            </a:pPr>
            <a:r>
              <a:rPr lang="en-US" sz="1000" b="1" dirty="0">
                <a:solidFill>
                  <a:srgbClr val="22C55E"/>
                </a:solidFill>
                <a:latin typeface="Calibri" pitchFamily="34" charset="0"/>
                <a:ea typeface="Calibri" pitchFamily="34" charset="-122"/>
                <a:cs typeface="Calibri" pitchFamily="34" charset="-120"/>
              </a:rPr>
              <a:t>Firewall</a:t>
            </a:r>
            <a:endParaRPr lang="en-US" sz="1000" dirty="0"/>
          </a:p>
          <a:p>
            <a:pPr marL="0" indent="0" algn="ctr">
              <a:buNone/>
            </a:pPr>
            <a:r>
              <a:rPr lang="en-US" sz="1000" b="1" dirty="0">
                <a:solidFill>
                  <a:srgbClr val="22C55E"/>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3200400" y="2112264"/>
            <a:ext cx="640080" cy="54864"/>
          </a:xfrm>
          <a:prstGeom prst="rect">
            <a:avLst/>
          </a:prstGeom>
          <a:solidFill>
            <a:srgbClr val="22C55E"/>
          </a:solidFill>
          <a:ln w="12700">
            <a:solidFill>
              <a:srgbClr val="22C55E"/>
            </a:solidFill>
            <a:prstDash val="solid"/>
          </a:ln>
        </p:spPr>
        <p:txBody>
          <a:bodyPr/>
          <a:lstStyle/>
          <a:p>
            <a:endParaRPr lang="en-US"/>
          </a:p>
        </p:txBody>
      </p:sp>
      <p:sp>
        <p:nvSpPr>
          <p:cNvPr id="17" name="Shape 15"/>
          <p:cNvSpPr/>
          <p:nvPr/>
        </p:nvSpPr>
        <p:spPr>
          <a:xfrm>
            <a:off x="3840480" y="1920240"/>
            <a:ext cx="502920" cy="384048"/>
          </a:xfrm>
          <a:prstGeom prst="rect">
            <a:avLst/>
          </a:prstGeom>
          <a:solidFill>
            <a:srgbClr val="263244"/>
          </a:solidFill>
          <a:ln w="12700">
            <a:solidFill>
              <a:srgbClr val="374151"/>
            </a:solidFill>
            <a:prstDash val="solid"/>
          </a:ln>
        </p:spPr>
        <p:txBody>
          <a:bodyPr/>
          <a:lstStyle/>
          <a:p>
            <a:endParaRPr lang="en-US"/>
          </a:p>
        </p:txBody>
      </p:sp>
      <p:sp>
        <p:nvSpPr>
          <p:cNvPr id="18" name="Text 16"/>
          <p:cNvSpPr/>
          <p:nvPr/>
        </p:nvSpPr>
        <p:spPr>
          <a:xfrm>
            <a:off x="3840480" y="1920240"/>
            <a:ext cx="502920" cy="384048"/>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Cloud</a:t>
            </a:r>
            <a:endParaRPr lang="en-US" sz="1000" dirty="0"/>
          </a:p>
        </p:txBody>
      </p:sp>
      <p:sp>
        <p:nvSpPr>
          <p:cNvPr id="19" name="Text 17"/>
          <p:cNvSpPr/>
          <p:nvPr/>
        </p:nvSpPr>
        <p:spPr>
          <a:xfrm>
            <a:off x="457200" y="2926080"/>
            <a:ext cx="3931920" cy="274320"/>
          </a:xfrm>
          <a:prstGeom prst="rect">
            <a:avLst/>
          </a:prstGeom>
          <a:noFill/>
          <a:ln/>
        </p:spPr>
        <p:txBody>
          <a:bodyPr wrap="square" rtlCol="0" anchor="ctr"/>
          <a:lstStyle/>
          <a:p>
            <a:pPr marL="0" indent="0" algn="ctr">
              <a:buNone/>
            </a:pPr>
            <a:r>
              <a:rPr lang="en-US" sz="1100" i="1" dirty="0">
                <a:solidFill>
                  <a:srgbClr val="22C55E"/>
                </a:solidFill>
                <a:latin typeface="Calibri" pitchFamily="34" charset="0"/>
                <a:ea typeface="Calibri" pitchFamily="34" charset="-122"/>
                <a:cs typeface="Calibri" pitchFamily="34" charset="-120"/>
              </a:rPr>
              <a:t>All traffic inspected at DC</a:t>
            </a:r>
            <a:endParaRPr lang="en-US" sz="1100" dirty="0"/>
          </a:p>
        </p:txBody>
      </p:sp>
      <p:sp>
        <p:nvSpPr>
          <p:cNvPr id="20" name="Shape 18"/>
          <p:cNvSpPr/>
          <p:nvPr/>
        </p:nvSpPr>
        <p:spPr>
          <a:xfrm>
            <a:off x="4709160" y="804672"/>
            <a:ext cx="4114800" cy="3108960"/>
          </a:xfrm>
          <a:prstGeom prst="rect">
            <a:avLst/>
          </a:prstGeom>
          <a:solidFill>
            <a:srgbClr val="2D0A0A"/>
          </a:solidFill>
          <a:ln w="12700">
            <a:solidFill>
              <a:srgbClr val="EF4444"/>
            </a:solidFill>
            <a:prstDash val="solid"/>
          </a:ln>
        </p:spPr>
        <p:txBody>
          <a:bodyPr/>
          <a:lstStyle/>
          <a:p>
            <a:endParaRPr lang="en-US"/>
          </a:p>
        </p:txBody>
      </p:sp>
      <p:sp>
        <p:nvSpPr>
          <p:cNvPr id="21" name="Text 19"/>
          <p:cNvSpPr/>
          <p:nvPr/>
        </p:nvSpPr>
        <p:spPr>
          <a:xfrm>
            <a:off x="4800600" y="850392"/>
            <a:ext cx="3931920" cy="292608"/>
          </a:xfrm>
          <a:prstGeom prst="rect">
            <a:avLst/>
          </a:prstGeom>
          <a:noFill/>
          <a:ln/>
        </p:spPr>
        <p:txBody>
          <a:bodyPr wrap="square" rtlCol="0" anchor="ctr"/>
          <a:lstStyle/>
          <a:p>
            <a:pPr marL="0" indent="0">
              <a:buNone/>
            </a:pPr>
            <a:r>
              <a:rPr lang="en-US" sz="1100" b="1" kern="0" spc="100" dirty="0">
                <a:solidFill>
                  <a:srgbClr val="EF4444"/>
                </a:solidFill>
                <a:latin typeface="Calibri" pitchFamily="34" charset="0"/>
                <a:ea typeface="Calibri" pitchFamily="34" charset="-122"/>
                <a:cs typeface="Calibri" pitchFamily="34" charset="-120"/>
              </a:rPr>
              <a:t>SD-WAN WITH DIRECT BREAKOUT</a:t>
            </a:r>
            <a:endParaRPr lang="en-US" sz="1100" dirty="0"/>
          </a:p>
        </p:txBody>
      </p:sp>
      <p:sp>
        <p:nvSpPr>
          <p:cNvPr id="22" name="Shape 20"/>
          <p:cNvSpPr/>
          <p:nvPr/>
        </p:nvSpPr>
        <p:spPr>
          <a:xfrm>
            <a:off x="4892040" y="1298448"/>
            <a:ext cx="1005840" cy="384048"/>
          </a:xfrm>
          <a:prstGeom prst="rect">
            <a:avLst/>
          </a:prstGeom>
          <a:solidFill>
            <a:srgbClr val="263244"/>
          </a:solidFill>
          <a:ln w="12700">
            <a:solidFill>
              <a:srgbClr val="374151"/>
            </a:solidFill>
            <a:prstDash val="solid"/>
          </a:ln>
        </p:spPr>
        <p:txBody>
          <a:bodyPr/>
          <a:lstStyle/>
          <a:p>
            <a:endParaRPr lang="en-US"/>
          </a:p>
        </p:txBody>
      </p:sp>
      <p:sp>
        <p:nvSpPr>
          <p:cNvPr id="23" name="Text 21"/>
          <p:cNvSpPr/>
          <p:nvPr/>
        </p:nvSpPr>
        <p:spPr>
          <a:xfrm>
            <a:off x="4892040" y="1298448"/>
            <a:ext cx="1005840" cy="384048"/>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Branch A</a:t>
            </a:r>
            <a:endParaRPr lang="en-US" sz="1000" dirty="0"/>
          </a:p>
        </p:txBody>
      </p:sp>
      <p:sp>
        <p:nvSpPr>
          <p:cNvPr id="24" name="Shape 22"/>
          <p:cNvSpPr/>
          <p:nvPr/>
        </p:nvSpPr>
        <p:spPr>
          <a:xfrm>
            <a:off x="4892040" y="1810512"/>
            <a:ext cx="1005840" cy="384048"/>
          </a:xfrm>
          <a:prstGeom prst="rect">
            <a:avLst/>
          </a:prstGeom>
          <a:solidFill>
            <a:srgbClr val="263244"/>
          </a:solidFill>
          <a:ln w="12700">
            <a:solidFill>
              <a:srgbClr val="374151"/>
            </a:solidFill>
            <a:prstDash val="solid"/>
          </a:ln>
        </p:spPr>
        <p:txBody>
          <a:bodyPr/>
          <a:lstStyle/>
          <a:p>
            <a:endParaRPr lang="en-US"/>
          </a:p>
        </p:txBody>
      </p:sp>
      <p:sp>
        <p:nvSpPr>
          <p:cNvPr id="25" name="Text 23"/>
          <p:cNvSpPr/>
          <p:nvPr/>
        </p:nvSpPr>
        <p:spPr>
          <a:xfrm>
            <a:off x="4892040" y="1810512"/>
            <a:ext cx="1005840" cy="384048"/>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Branch B</a:t>
            </a:r>
            <a:endParaRPr lang="en-US" sz="1000" dirty="0"/>
          </a:p>
        </p:txBody>
      </p:sp>
      <p:sp>
        <p:nvSpPr>
          <p:cNvPr id="26" name="Shape 24"/>
          <p:cNvSpPr/>
          <p:nvPr/>
        </p:nvSpPr>
        <p:spPr>
          <a:xfrm>
            <a:off x="4892040" y="2322576"/>
            <a:ext cx="1005840" cy="384048"/>
          </a:xfrm>
          <a:prstGeom prst="rect">
            <a:avLst/>
          </a:prstGeom>
          <a:solidFill>
            <a:srgbClr val="263244"/>
          </a:solidFill>
          <a:ln w="12700">
            <a:solidFill>
              <a:srgbClr val="374151"/>
            </a:solidFill>
            <a:prstDash val="solid"/>
          </a:ln>
        </p:spPr>
        <p:txBody>
          <a:bodyPr/>
          <a:lstStyle/>
          <a:p>
            <a:endParaRPr lang="en-US"/>
          </a:p>
        </p:txBody>
      </p:sp>
      <p:sp>
        <p:nvSpPr>
          <p:cNvPr id="27" name="Text 25"/>
          <p:cNvSpPr/>
          <p:nvPr/>
        </p:nvSpPr>
        <p:spPr>
          <a:xfrm>
            <a:off x="4892040" y="2322576"/>
            <a:ext cx="1005840" cy="384048"/>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Branch C</a:t>
            </a:r>
            <a:endParaRPr lang="en-US" sz="1000" dirty="0"/>
          </a:p>
        </p:txBody>
      </p:sp>
      <p:sp>
        <p:nvSpPr>
          <p:cNvPr id="28" name="Shape 26"/>
          <p:cNvSpPr/>
          <p:nvPr/>
        </p:nvSpPr>
        <p:spPr>
          <a:xfrm>
            <a:off x="5897880" y="1490472"/>
            <a:ext cx="2286000" cy="54864"/>
          </a:xfrm>
          <a:prstGeom prst="rect">
            <a:avLst/>
          </a:prstGeom>
          <a:solidFill>
            <a:srgbClr val="EF4444"/>
          </a:solidFill>
          <a:ln w="12700">
            <a:solidFill>
              <a:srgbClr val="EF4444"/>
            </a:solidFill>
            <a:prstDash val="solid"/>
          </a:ln>
        </p:spPr>
        <p:txBody>
          <a:bodyPr/>
          <a:lstStyle/>
          <a:p>
            <a:endParaRPr lang="en-US"/>
          </a:p>
        </p:txBody>
      </p:sp>
      <p:sp>
        <p:nvSpPr>
          <p:cNvPr id="29" name="Shape 27"/>
          <p:cNvSpPr/>
          <p:nvPr/>
        </p:nvSpPr>
        <p:spPr>
          <a:xfrm>
            <a:off x="5897880" y="2002536"/>
            <a:ext cx="2286000" cy="54864"/>
          </a:xfrm>
          <a:prstGeom prst="rect">
            <a:avLst/>
          </a:prstGeom>
          <a:solidFill>
            <a:srgbClr val="EF4444"/>
          </a:solidFill>
          <a:ln w="12700">
            <a:solidFill>
              <a:srgbClr val="EF4444"/>
            </a:solidFill>
            <a:prstDash val="solid"/>
          </a:ln>
        </p:spPr>
        <p:txBody>
          <a:bodyPr/>
          <a:lstStyle/>
          <a:p>
            <a:endParaRPr lang="en-US"/>
          </a:p>
        </p:txBody>
      </p:sp>
      <p:sp>
        <p:nvSpPr>
          <p:cNvPr id="30" name="Shape 28"/>
          <p:cNvSpPr/>
          <p:nvPr/>
        </p:nvSpPr>
        <p:spPr>
          <a:xfrm>
            <a:off x="5897880" y="2514600"/>
            <a:ext cx="2286000" cy="54864"/>
          </a:xfrm>
          <a:prstGeom prst="rect">
            <a:avLst/>
          </a:prstGeom>
          <a:solidFill>
            <a:srgbClr val="EF4444"/>
          </a:solidFill>
          <a:ln w="12700">
            <a:solidFill>
              <a:srgbClr val="EF4444"/>
            </a:solidFill>
            <a:prstDash val="solid"/>
          </a:ln>
        </p:spPr>
        <p:txBody>
          <a:bodyPr/>
          <a:lstStyle/>
          <a:p>
            <a:endParaRPr lang="en-US"/>
          </a:p>
        </p:txBody>
      </p:sp>
      <p:sp>
        <p:nvSpPr>
          <p:cNvPr id="31" name="Shape 29"/>
          <p:cNvSpPr/>
          <p:nvPr/>
        </p:nvSpPr>
        <p:spPr>
          <a:xfrm>
            <a:off x="8183880" y="1298448"/>
            <a:ext cx="502920" cy="1408176"/>
          </a:xfrm>
          <a:prstGeom prst="rect">
            <a:avLst/>
          </a:prstGeom>
          <a:solidFill>
            <a:srgbClr val="2D0A0A"/>
          </a:solidFill>
          <a:ln w="12700">
            <a:solidFill>
              <a:srgbClr val="374151"/>
            </a:solidFill>
            <a:prstDash val="solid"/>
          </a:ln>
        </p:spPr>
        <p:txBody>
          <a:bodyPr/>
          <a:lstStyle/>
          <a:p>
            <a:endParaRPr lang="en-US"/>
          </a:p>
        </p:txBody>
      </p:sp>
      <p:sp>
        <p:nvSpPr>
          <p:cNvPr id="32" name="Text 30"/>
          <p:cNvSpPr/>
          <p:nvPr/>
        </p:nvSpPr>
        <p:spPr>
          <a:xfrm>
            <a:off x="8183880" y="1298448"/>
            <a:ext cx="502920" cy="1408176"/>
          </a:xfrm>
          <a:prstGeom prst="rect">
            <a:avLst/>
          </a:prstGeom>
          <a:noFill/>
          <a:ln/>
        </p:spPr>
        <p:txBody>
          <a:bodyPr wrap="square" rtlCol="0" anchor="ctr"/>
          <a:lstStyle/>
          <a:p>
            <a:pPr marL="0" indent="0" algn="ctr">
              <a:buNone/>
            </a:pPr>
            <a:r>
              <a:rPr lang="en-US" sz="1000" b="1" dirty="0">
                <a:solidFill>
                  <a:srgbClr val="EF4444"/>
                </a:solidFill>
                <a:latin typeface="Calibri" pitchFamily="34" charset="0"/>
                <a:ea typeface="Calibri" pitchFamily="34" charset="-122"/>
                <a:cs typeface="Calibri" pitchFamily="34" charset="-120"/>
              </a:rPr>
              <a:t>Cloud</a:t>
            </a:r>
            <a:endParaRPr lang="en-US" sz="1000" dirty="0"/>
          </a:p>
          <a:p>
            <a:pPr marL="0" indent="0" algn="ctr">
              <a:buNone/>
            </a:pPr>
            <a:r>
              <a:rPr lang="en-US" sz="1000" b="1" dirty="0">
                <a:solidFill>
                  <a:srgbClr val="EF4444"/>
                </a:solidFill>
                <a:latin typeface="Calibri" pitchFamily="34" charset="0"/>
                <a:ea typeface="Calibri" pitchFamily="34" charset="-122"/>
                <a:cs typeface="Calibri" pitchFamily="34" charset="-120"/>
              </a:rPr>
              <a:t>⚠</a:t>
            </a:r>
            <a:endParaRPr lang="en-US" sz="1000" dirty="0"/>
          </a:p>
        </p:txBody>
      </p:sp>
      <p:sp>
        <p:nvSpPr>
          <p:cNvPr id="33" name="Text 31"/>
          <p:cNvSpPr/>
          <p:nvPr/>
        </p:nvSpPr>
        <p:spPr>
          <a:xfrm>
            <a:off x="4800600" y="2926080"/>
            <a:ext cx="3931920" cy="274320"/>
          </a:xfrm>
          <a:prstGeom prst="rect">
            <a:avLst/>
          </a:prstGeom>
          <a:noFill/>
          <a:ln/>
        </p:spPr>
        <p:txBody>
          <a:bodyPr wrap="square" rtlCol="0" anchor="ctr"/>
          <a:lstStyle/>
          <a:p>
            <a:pPr marL="0" indent="0" algn="ctr">
              <a:buNone/>
            </a:pPr>
            <a:r>
              <a:rPr lang="en-US" sz="1100" i="1" dirty="0">
                <a:solidFill>
                  <a:srgbClr val="EF4444"/>
                </a:solidFill>
                <a:latin typeface="Calibri" pitchFamily="34" charset="0"/>
                <a:ea typeface="Calibri" pitchFamily="34" charset="-122"/>
                <a:cs typeface="Calibri" pitchFamily="34" charset="-120"/>
              </a:rPr>
              <a:t>No inspection · bypassed by design</a:t>
            </a:r>
            <a:endParaRPr lang="en-US" sz="1100" dirty="0"/>
          </a:p>
        </p:txBody>
      </p:sp>
      <p:sp>
        <p:nvSpPr>
          <p:cNvPr id="34" name="Text 32"/>
          <p:cNvSpPr/>
          <p:nvPr/>
        </p:nvSpPr>
        <p:spPr>
          <a:xfrm>
            <a:off x="365760" y="4041648"/>
            <a:ext cx="8412480" cy="274320"/>
          </a:xfrm>
          <a:prstGeom prst="rect">
            <a:avLst/>
          </a:prstGeom>
          <a:noFill/>
          <a:ln/>
        </p:spPr>
        <p:txBody>
          <a:bodyPr wrap="square" rtlCol="0" anchor="ctr"/>
          <a:lstStyle/>
          <a:p>
            <a:pPr marL="0" indent="0">
              <a:buNone/>
            </a:pPr>
            <a:r>
              <a:rPr lang="en-US" sz="1150" b="1" dirty="0">
                <a:solidFill>
                  <a:srgbClr val="EF4444"/>
                </a:solidFill>
                <a:latin typeface="Calibri" pitchFamily="34" charset="0"/>
                <a:ea typeface="Calibri" pitchFamily="34" charset="-122"/>
                <a:cs typeface="Calibri" pitchFamily="34" charset="-120"/>
              </a:rPr>
              <a:t xml:space="preserve">  ▸  </a:t>
            </a:r>
            <a:r>
              <a:rPr lang="en-US" sz="1150" dirty="0">
                <a:solidFill>
                  <a:srgbClr val="D1D5DB"/>
                </a:solidFill>
                <a:latin typeface="Calibri" pitchFamily="34" charset="0"/>
                <a:ea typeface="Calibri" pitchFamily="34" charset="-122"/>
                <a:cs typeface="Calibri" pitchFamily="34" charset="-120"/>
              </a:rPr>
              <a:t>Branch traffic reaches cloud workloads without crossing the centralized firewall stack</a:t>
            </a:r>
            <a:endParaRPr lang="en-US" sz="1150" dirty="0"/>
          </a:p>
        </p:txBody>
      </p:sp>
      <p:sp>
        <p:nvSpPr>
          <p:cNvPr id="35" name="Text 33"/>
          <p:cNvSpPr/>
          <p:nvPr/>
        </p:nvSpPr>
        <p:spPr>
          <a:xfrm>
            <a:off x="365760" y="4361688"/>
            <a:ext cx="8412480" cy="274320"/>
          </a:xfrm>
          <a:prstGeom prst="rect">
            <a:avLst/>
          </a:prstGeom>
          <a:noFill/>
          <a:ln/>
        </p:spPr>
        <p:txBody>
          <a:bodyPr wrap="square" rtlCol="0" anchor="ctr"/>
          <a:lstStyle/>
          <a:p>
            <a:pPr marL="0" indent="0">
              <a:buNone/>
            </a:pPr>
            <a:r>
              <a:rPr lang="en-US" sz="1150" b="1" dirty="0">
                <a:solidFill>
                  <a:srgbClr val="EF4444"/>
                </a:solidFill>
                <a:latin typeface="Calibri" pitchFamily="34" charset="0"/>
                <a:ea typeface="Calibri" pitchFamily="34" charset="-122"/>
                <a:cs typeface="Calibri" pitchFamily="34" charset="-120"/>
              </a:rPr>
              <a:t xml:space="preserve">  ▸  </a:t>
            </a:r>
            <a:r>
              <a:rPr lang="en-US" sz="1150" dirty="0">
                <a:solidFill>
                  <a:srgbClr val="D1D5DB"/>
                </a:solidFill>
                <a:latin typeface="Calibri" pitchFamily="34" charset="0"/>
                <a:ea typeface="Calibri" pitchFamily="34" charset="-122"/>
                <a:cs typeface="Calibri" pitchFamily="34" charset="-120"/>
              </a:rPr>
              <a:t>SSL-encrypted traffic at the breakout point is rarely decrypted and inspected: performance cost is too high on appliances</a:t>
            </a:r>
            <a:endParaRPr lang="en-US" sz="1150" dirty="0"/>
          </a:p>
        </p:txBody>
      </p:sp>
      <p:sp>
        <p:nvSpPr>
          <p:cNvPr id="36" name="Text 34"/>
          <p:cNvSpPr/>
          <p:nvPr/>
        </p:nvSpPr>
        <p:spPr>
          <a:xfrm>
            <a:off x="365760" y="4681728"/>
            <a:ext cx="8412480" cy="274320"/>
          </a:xfrm>
          <a:prstGeom prst="rect">
            <a:avLst/>
          </a:prstGeom>
          <a:noFill/>
          <a:ln/>
        </p:spPr>
        <p:txBody>
          <a:bodyPr wrap="square" rtlCol="0" anchor="ctr"/>
          <a:lstStyle/>
          <a:p>
            <a:pPr marL="0" indent="0">
              <a:buNone/>
            </a:pPr>
            <a:r>
              <a:rPr lang="en-US" sz="1150" b="1" dirty="0">
                <a:solidFill>
                  <a:srgbClr val="EF4444"/>
                </a:solidFill>
                <a:latin typeface="Calibri" pitchFamily="34" charset="0"/>
                <a:ea typeface="Calibri" pitchFamily="34" charset="-122"/>
                <a:cs typeface="Calibri" pitchFamily="34" charset="-120"/>
              </a:rPr>
              <a:t xml:space="preserve">  ▸  </a:t>
            </a:r>
            <a:r>
              <a:rPr lang="en-US" sz="1150" dirty="0">
                <a:solidFill>
                  <a:srgbClr val="D1D5DB"/>
                </a:solidFill>
                <a:latin typeface="Calibri" pitchFamily="34" charset="0"/>
                <a:ea typeface="Calibri" pitchFamily="34" charset="-122"/>
                <a:cs typeface="Calibri" pitchFamily="34" charset="-120"/>
              </a:rPr>
              <a:t>Security teams often have zero visibility into branch-to-cloud traffic flows; the SDWAN controller and the SIEM don't talk</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56032"/>
            <a:ext cx="8321040" cy="438912"/>
          </a:xfrm>
          <a:prstGeom prst="rect">
            <a:avLst/>
          </a:prstGeom>
          <a:noFill/>
          <a:ln/>
        </p:spPr>
        <p:txBody>
          <a:bodyPr wrap="square" rtlCol="0" anchor="ctr"/>
          <a:lstStyle/>
          <a:p>
            <a:pPr marL="0" indent="0">
              <a:buNone/>
            </a:pPr>
            <a:r>
              <a:rPr lang="en-US" sz="2100" b="1" dirty="0">
                <a:solidFill>
                  <a:srgbClr val="F9FAFB"/>
                </a:solidFill>
                <a:latin typeface="Calibri" pitchFamily="34" charset="0"/>
                <a:ea typeface="Calibri" pitchFamily="34" charset="-122"/>
                <a:cs typeface="Calibri" pitchFamily="34" charset="-120"/>
              </a:rPr>
              <a:t>The Split-Brain Problem: Overlay ≠ Underlay</a:t>
            </a:r>
            <a:endParaRPr lang="en-US" sz="2100" dirty="0"/>
          </a:p>
        </p:txBody>
      </p:sp>
      <p:sp>
        <p:nvSpPr>
          <p:cNvPr id="3" name="Text 1"/>
          <p:cNvSpPr/>
          <p:nvPr/>
        </p:nvSpPr>
        <p:spPr>
          <a:xfrm>
            <a:off x="502920" y="694944"/>
            <a:ext cx="8321040" cy="274320"/>
          </a:xfrm>
          <a:prstGeom prst="rect">
            <a:avLst/>
          </a:prstGeom>
          <a:noFill/>
          <a:ln/>
        </p:spPr>
        <p:txBody>
          <a:bodyPr wrap="square" rtlCol="0" anchor="ctr"/>
          <a:lstStyle/>
          <a:p>
            <a:pPr marL="0" indent="0">
              <a:buNone/>
            </a:pPr>
            <a:r>
              <a:rPr lang="en-US" sz="1300" i="1" dirty="0">
                <a:solidFill>
                  <a:srgbClr val="9CA3AF"/>
                </a:solidFill>
                <a:latin typeface="Calibri" pitchFamily="34" charset="0"/>
                <a:ea typeface="Calibri" pitchFamily="34" charset="-122"/>
                <a:cs typeface="Calibri" pitchFamily="34" charset="-120"/>
              </a:rPr>
              <a:t>The SD-WAN dashboard says one thing. The cloud routing table does another. One of them is wrong.</a:t>
            </a:r>
            <a:endParaRPr lang="en-US" sz="1300" dirty="0"/>
          </a:p>
        </p:txBody>
      </p:sp>
      <p:sp>
        <p:nvSpPr>
          <p:cNvPr id="4" name="Shape 2"/>
          <p:cNvSpPr/>
          <p:nvPr/>
        </p:nvSpPr>
        <p:spPr>
          <a:xfrm>
            <a:off x="365760" y="1097280"/>
            <a:ext cx="4023360" cy="2514600"/>
          </a:xfrm>
          <a:prstGeom prst="rect">
            <a:avLst/>
          </a:prstGeom>
          <a:solidFill>
            <a:srgbClr val="1F2937"/>
          </a:solidFill>
          <a:ln w="12700">
            <a:solidFill>
              <a:srgbClr val="14B8A6"/>
            </a:solidFill>
            <a:prstDash val="solid"/>
          </a:ln>
        </p:spPr>
        <p:txBody>
          <a:bodyPr/>
          <a:lstStyle/>
          <a:p>
            <a:endParaRPr lang="en-US"/>
          </a:p>
        </p:txBody>
      </p:sp>
      <p:sp>
        <p:nvSpPr>
          <p:cNvPr id="5" name="Shape 3"/>
          <p:cNvSpPr/>
          <p:nvPr/>
        </p:nvSpPr>
        <p:spPr>
          <a:xfrm>
            <a:off x="4754880" y="1097280"/>
            <a:ext cx="4023360" cy="2514600"/>
          </a:xfrm>
          <a:prstGeom prst="rect">
            <a:avLst/>
          </a:prstGeom>
          <a:solidFill>
            <a:srgbClr val="2D0A0A"/>
          </a:solidFill>
          <a:ln w="12700">
            <a:solidFill>
              <a:srgbClr val="EF4444"/>
            </a:solidFill>
            <a:prstDash val="solid"/>
          </a:ln>
        </p:spPr>
        <p:txBody>
          <a:bodyPr/>
          <a:lstStyle/>
          <a:p>
            <a:endParaRPr lang="en-US"/>
          </a:p>
        </p:txBody>
      </p:sp>
      <p:sp>
        <p:nvSpPr>
          <p:cNvPr id="6" name="Shape 4"/>
          <p:cNvSpPr/>
          <p:nvPr/>
        </p:nvSpPr>
        <p:spPr>
          <a:xfrm>
            <a:off x="365760" y="1097280"/>
            <a:ext cx="4023360" cy="347472"/>
          </a:xfrm>
          <a:prstGeom prst="rect">
            <a:avLst/>
          </a:prstGeom>
          <a:solidFill>
            <a:srgbClr val="0F3D3A"/>
          </a:solidFill>
          <a:ln w="12700">
            <a:solidFill>
              <a:srgbClr val="14B8A6"/>
            </a:solidFill>
            <a:prstDash val="solid"/>
          </a:ln>
        </p:spPr>
        <p:txBody>
          <a:bodyPr/>
          <a:lstStyle/>
          <a:p>
            <a:endParaRPr lang="en-US"/>
          </a:p>
        </p:txBody>
      </p:sp>
      <p:sp>
        <p:nvSpPr>
          <p:cNvPr id="7" name="Text 5"/>
          <p:cNvSpPr/>
          <p:nvPr/>
        </p:nvSpPr>
        <p:spPr>
          <a:xfrm>
            <a:off x="457200" y="1097280"/>
            <a:ext cx="3840480" cy="347472"/>
          </a:xfrm>
          <a:prstGeom prst="rect">
            <a:avLst/>
          </a:prstGeom>
          <a:noFill/>
          <a:ln/>
        </p:spPr>
        <p:txBody>
          <a:bodyPr wrap="square" rtlCol="0" anchor="ctr"/>
          <a:lstStyle/>
          <a:p>
            <a:pPr marL="0" indent="0">
              <a:buNone/>
            </a:pPr>
            <a:r>
              <a:rPr lang="en-US" sz="1100" b="1" dirty="0">
                <a:solidFill>
                  <a:srgbClr val="14B8A6"/>
                </a:solidFill>
                <a:latin typeface="Calibri" pitchFamily="34" charset="0"/>
                <a:ea typeface="Calibri" pitchFamily="34" charset="-122"/>
                <a:cs typeface="Calibri" pitchFamily="34" charset="-120"/>
              </a:rPr>
              <a:t>SD-WAN OVERLAY  (what you configured)</a:t>
            </a:r>
            <a:endParaRPr lang="en-US" sz="1100" dirty="0"/>
          </a:p>
        </p:txBody>
      </p:sp>
      <p:sp>
        <p:nvSpPr>
          <p:cNvPr id="8" name="Shape 6"/>
          <p:cNvSpPr/>
          <p:nvPr/>
        </p:nvSpPr>
        <p:spPr>
          <a:xfrm>
            <a:off x="4754880" y="1097280"/>
            <a:ext cx="4023360" cy="347472"/>
          </a:xfrm>
          <a:prstGeom prst="rect">
            <a:avLst/>
          </a:prstGeom>
          <a:solidFill>
            <a:srgbClr val="EF4444"/>
          </a:solidFill>
          <a:ln w="12700">
            <a:solidFill>
              <a:srgbClr val="EF4444"/>
            </a:solidFill>
            <a:prstDash val="solid"/>
          </a:ln>
        </p:spPr>
        <p:txBody>
          <a:bodyPr/>
          <a:lstStyle/>
          <a:p>
            <a:endParaRPr lang="en-US"/>
          </a:p>
        </p:txBody>
      </p:sp>
      <p:sp>
        <p:nvSpPr>
          <p:cNvPr id="9" name="Text 7"/>
          <p:cNvSpPr/>
          <p:nvPr/>
        </p:nvSpPr>
        <p:spPr>
          <a:xfrm>
            <a:off x="4846320" y="1097280"/>
            <a:ext cx="3840480" cy="347472"/>
          </a:xfrm>
          <a:prstGeom prst="rect">
            <a:avLst/>
          </a:prstGeom>
          <a:noFill/>
          <a:ln/>
        </p:spPr>
        <p:txBody>
          <a:bodyPr wrap="square" rtlCol="0" anchor="ctr"/>
          <a:lstStyle/>
          <a:p>
            <a:pPr marL="0" indent="0">
              <a:buNone/>
            </a:pPr>
            <a:r>
              <a:rPr lang="en-US" sz="1100" b="1" dirty="0">
                <a:solidFill>
                  <a:srgbClr val="F9FAFB"/>
                </a:solidFill>
                <a:latin typeface="Calibri" pitchFamily="34" charset="0"/>
                <a:ea typeface="Calibri" pitchFamily="34" charset="-122"/>
                <a:cs typeface="Calibri" pitchFamily="34" charset="-120"/>
              </a:rPr>
              <a:t>CLOUD UNDERLAY  (what actually happens)</a:t>
            </a:r>
            <a:endParaRPr lang="en-US" sz="1100" dirty="0"/>
          </a:p>
        </p:txBody>
      </p:sp>
      <p:sp>
        <p:nvSpPr>
          <p:cNvPr id="10" name="Text 8"/>
          <p:cNvSpPr/>
          <p:nvPr/>
        </p:nvSpPr>
        <p:spPr>
          <a:xfrm>
            <a:off x="475488" y="1536192"/>
            <a:ext cx="3794760" cy="438912"/>
          </a:xfrm>
          <a:prstGeom prst="rect">
            <a:avLst/>
          </a:prstGeom>
          <a:noFill/>
          <a:ln/>
        </p:spPr>
        <p:txBody>
          <a:bodyPr wrap="square" rtlCol="0" anchor="ctr"/>
          <a:lstStyle/>
          <a:p>
            <a:pPr marL="0" indent="0">
              <a:buNone/>
            </a:pPr>
            <a:r>
              <a:rPr lang="en-US" sz="1200" b="1" dirty="0">
                <a:solidFill>
                  <a:srgbClr val="14B8A6"/>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Policy: sensitive traffic routes to DC hub via tunnel</a:t>
            </a:r>
            <a:endParaRPr lang="en-US" sz="1200" dirty="0"/>
          </a:p>
        </p:txBody>
      </p:sp>
      <p:sp>
        <p:nvSpPr>
          <p:cNvPr id="11" name="Text 9"/>
          <p:cNvSpPr/>
          <p:nvPr/>
        </p:nvSpPr>
        <p:spPr>
          <a:xfrm>
            <a:off x="475488" y="2039112"/>
            <a:ext cx="3794760" cy="438912"/>
          </a:xfrm>
          <a:prstGeom prst="rect">
            <a:avLst/>
          </a:prstGeom>
          <a:noFill/>
          <a:ln/>
        </p:spPr>
        <p:txBody>
          <a:bodyPr wrap="square" rtlCol="0" anchor="ctr"/>
          <a:lstStyle/>
          <a:p>
            <a:pPr marL="0" indent="0">
              <a:buNone/>
            </a:pPr>
            <a:r>
              <a:rPr lang="en-US" sz="1200" b="1" dirty="0">
                <a:solidFill>
                  <a:srgbClr val="14B8A6"/>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SDWAN controller shows path as 'secure tunnel'</a:t>
            </a:r>
            <a:endParaRPr lang="en-US" sz="1200" dirty="0"/>
          </a:p>
        </p:txBody>
      </p:sp>
      <p:sp>
        <p:nvSpPr>
          <p:cNvPr id="12" name="Text 10"/>
          <p:cNvSpPr/>
          <p:nvPr/>
        </p:nvSpPr>
        <p:spPr>
          <a:xfrm>
            <a:off x="475488" y="2542032"/>
            <a:ext cx="3794760" cy="438912"/>
          </a:xfrm>
          <a:prstGeom prst="rect">
            <a:avLst/>
          </a:prstGeom>
          <a:noFill/>
          <a:ln/>
        </p:spPr>
        <p:txBody>
          <a:bodyPr wrap="square" rtlCol="0" anchor="ctr"/>
          <a:lstStyle/>
          <a:p>
            <a:pPr marL="0" indent="0">
              <a:buNone/>
            </a:pPr>
            <a:r>
              <a:rPr lang="en-US" sz="1200" b="1" dirty="0">
                <a:solidFill>
                  <a:srgbClr val="14B8A6"/>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Traffic logged in SDWAN analytics as tunneled</a:t>
            </a:r>
            <a:endParaRPr lang="en-US" sz="1200" dirty="0"/>
          </a:p>
        </p:txBody>
      </p:sp>
      <p:sp>
        <p:nvSpPr>
          <p:cNvPr id="13" name="Text 11"/>
          <p:cNvSpPr/>
          <p:nvPr/>
        </p:nvSpPr>
        <p:spPr>
          <a:xfrm>
            <a:off x="475488" y="3044952"/>
            <a:ext cx="3794760" cy="438912"/>
          </a:xfrm>
          <a:prstGeom prst="rect">
            <a:avLst/>
          </a:prstGeom>
          <a:noFill/>
          <a:ln/>
        </p:spPr>
        <p:txBody>
          <a:bodyPr wrap="square" rtlCol="0" anchor="ctr"/>
          <a:lstStyle/>
          <a:p>
            <a:pPr marL="0" indent="0">
              <a:buNone/>
            </a:pPr>
            <a:r>
              <a:rPr lang="en-US" sz="1200" b="1" dirty="0">
                <a:solidFill>
                  <a:srgbClr val="14B8A6"/>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Dashboard looks correct. Team is confident.</a:t>
            </a:r>
            <a:endParaRPr lang="en-US" sz="1200" dirty="0"/>
          </a:p>
        </p:txBody>
      </p:sp>
      <p:sp>
        <p:nvSpPr>
          <p:cNvPr id="14" name="Text 12"/>
          <p:cNvSpPr/>
          <p:nvPr/>
        </p:nvSpPr>
        <p:spPr>
          <a:xfrm>
            <a:off x="4846320" y="1536192"/>
            <a:ext cx="3794760" cy="438912"/>
          </a:xfrm>
          <a:prstGeom prst="rect">
            <a:avLst/>
          </a:prstGeom>
          <a:noFill/>
          <a:ln/>
        </p:spPr>
        <p:txBody>
          <a:bodyPr wrap="square"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VPC route table has a more-specific route that wins</a:t>
            </a:r>
            <a:endParaRPr lang="en-US" sz="1200" dirty="0"/>
          </a:p>
        </p:txBody>
      </p:sp>
      <p:sp>
        <p:nvSpPr>
          <p:cNvPr id="15" name="Text 13"/>
          <p:cNvSpPr/>
          <p:nvPr/>
        </p:nvSpPr>
        <p:spPr>
          <a:xfrm>
            <a:off x="4846320" y="2039112"/>
            <a:ext cx="3794760" cy="438912"/>
          </a:xfrm>
          <a:prstGeom prst="rect">
            <a:avLst/>
          </a:prstGeom>
          <a:noFill/>
          <a:ln/>
        </p:spPr>
        <p:txBody>
          <a:bodyPr wrap="square"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BGP advertisement from SD-WAN not reflected in cloud</a:t>
            </a:r>
            <a:endParaRPr lang="en-US" sz="1200" dirty="0"/>
          </a:p>
        </p:txBody>
      </p:sp>
      <p:sp>
        <p:nvSpPr>
          <p:cNvPr id="16" name="Text 14"/>
          <p:cNvSpPr/>
          <p:nvPr/>
        </p:nvSpPr>
        <p:spPr>
          <a:xfrm>
            <a:off x="4846320" y="2542032"/>
            <a:ext cx="3794760" cy="438912"/>
          </a:xfrm>
          <a:prstGeom prst="rect">
            <a:avLst/>
          </a:prstGeom>
          <a:noFill/>
          <a:ln/>
        </p:spPr>
        <p:txBody>
          <a:bodyPr wrap="square"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Traffic flows direct, never enters the tunnel</a:t>
            </a:r>
            <a:endParaRPr lang="en-US" sz="1200" dirty="0"/>
          </a:p>
        </p:txBody>
      </p:sp>
      <p:sp>
        <p:nvSpPr>
          <p:cNvPr id="17" name="Text 15"/>
          <p:cNvSpPr/>
          <p:nvPr/>
        </p:nvSpPr>
        <p:spPr>
          <a:xfrm>
            <a:off x="4846320" y="3044952"/>
            <a:ext cx="3794760" cy="438912"/>
          </a:xfrm>
          <a:prstGeom prst="rect">
            <a:avLst/>
          </a:prstGeom>
          <a:noFill/>
          <a:ln/>
        </p:spPr>
        <p:txBody>
          <a:bodyPr wrap="square"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DC firewall sees nothing. Flow logs show direct path.</a:t>
            </a:r>
            <a:endParaRPr lang="en-US" sz="1200" dirty="0"/>
          </a:p>
        </p:txBody>
      </p:sp>
      <p:sp>
        <p:nvSpPr>
          <p:cNvPr id="18" name="Shape 16"/>
          <p:cNvSpPr/>
          <p:nvPr/>
        </p:nvSpPr>
        <p:spPr>
          <a:xfrm>
            <a:off x="365760" y="3767328"/>
            <a:ext cx="8412480" cy="685800"/>
          </a:xfrm>
          <a:prstGeom prst="rect">
            <a:avLst/>
          </a:prstGeom>
          <a:solidFill>
            <a:srgbClr val="0F3D3A"/>
          </a:solidFill>
          <a:ln w="12700">
            <a:solidFill>
              <a:srgbClr val="14B8A6"/>
            </a:solidFill>
            <a:prstDash val="solid"/>
          </a:ln>
        </p:spPr>
        <p:txBody>
          <a:bodyPr/>
          <a:lstStyle/>
          <a:p>
            <a:endParaRPr lang="en-US"/>
          </a:p>
        </p:txBody>
      </p:sp>
      <p:sp>
        <p:nvSpPr>
          <p:cNvPr id="19" name="Text 17"/>
          <p:cNvSpPr/>
          <p:nvPr/>
        </p:nvSpPr>
        <p:spPr>
          <a:xfrm>
            <a:off x="548640" y="3767328"/>
            <a:ext cx="8138160" cy="685800"/>
          </a:xfrm>
          <a:prstGeom prst="rect">
            <a:avLst/>
          </a:prstGeom>
          <a:noFill/>
          <a:ln/>
        </p:spPr>
        <p:txBody>
          <a:bodyPr wrap="square" rtlCol="0" anchor="ctr"/>
          <a:lstStyle/>
          <a:p>
            <a:pPr marL="0" indent="0">
              <a:buNone/>
            </a:pPr>
            <a:r>
              <a:rPr lang="en-US" sz="1250" dirty="0">
                <a:solidFill>
                  <a:srgbClr val="F9FAFB"/>
                </a:solidFill>
                <a:latin typeface="Calibri" pitchFamily="34" charset="0"/>
                <a:ea typeface="Calibri" pitchFamily="34" charset="-122"/>
                <a:cs typeface="Calibri" pitchFamily="34" charset="-120"/>
              </a:rPr>
              <a:t>Design shift:  Stop relying on traffic path as your security control. Enforce security at the destination (cloud firewall + security groups). Assume the network path is wrong until flow logs prove otherwise.</a:t>
            </a:r>
            <a:endParaRPr lang="en-US" sz="1250" dirty="0"/>
          </a:p>
        </p:txBody>
      </p:sp>
      <p:sp>
        <p:nvSpPr>
          <p:cNvPr id="20" name="Shape 18"/>
          <p:cNvSpPr/>
          <p:nvPr/>
        </p:nvSpPr>
        <p:spPr>
          <a:xfrm>
            <a:off x="365760" y="4544568"/>
            <a:ext cx="8412480" cy="384048"/>
          </a:xfrm>
          <a:prstGeom prst="rect">
            <a:avLst/>
          </a:prstGeom>
          <a:solidFill>
            <a:srgbClr val="052E16"/>
          </a:solidFill>
          <a:ln w="12700">
            <a:solidFill>
              <a:srgbClr val="22C55E"/>
            </a:solidFill>
            <a:prstDash val="solid"/>
          </a:ln>
        </p:spPr>
        <p:txBody>
          <a:bodyPr/>
          <a:lstStyle/>
          <a:p>
            <a:endParaRPr lang="en-US"/>
          </a:p>
        </p:txBody>
      </p:sp>
      <p:sp>
        <p:nvSpPr>
          <p:cNvPr id="21" name="Text 19"/>
          <p:cNvSpPr/>
          <p:nvPr/>
        </p:nvSpPr>
        <p:spPr>
          <a:xfrm>
            <a:off x="548640" y="4544568"/>
            <a:ext cx="8229600" cy="384048"/>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CHECK:  Pull SD-WAN path reports for highest-sensitivity traffic. Cross-reference against VPC Flow Logs for the same source IPs. If flow logs show direct traffic that should be tunneled, your routing is broken.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2C55E"/>
          </a:solidFill>
          <a:ln w="12700">
            <a:solidFill>
              <a:srgbClr val="22C55E"/>
            </a:solidFill>
            <a:prstDash val="solid"/>
          </a:ln>
        </p:spPr>
        <p:txBody>
          <a:bodyPr/>
          <a:lstStyle/>
          <a:p>
            <a:endParaRPr lang="en-US"/>
          </a:p>
        </p:txBody>
      </p:sp>
      <p:sp>
        <p:nvSpPr>
          <p:cNvPr id="3" name="Text 1"/>
          <p:cNvSpPr/>
          <p:nvPr/>
        </p:nvSpPr>
        <p:spPr>
          <a:xfrm>
            <a:off x="502920" y="548640"/>
            <a:ext cx="8229600" cy="1828800"/>
          </a:xfrm>
          <a:prstGeom prst="rect">
            <a:avLst/>
          </a:prstGeom>
          <a:noFill/>
          <a:ln/>
        </p:spPr>
        <p:txBody>
          <a:bodyPr wrap="square" rtlCol="0" anchor="ctr"/>
          <a:lstStyle/>
          <a:p>
            <a:pPr marL="0" indent="0">
              <a:buNone/>
            </a:pPr>
            <a:r>
              <a:rPr lang="en-US" sz="12000" b="1" dirty="0">
                <a:solidFill>
                  <a:srgbClr val="263244"/>
                </a:solidFill>
                <a:latin typeface="Calibri" pitchFamily="34" charset="0"/>
                <a:ea typeface="Calibri" pitchFamily="34" charset="-122"/>
                <a:cs typeface="Calibri" pitchFamily="34" charset="-120"/>
              </a:rPr>
              <a:t>04</a:t>
            </a:r>
            <a:endParaRPr lang="en-US" sz="12000" dirty="0"/>
          </a:p>
        </p:txBody>
      </p:sp>
      <p:sp>
        <p:nvSpPr>
          <p:cNvPr id="4" name="Text 2"/>
          <p:cNvSpPr/>
          <p:nvPr/>
        </p:nvSpPr>
        <p:spPr>
          <a:xfrm>
            <a:off x="502920" y="1737360"/>
            <a:ext cx="7772400" cy="822960"/>
          </a:xfrm>
          <a:prstGeom prst="rect">
            <a:avLst/>
          </a:prstGeom>
          <a:noFill/>
          <a:ln/>
        </p:spPr>
        <p:txBody>
          <a:bodyPr wrap="square" rtlCol="0" anchor="ctr"/>
          <a:lstStyle/>
          <a:p>
            <a:pPr marL="0" indent="0">
              <a:buNone/>
            </a:pPr>
            <a:r>
              <a:rPr lang="en-US" sz="3800" b="1" dirty="0">
                <a:solidFill>
                  <a:srgbClr val="F9FAFB"/>
                </a:solidFill>
                <a:latin typeface="Calibri" pitchFamily="34" charset="0"/>
                <a:ea typeface="Calibri" pitchFamily="34" charset="-122"/>
                <a:cs typeface="Calibri" pitchFamily="34" charset="-120"/>
              </a:rPr>
              <a:t>Finding &amp; Fixing These Gaps</a:t>
            </a:r>
            <a:endParaRPr lang="en-US" sz="3800" dirty="0"/>
          </a:p>
        </p:txBody>
      </p:sp>
      <p:sp>
        <p:nvSpPr>
          <p:cNvPr id="5" name="Text 3"/>
          <p:cNvSpPr/>
          <p:nvPr/>
        </p:nvSpPr>
        <p:spPr>
          <a:xfrm>
            <a:off x="502920" y="2651760"/>
            <a:ext cx="6858000" cy="548640"/>
          </a:xfrm>
          <a:prstGeom prst="rect">
            <a:avLst/>
          </a:prstGeom>
          <a:noFill/>
          <a:ln/>
        </p:spPr>
        <p:txBody>
          <a:bodyPr wrap="square" rtlCol="0" anchor="ctr"/>
          <a:lstStyle/>
          <a:p>
            <a:pPr marL="0" indent="0">
              <a:buNone/>
            </a:pPr>
            <a:r>
              <a:rPr lang="en-US" sz="1700" dirty="0">
                <a:solidFill>
                  <a:srgbClr val="D1D5DB"/>
                </a:solidFill>
                <a:latin typeface="Calibri" pitchFamily="34" charset="0"/>
                <a:ea typeface="Calibri" pitchFamily="34" charset="-122"/>
                <a:cs typeface="Calibri" pitchFamily="34" charset="-120"/>
              </a:rPr>
              <a:t>Practical methodology. No consultants required. Just flow logs.</a:t>
            </a:r>
            <a:endParaRPr lang="en-US" sz="1700" dirty="0"/>
          </a:p>
        </p:txBody>
      </p:sp>
      <p:sp>
        <p:nvSpPr>
          <p:cNvPr id="6" name="Shape 4"/>
          <p:cNvSpPr/>
          <p:nvPr/>
        </p:nvSpPr>
        <p:spPr>
          <a:xfrm>
            <a:off x="502920" y="3794760"/>
            <a:ext cx="8321040" cy="27432"/>
          </a:xfrm>
          <a:prstGeom prst="rect">
            <a:avLst/>
          </a:prstGeom>
          <a:solidFill>
            <a:srgbClr val="374151"/>
          </a:solidFill>
          <a:ln w="12700">
            <a:solidFill>
              <a:srgbClr val="374151"/>
            </a:solidFill>
            <a:prstDash val="solid"/>
          </a:ln>
        </p:spPr>
        <p:txBody>
          <a:bodyPr/>
          <a:lstStyle/>
          <a:p>
            <a:endParaRPr lang="en-US"/>
          </a:p>
        </p:txBody>
      </p:sp>
      <p:sp>
        <p:nvSpPr>
          <p:cNvPr id="7" name="Text 5"/>
          <p:cNvSpPr/>
          <p:nvPr/>
        </p:nvSpPr>
        <p:spPr>
          <a:xfrm>
            <a:off x="502920" y="3931920"/>
            <a:ext cx="2743200" cy="2743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10 minutes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56032"/>
            <a:ext cx="8321040" cy="438912"/>
          </a:xfrm>
          <a:prstGeom prst="rect">
            <a:avLst/>
          </a:prstGeom>
          <a:noFill/>
          <a:ln/>
        </p:spPr>
        <p:txBody>
          <a:bodyPr wrap="square" rtlCol="0" anchor="ctr"/>
          <a:lstStyle/>
          <a:p>
            <a:pPr marL="0" indent="0">
              <a:buNone/>
            </a:pPr>
            <a:r>
              <a:rPr lang="en-US" sz="2200" b="1" dirty="0">
                <a:solidFill>
                  <a:srgbClr val="F9FAFB"/>
                </a:solidFill>
                <a:latin typeface="Calibri" pitchFamily="34" charset="0"/>
                <a:ea typeface="Calibri" pitchFamily="34" charset="-122"/>
                <a:cs typeface="Calibri" pitchFamily="34" charset="-120"/>
              </a:rPr>
              <a:t>Audit Methodology: Map Your Actual Traffic Flows</a:t>
            </a:r>
            <a:endParaRPr lang="en-US" sz="2200" dirty="0"/>
          </a:p>
        </p:txBody>
      </p:sp>
      <p:sp>
        <p:nvSpPr>
          <p:cNvPr id="3" name="Text 1"/>
          <p:cNvSpPr/>
          <p:nvPr/>
        </p:nvSpPr>
        <p:spPr>
          <a:xfrm>
            <a:off x="502920" y="694944"/>
            <a:ext cx="8321040" cy="274320"/>
          </a:xfrm>
          <a:prstGeom prst="rect">
            <a:avLst/>
          </a:prstGeom>
          <a:noFill/>
          <a:ln/>
        </p:spPr>
        <p:txBody>
          <a:bodyPr wrap="square" rtlCol="0" anchor="ctr"/>
          <a:lstStyle/>
          <a:p>
            <a:pPr marL="0" indent="0">
              <a:buNone/>
            </a:pPr>
            <a:r>
              <a:rPr lang="en-US" sz="1300" i="1" dirty="0">
                <a:solidFill>
                  <a:srgbClr val="9CA3AF"/>
                </a:solidFill>
                <a:latin typeface="Calibri" pitchFamily="34" charset="0"/>
                <a:ea typeface="Calibri" pitchFamily="34" charset="-122"/>
                <a:cs typeface="Calibri" pitchFamily="34" charset="-120"/>
              </a:rPr>
              <a:t>The architecture diagram is a hypothesis. Flow logs are evidence.</a:t>
            </a:r>
            <a:endParaRPr lang="en-US" sz="1300" dirty="0"/>
          </a:p>
        </p:txBody>
      </p:sp>
      <p:sp>
        <p:nvSpPr>
          <p:cNvPr id="4" name="Shape 2"/>
          <p:cNvSpPr/>
          <p:nvPr/>
        </p:nvSpPr>
        <p:spPr>
          <a:xfrm>
            <a:off x="502920" y="1097280"/>
            <a:ext cx="8321040" cy="841248"/>
          </a:xfrm>
          <a:prstGeom prst="rect">
            <a:avLst/>
          </a:prstGeom>
          <a:solidFill>
            <a:srgbClr val="1F2937"/>
          </a:solidFill>
          <a:ln w="12700">
            <a:solidFill>
              <a:srgbClr val="374151"/>
            </a:solidFill>
            <a:prstDash val="solid"/>
          </a:ln>
        </p:spPr>
        <p:txBody>
          <a:bodyPr/>
          <a:lstStyle/>
          <a:p>
            <a:endParaRPr lang="en-US"/>
          </a:p>
        </p:txBody>
      </p:sp>
      <p:sp>
        <p:nvSpPr>
          <p:cNvPr id="5" name="Shape 3"/>
          <p:cNvSpPr/>
          <p:nvPr/>
        </p:nvSpPr>
        <p:spPr>
          <a:xfrm>
            <a:off x="713232" y="1225296"/>
            <a:ext cx="585216" cy="585216"/>
          </a:xfrm>
          <a:prstGeom prst="ellipse">
            <a:avLst/>
          </a:prstGeom>
          <a:solidFill>
            <a:srgbClr val="14B8A6"/>
          </a:solidFill>
          <a:ln w="12700">
            <a:solidFill>
              <a:srgbClr val="14B8A6"/>
            </a:solidFill>
            <a:prstDash val="solid"/>
          </a:ln>
        </p:spPr>
        <p:txBody>
          <a:bodyPr/>
          <a:lstStyle/>
          <a:p>
            <a:endParaRPr lang="en-US"/>
          </a:p>
        </p:txBody>
      </p:sp>
      <p:sp>
        <p:nvSpPr>
          <p:cNvPr id="6" name="Text 4"/>
          <p:cNvSpPr/>
          <p:nvPr/>
        </p:nvSpPr>
        <p:spPr>
          <a:xfrm>
            <a:off x="713232" y="1261872"/>
            <a:ext cx="585216" cy="502920"/>
          </a:xfrm>
          <a:prstGeom prst="rect">
            <a:avLst/>
          </a:prstGeom>
          <a:noFill/>
          <a:ln/>
        </p:spPr>
        <p:txBody>
          <a:bodyPr wrap="square"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63040" y="1152144"/>
            <a:ext cx="7178040" cy="320040"/>
          </a:xfrm>
          <a:prstGeom prst="rect">
            <a:avLst/>
          </a:prstGeom>
          <a:noFill/>
          <a:ln/>
        </p:spPr>
        <p:txBody>
          <a:bodyPr wrap="square" rtlCol="0" anchor="ctr"/>
          <a:lstStyle/>
          <a:p>
            <a:pPr marL="0" indent="0">
              <a:buNone/>
            </a:pPr>
            <a:r>
              <a:rPr lang="en-US" sz="1400" b="1" dirty="0">
                <a:solidFill>
                  <a:srgbClr val="F9FAFB"/>
                </a:solidFill>
                <a:latin typeface="Calibri" pitchFamily="34" charset="0"/>
                <a:ea typeface="Calibri" pitchFamily="34" charset="-122"/>
                <a:cs typeface="Calibri" pitchFamily="34" charset="-120"/>
              </a:rPr>
              <a:t>Enable VPC Flow Logs / VNet Flow Logs, everywhere</a:t>
            </a:r>
            <a:endParaRPr lang="en-US" sz="1400" dirty="0"/>
          </a:p>
        </p:txBody>
      </p:sp>
      <p:sp>
        <p:nvSpPr>
          <p:cNvPr id="8" name="Text 6"/>
          <p:cNvSpPr/>
          <p:nvPr/>
        </p:nvSpPr>
        <p:spPr>
          <a:xfrm>
            <a:off x="1463040" y="1499616"/>
            <a:ext cx="7178040" cy="384048"/>
          </a:xfrm>
          <a:prstGeom prst="rect">
            <a:avLst/>
          </a:prstGeom>
          <a:noFill/>
          <a:ln/>
        </p:spPr>
        <p:txBody>
          <a:bodyPr wrap="square" rtlCol="0" anchor="ctr"/>
          <a:lstStyle/>
          <a:p>
            <a:pPr marL="0" indent="0">
              <a:buNone/>
            </a:pPr>
            <a:r>
              <a:rPr lang="en-US" sz="1100" dirty="0">
                <a:solidFill>
                  <a:srgbClr val="9CA3AF"/>
                </a:solidFill>
                <a:latin typeface="Calibri" pitchFamily="34" charset="0"/>
                <a:ea typeface="Calibri" pitchFamily="34" charset="-122"/>
                <a:cs typeface="Calibri" pitchFamily="34" charset="-120"/>
              </a:rPr>
              <a:t>All VPCs, all subnets. AWS: version 3+ (includes TCP flags, traffic type). Log to S3. Retain ≥ 90 days. Don't sample, full capture. If they're not on in non-prod, attackers test there.</a:t>
            </a:r>
            <a:endParaRPr lang="en-US" sz="1100" dirty="0"/>
          </a:p>
        </p:txBody>
      </p:sp>
      <p:sp>
        <p:nvSpPr>
          <p:cNvPr id="9" name="Shape 7"/>
          <p:cNvSpPr/>
          <p:nvPr/>
        </p:nvSpPr>
        <p:spPr>
          <a:xfrm>
            <a:off x="502920" y="2057400"/>
            <a:ext cx="8321040" cy="841248"/>
          </a:xfrm>
          <a:prstGeom prst="rect">
            <a:avLst/>
          </a:prstGeom>
          <a:solidFill>
            <a:srgbClr val="111827"/>
          </a:solidFill>
          <a:ln w="12700">
            <a:solidFill>
              <a:srgbClr val="374151"/>
            </a:solidFill>
            <a:prstDash val="solid"/>
          </a:ln>
        </p:spPr>
        <p:txBody>
          <a:bodyPr/>
          <a:lstStyle/>
          <a:p>
            <a:endParaRPr lang="en-US"/>
          </a:p>
        </p:txBody>
      </p:sp>
      <p:sp>
        <p:nvSpPr>
          <p:cNvPr id="10" name="Shape 8"/>
          <p:cNvSpPr/>
          <p:nvPr/>
        </p:nvSpPr>
        <p:spPr>
          <a:xfrm>
            <a:off x="713232" y="2185416"/>
            <a:ext cx="585216" cy="585216"/>
          </a:xfrm>
          <a:prstGeom prst="ellipse">
            <a:avLst/>
          </a:prstGeom>
          <a:solidFill>
            <a:srgbClr val="14B8A6"/>
          </a:solidFill>
          <a:ln w="12700">
            <a:solidFill>
              <a:srgbClr val="14B8A6"/>
            </a:solidFill>
            <a:prstDash val="solid"/>
          </a:ln>
        </p:spPr>
        <p:txBody>
          <a:bodyPr/>
          <a:lstStyle/>
          <a:p>
            <a:endParaRPr lang="en-US"/>
          </a:p>
        </p:txBody>
      </p:sp>
      <p:sp>
        <p:nvSpPr>
          <p:cNvPr id="11" name="Text 9"/>
          <p:cNvSpPr/>
          <p:nvPr/>
        </p:nvSpPr>
        <p:spPr>
          <a:xfrm>
            <a:off x="713232" y="2221992"/>
            <a:ext cx="585216" cy="502920"/>
          </a:xfrm>
          <a:prstGeom prst="rect">
            <a:avLst/>
          </a:prstGeom>
          <a:noFill/>
          <a:ln/>
        </p:spPr>
        <p:txBody>
          <a:bodyPr wrap="square"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2112264"/>
            <a:ext cx="7178040" cy="320040"/>
          </a:xfrm>
          <a:prstGeom prst="rect">
            <a:avLst/>
          </a:prstGeom>
          <a:noFill/>
          <a:ln/>
        </p:spPr>
        <p:txBody>
          <a:bodyPr wrap="square" rtlCol="0" anchor="ctr"/>
          <a:lstStyle/>
          <a:p>
            <a:pPr marL="0" indent="0">
              <a:buNone/>
            </a:pPr>
            <a:r>
              <a:rPr lang="en-US" sz="1400" b="1" dirty="0">
                <a:solidFill>
                  <a:srgbClr val="F9FAFB"/>
                </a:solidFill>
                <a:latin typeface="Calibri" pitchFamily="34" charset="0"/>
                <a:ea typeface="Calibri" pitchFamily="34" charset="-122"/>
                <a:cs typeface="Calibri" pitchFamily="34" charset="-120"/>
              </a:rPr>
              <a:t>Query for uninspected paths</a:t>
            </a:r>
            <a:endParaRPr lang="en-US" sz="1400" dirty="0"/>
          </a:p>
        </p:txBody>
      </p:sp>
      <p:sp>
        <p:nvSpPr>
          <p:cNvPr id="13" name="Text 11"/>
          <p:cNvSpPr/>
          <p:nvPr/>
        </p:nvSpPr>
        <p:spPr>
          <a:xfrm>
            <a:off x="1463040" y="2459736"/>
            <a:ext cx="7178040" cy="384048"/>
          </a:xfrm>
          <a:prstGeom prst="rect">
            <a:avLst/>
          </a:prstGeom>
          <a:noFill/>
          <a:ln/>
        </p:spPr>
        <p:txBody>
          <a:bodyPr wrap="square" rtlCol="0" anchor="ctr"/>
          <a:lstStyle/>
          <a:p>
            <a:pPr marL="0" indent="0">
              <a:buNone/>
            </a:pPr>
            <a:r>
              <a:rPr lang="en-US" sz="1100" dirty="0">
                <a:solidFill>
                  <a:srgbClr val="9CA3AF"/>
                </a:solidFill>
                <a:latin typeface="Calibri" pitchFamily="34" charset="0"/>
                <a:ea typeface="Calibri" pitchFamily="34" charset="-122"/>
                <a:cs typeface="Calibri" pitchFamily="34" charset="-120"/>
              </a:rPr>
              <a:t>Look for ACCEPT traffic between subnets that does NOT route through a firewall subnet. Flag unexpected intra-VPC ACCEPT flows on non-standard ports. High volume between two workloads that shouldn't communicate = lateral movement candidate.</a:t>
            </a:r>
            <a:endParaRPr lang="en-US" sz="1100" dirty="0"/>
          </a:p>
        </p:txBody>
      </p:sp>
      <p:sp>
        <p:nvSpPr>
          <p:cNvPr id="14" name="Shape 12"/>
          <p:cNvSpPr/>
          <p:nvPr/>
        </p:nvSpPr>
        <p:spPr>
          <a:xfrm>
            <a:off x="502920" y="3017520"/>
            <a:ext cx="8321040" cy="841248"/>
          </a:xfrm>
          <a:prstGeom prst="rect">
            <a:avLst/>
          </a:prstGeom>
          <a:solidFill>
            <a:srgbClr val="1F2937"/>
          </a:solidFill>
          <a:ln w="12700">
            <a:solidFill>
              <a:srgbClr val="374151"/>
            </a:solidFill>
            <a:prstDash val="solid"/>
          </a:ln>
        </p:spPr>
        <p:txBody>
          <a:bodyPr/>
          <a:lstStyle/>
          <a:p>
            <a:endParaRPr lang="en-US"/>
          </a:p>
        </p:txBody>
      </p:sp>
      <p:sp>
        <p:nvSpPr>
          <p:cNvPr id="15" name="Shape 13"/>
          <p:cNvSpPr/>
          <p:nvPr/>
        </p:nvSpPr>
        <p:spPr>
          <a:xfrm>
            <a:off x="713232" y="3145536"/>
            <a:ext cx="585216" cy="585216"/>
          </a:xfrm>
          <a:prstGeom prst="ellipse">
            <a:avLst/>
          </a:prstGeom>
          <a:solidFill>
            <a:srgbClr val="EAB308"/>
          </a:solidFill>
          <a:ln w="12700">
            <a:solidFill>
              <a:srgbClr val="EAB308"/>
            </a:solidFill>
            <a:prstDash val="solid"/>
          </a:ln>
        </p:spPr>
        <p:txBody>
          <a:bodyPr/>
          <a:lstStyle/>
          <a:p>
            <a:endParaRPr lang="en-US"/>
          </a:p>
        </p:txBody>
      </p:sp>
      <p:sp>
        <p:nvSpPr>
          <p:cNvPr id="16" name="Text 14"/>
          <p:cNvSpPr/>
          <p:nvPr/>
        </p:nvSpPr>
        <p:spPr>
          <a:xfrm>
            <a:off x="713232" y="3182112"/>
            <a:ext cx="585216" cy="502920"/>
          </a:xfrm>
          <a:prstGeom prst="rect">
            <a:avLst/>
          </a:prstGeom>
          <a:noFill/>
          <a:ln/>
        </p:spPr>
        <p:txBody>
          <a:bodyPr wrap="square"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3072384"/>
            <a:ext cx="7178040" cy="320040"/>
          </a:xfrm>
          <a:prstGeom prst="rect">
            <a:avLst/>
          </a:prstGeom>
          <a:noFill/>
          <a:ln/>
        </p:spPr>
        <p:txBody>
          <a:bodyPr wrap="square" rtlCol="0" anchor="ctr"/>
          <a:lstStyle/>
          <a:p>
            <a:pPr marL="0" indent="0">
              <a:buNone/>
            </a:pPr>
            <a:r>
              <a:rPr lang="en-US" sz="1400" b="1" dirty="0">
                <a:solidFill>
                  <a:srgbClr val="F9FAFB"/>
                </a:solidFill>
                <a:latin typeface="Calibri" pitchFamily="34" charset="0"/>
                <a:ea typeface="Calibri" pitchFamily="34" charset="-122"/>
                <a:cs typeface="Calibri" pitchFamily="34" charset="-120"/>
              </a:rPr>
              <a:t>Cross-reference SD-WAN analytics vs. flow logs</a:t>
            </a:r>
            <a:endParaRPr lang="en-US" sz="1400" dirty="0"/>
          </a:p>
        </p:txBody>
      </p:sp>
      <p:sp>
        <p:nvSpPr>
          <p:cNvPr id="18" name="Text 16"/>
          <p:cNvSpPr/>
          <p:nvPr/>
        </p:nvSpPr>
        <p:spPr>
          <a:xfrm>
            <a:off x="1463040" y="3419856"/>
            <a:ext cx="7178040" cy="384048"/>
          </a:xfrm>
          <a:prstGeom prst="rect">
            <a:avLst/>
          </a:prstGeom>
          <a:noFill/>
          <a:ln/>
        </p:spPr>
        <p:txBody>
          <a:bodyPr wrap="square" rtlCol="0" anchor="ctr"/>
          <a:lstStyle/>
          <a:p>
            <a:pPr marL="0" indent="0">
              <a:buNone/>
            </a:pPr>
            <a:r>
              <a:rPr lang="en-US" sz="1100" dirty="0">
                <a:solidFill>
                  <a:srgbClr val="9CA3AF"/>
                </a:solidFill>
                <a:latin typeface="Calibri" pitchFamily="34" charset="0"/>
                <a:ea typeface="Calibri" pitchFamily="34" charset="-122"/>
                <a:cs typeface="Calibri" pitchFamily="34" charset="-120"/>
              </a:rPr>
              <a:t>Pull SD-WAN path reports for critical apps. If SDWAN says 'tunneled' but flow logs show direct traffic from branch source IPs, routing is broken. This is the split-brain test.</a:t>
            </a:r>
            <a:endParaRPr lang="en-US" sz="1100" dirty="0"/>
          </a:p>
        </p:txBody>
      </p:sp>
      <p:sp>
        <p:nvSpPr>
          <p:cNvPr id="19" name="Shape 17"/>
          <p:cNvSpPr/>
          <p:nvPr/>
        </p:nvSpPr>
        <p:spPr>
          <a:xfrm>
            <a:off x="502920" y="3977640"/>
            <a:ext cx="8321040" cy="841248"/>
          </a:xfrm>
          <a:prstGeom prst="rect">
            <a:avLst/>
          </a:prstGeom>
          <a:solidFill>
            <a:srgbClr val="111827"/>
          </a:solidFill>
          <a:ln w="12700">
            <a:solidFill>
              <a:srgbClr val="374151"/>
            </a:solidFill>
            <a:prstDash val="solid"/>
          </a:ln>
        </p:spPr>
        <p:txBody>
          <a:bodyPr/>
          <a:lstStyle/>
          <a:p>
            <a:endParaRPr lang="en-US"/>
          </a:p>
        </p:txBody>
      </p:sp>
      <p:sp>
        <p:nvSpPr>
          <p:cNvPr id="20" name="Shape 18"/>
          <p:cNvSpPr/>
          <p:nvPr/>
        </p:nvSpPr>
        <p:spPr>
          <a:xfrm>
            <a:off x="713232" y="4105656"/>
            <a:ext cx="585216" cy="585216"/>
          </a:xfrm>
          <a:prstGeom prst="ellipse">
            <a:avLst/>
          </a:prstGeom>
          <a:solidFill>
            <a:srgbClr val="22C55E"/>
          </a:solidFill>
          <a:ln w="12700">
            <a:solidFill>
              <a:srgbClr val="22C55E"/>
            </a:solidFill>
            <a:prstDash val="solid"/>
          </a:ln>
        </p:spPr>
        <p:txBody>
          <a:bodyPr/>
          <a:lstStyle/>
          <a:p>
            <a:endParaRPr lang="en-US"/>
          </a:p>
        </p:txBody>
      </p:sp>
      <p:sp>
        <p:nvSpPr>
          <p:cNvPr id="21" name="Text 19"/>
          <p:cNvSpPr/>
          <p:nvPr/>
        </p:nvSpPr>
        <p:spPr>
          <a:xfrm>
            <a:off x="713232" y="4142232"/>
            <a:ext cx="585216" cy="502920"/>
          </a:xfrm>
          <a:prstGeom prst="rect">
            <a:avLst/>
          </a:prstGeom>
          <a:noFill/>
          <a:ln/>
        </p:spPr>
        <p:txBody>
          <a:bodyPr wrap="square"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463040" y="4032504"/>
            <a:ext cx="7178040" cy="320040"/>
          </a:xfrm>
          <a:prstGeom prst="rect">
            <a:avLst/>
          </a:prstGeom>
          <a:noFill/>
          <a:ln/>
        </p:spPr>
        <p:txBody>
          <a:bodyPr wrap="square" rtlCol="0" anchor="ctr"/>
          <a:lstStyle/>
          <a:p>
            <a:pPr marL="0" indent="0">
              <a:buNone/>
            </a:pPr>
            <a:r>
              <a:rPr lang="en-US" sz="1400" b="1" dirty="0">
                <a:solidFill>
                  <a:srgbClr val="F9FAFB"/>
                </a:solidFill>
                <a:latin typeface="Calibri" pitchFamily="34" charset="0"/>
                <a:ea typeface="Calibri" pitchFamily="34" charset="-122"/>
                <a:cs typeface="Calibri" pitchFamily="34" charset="-120"/>
              </a:rPr>
              <a:t>Audit security group rules and WAF coverage</a:t>
            </a:r>
            <a:endParaRPr lang="en-US" sz="1400" dirty="0"/>
          </a:p>
        </p:txBody>
      </p:sp>
      <p:sp>
        <p:nvSpPr>
          <p:cNvPr id="23" name="Text 21"/>
          <p:cNvSpPr/>
          <p:nvPr/>
        </p:nvSpPr>
        <p:spPr>
          <a:xfrm>
            <a:off x="1463040" y="4379976"/>
            <a:ext cx="7178040" cy="384048"/>
          </a:xfrm>
          <a:prstGeom prst="rect">
            <a:avLst/>
          </a:prstGeom>
          <a:noFill/>
          <a:ln/>
        </p:spPr>
        <p:txBody>
          <a:bodyPr wrap="square" rtlCol="0" anchor="ctr"/>
          <a:lstStyle/>
          <a:p>
            <a:pPr marL="0" indent="0">
              <a:buNone/>
            </a:pPr>
            <a:r>
              <a:rPr lang="en-US" sz="1100" dirty="0">
                <a:solidFill>
                  <a:srgbClr val="9CA3AF"/>
                </a:solidFill>
                <a:latin typeface="Calibri" pitchFamily="34" charset="0"/>
                <a:ea typeface="Calibri" pitchFamily="34" charset="-122"/>
                <a:cs typeface="Calibri" pitchFamily="34" charset="-120"/>
              </a:rPr>
              <a:t>AWS Access Analyzer, Azure Network Watcher IP Flow Verify, GCP Firewall Insights. Flag all 0.0.0.0/0 inbound immediately. Check every public ALB for an attached Web ACL. Check every public subnet workload for a public IP.</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56032"/>
            <a:ext cx="8321040" cy="438912"/>
          </a:xfrm>
          <a:prstGeom prst="rect">
            <a:avLst/>
          </a:prstGeom>
          <a:noFill/>
          <a:ln/>
        </p:spPr>
        <p:txBody>
          <a:bodyPr wrap="square" rtlCol="0" anchor="ctr"/>
          <a:lstStyle/>
          <a:p>
            <a:pPr marL="0" indent="0">
              <a:buNone/>
            </a:pPr>
            <a:r>
              <a:rPr lang="en-US" sz="2200" b="1" dirty="0">
                <a:solidFill>
                  <a:srgbClr val="F9FAFB"/>
                </a:solidFill>
                <a:latin typeface="Calibri" pitchFamily="34" charset="0"/>
                <a:ea typeface="Calibri" pitchFamily="34" charset="-122"/>
                <a:cs typeface="Calibri" pitchFamily="34" charset="-120"/>
              </a:rPr>
              <a:t>5 Misconfigurations to Check This Week</a:t>
            </a:r>
            <a:endParaRPr lang="en-US" sz="2200" dirty="0"/>
          </a:p>
        </p:txBody>
      </p:sp>
      <p:sp>
        <p:nvSpPr>
          <p:cNvPr id="3" name="Text 1"/>
          <p:cNvSpPr/>
          <p:nvPr/>
        </p:nvSpPr>
        <p:spPr>
          <a:xfrm>
            <a:off x="502920" y="694944"/>
            <a:ext cx="8321040" cy="274320"/>
          </a:xfrm>
          <a:prstGeom prst="rect">
            <a:avLst/>
          </a:prstGeom>
          <a:noFill/>
          <a:ln/>
        </p:spPr>
        <p:txBody>
          <a:bodyPr wrap="square" rtlCol="0" anchor="ctr"/>
          <a:lstStyle/>
          <a:p>
            <a:pPr marL="0" indent="0">
              <a:buNone/>
            </a:pPr>
            <a:r>
              <a:rPr lang="en-US" sz="1300" i="1" dirty="0">
                <a:solidFill>
                  <a:srgbClr val="9CA3AF"/>
                </a:solidFill>
                <a:latin typeface="Calibri" pitchFamily="34" charset="0"/>
                <a:ea typeface="Calibri" pitchFamily="34" charset="-122"/>
                <a:cs typeface="Calibri" pitchFamily="34" charset="-120"/>
              </a:rPr>
              <a:t>Found in nearly every hybrid environment. In this order.</a:t>
            </a:r>
            <a:endParaRPr lang="en-US" sz="1300" dirty="0"/>
          </a:p>
        </p:txBody>
      </p:sp>
      <p:sp>
        <p:nvSpPr>
          <p:cNvPr id="4" name="Shape 2"/>
          <p:cNvSpPr/>
          <p:nvPr/>
        </p:nvSpPr>
        <p:spPr>
          <a:xfrm>
            <a:off x="502920" y="1060704"/>
            <a:ext cx="8321040" cy="694944"/>
          </a:xfrm>
          <a:prstGeom prst="rect">
            <a:avLst/>
          </a:prstGeom>
          <a:solidFill>
            <a:srgbClr val="1F2937"/>
          </a:solidFill>
          <a:ln w="12700">
            <a:solidFill>
              <a:srgbClr val="374151"/>
            </a:solidFill>
            <a:prstDash val="solid"/>
          </a:ln>
        </p:spPr>
        <p:txBody>
          <a:bodyPr/>
          <a:lstStyle/>
          <a:p>
            <a:endParaRPr lang="en-US"/>
          </a:p>
        </p:txBody>
      </p:sp>
      <p:sp>
        <p:nvSpPr>
          <p:cNvPr id="5" name="Text 3"/>
          <p:cNvSpPr/>
          <p:nvPr/>
        </p:nvSpPr>
        <p:spPr>
          <a:xfrm>
            <a:off x="594360" y="1060704"/>
            <a:ext cx="548640" cy="694944"/>
          </a:xfrm>
          <a:prstGeom prst="rect">
            <a:avLst/>
          </a:prstGeom>
          <a:noFill/>
          <a:ln/>
        </p:spPr>
        <p:txBody>
          <a:bodyPr wrap="square" rtlCol="0" anchor="ctr"/>
          <a:lstStyle/>
          <a:p>
            <a:pPr marL="0" indent="0" algn="ctr">
              <a:buNone/>
            </a:pPr>
            <a:r>
              <a:rPr lang="en-US" sz="1600" b="1" dirty="0">
                <a:solidFill>
                  <a:srgbClr val="EF4444"/>
                </a:solidFill>
                <a:latin typeface="Calibri" pitchFamily="34" charset="0"/>
                <a:ea typeface="Calibri" pitchFamily="34" charset="-122"/>
                <a:cs typeface="Calibri" pitchFamily="34" charset="-120"/>
              </a:rPr>
              <a:t>01</a:t>
            </a:r>
            <a:endParaRPr lang="en-US" sz="1600" dirty="0"/>
          </a:p>
        </p:txBody>
      </p:sp>
      <p:sp>
        <p:nvSpPr>
          <p:cNvPr id="6" name="Shape 4"/>
          <p:cNvSpPr/>
          <p:nvPr/>
        </p:nvSpPr>
        <p:spPr>
          <a:xfrm>
            <a:off x="8229600" y="1243584"/>
            <a:ext cx="502920" cy="274320"/>
          </a:xfrm>
          <a:prstGeom prst="rect">
            <a:avLst/>
          </a:prstGeom>
          <a:solidFill>
            <a:srgbClr val="2D0A0A"/>
          </a:solidFill>
          <a:ln w="12700">
            <a:solidFill>
              <a:srgbClr val="EF4444"/>
            </a:solidFill>
            <a:prstDash val="solid"/>
          </a:ln>
        </p:spPr>
        <p:txBody>
          <a:bodyPr/>
          <a:lstStyle/>
          <a:p>
            <a:endParaRPr lang="en-US"/>
          </a:p>
        </p:txBody>
      </p:sp>
      <p:sp>
        <p:nvSpPr>
          <p:cNvPr id="7" name="Text 5"/>
          <p:cNvSpPr/>
          <p:nvPr/>
        </p:nvSpPr>
        <p:spPr>
          <a:xfrm>
            <a:off x="8229600" y="1243584"/>
            <a:ext cx="502920" cy="274320"/>
          </a:xfrm>
          <a:prstGeom prst="rect">
            <a:avLst/>
          </a:prstGeom>
          <a:noFill/>
          <a:ln/>
        </p:spPr>
        <p:txBody>
          <a:bodyPr wrap="square" rtlCol="0" anchor="ctr"/>
          <a:lstStyle/>
          <a:p>
            <a:pPr marL="0" indent="0" algn="ctr">
              <a:buNone/>
            </a:pPr>
            <a:r>
              <a:rPr lang="en-US" sz="850" b="1" dirty="0">
                <a:solidFill>
                  <a:srgbClr val="EF4444"/>
                </a:solidFill>
                <a:latin typeface="Calibri" pitchFamily="34" charset="0"/>
                <a:ea typeface="Calibri" pitchFamily="34" charset="-122"/>
                <a:cs typeface="Calibri" pitchFamily="34" charset="-120"/>
              </a:rPr>
              <a:t>CRITICAL</a:t>
            </a:r>
            <a:endParaRPr lang="en-US" sz="850" dirty="0"/>
          </a:p>
        </p:txBody>
      </p:sp>
      <p:sp>
        <p:nvSpPr>
          <p:cNvPr id="8" name="Text 6"/>
          <p:cNvSpPr/>
          <p:nvPr/>
        </p:nvSpPr>
        <p:spPr>
          <a:xfrm>
            <a:off x="1234440" y="1115568"/>
            <a:ext cx="6858000" cy="274320"/>
          </a:xfrm>
          <a:prstGeom prst="rect">
            <a:avLst/>
          </a:prstGeom>
          <a:noFill/>
          <a:ln/>
        </p:spPr>
        <p:txBody>
          <a:bodyPr wrap="square" rtlCol="0" anchor="ctr"/>
          <a:lstStyle/>
          <a:p>
            <a:pPr marL="0" indent="0">
              <a:buNone/>
            </a:pPr>
            <a:r>
              <a:rPr lang="en-US" sz="1350" b="1" dirty="0">
                <a:solidFill>
                  <a:srgbClr val="F9FAFB"/>
                </a:solidFill>
                <a:latin typeface="Calibri" pitchFamily="34" charset="0"/>
                <a:ea typeface="Calibri" pitchFamily="34" charset="-122"/>
                <a:cs typeface="Calibri" pitchFamily="34" charset="-120"/>
              </a:rPr>
              <a:t>0.0.0.0/0 on inbound security group rules</a:t>
            </a:r>
            <a:endParaRPr lang="en-US" sz="1350" dirty="0"/>
          </a:p>
        </p:txBody>
      </p:sp>
      <p:sp>
        <p:nvSpPr>
          <p:cNvPr id="9" name="Text 7"/>
          <p:cNvSpPr/>
          <p:nvPr/>
        </p:nvSpPr>
        <p:spPr>
          <a:xfrm>
            <a:off x="1234440" y="1426464"/>
            <a:ext cx="6858000" cy="274320"/>
          </a:xfrm>
          <a:prstGeom prst="rect">
            <a:avLst/>
          </a:prstGeom>
          <a:noFill/>
          <a:ln/>
        </p:spPr>
        <p:txBody>
          <a:bodyPr wrap="square"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xml:space="preserve">Fix: </a:t>
            </a:r>
            <a:r>
              <a:rPr lang="en-US" sz="1100" dirty="0">
                <a:solidFill>
                  <a:srgbClr val="9CA3AF"/>
                </a:solidFill>
                <a:latin typeface="Calibri" pitchFamily="34" charset="0"/>
                <a:ea typeface="Calibri" pitchFamily="34" charset="-122"/>
                <a:cs typeface="Calibri" pitchFamily="34" charset="-120"/>
              </a:rPr>
              <a:t>Scope to specific source IPs or security groups. Set up AWS Config rule 'restricted-common-ports'. If it's 'temporary', it's permanent, schedule a review.</a:t>
            </a:r>
            <a:endParaRPr lang="en-US" sz="1100" dirty="0"/>
          </a:p>
        </p:txBody>
      </p:sp>
      <p:sp>
        <p:nvSpPr>
          <p:cNvPr id="10" name="Shape 8"/>
          <p:cNvSpPr/>
          <p:nvPr/>
        </p:nvSpPr>
        <p:spPr>
          <a:xfrm>
            <a:off x="502920" y="1847088"/>
            <a:ext cx="8321040" cy="694944"/>
          </a:xfrm>
          <a:prstGeom prst="rect">
            <a:avLst/>
          </a:prstGeom>
          <a:solidFill>
            <a:srgbClr val="111827"/>
          </a:solidFill>
          <a:ln w="12700">
            <a:solidFill>
              <a:srgbClr val="374151"/>
            </a:solidFill>
            <a:prstDash val="solid"/>
          </a:ln>
        </p:spPr>
        <p:txBody>
          <a:bodyPr/>
          <a:lstStyle/>
          <a:p>
            <a:endParaRPr lang="en-US"/>
          </a:p>
        </p:txBody>
      </p:sp>
      <p:sp>
        <p:nvSpPr>
          <p:cNvPr id="11" name="Text 9"/>
          <p:cNvSpPr/>
          <p:nvPr/>
        </p:nvSpPr>
        <p:spPr>
          <a:xfrm>
            <a:off x="594360" y="1847088"/>
            <a:ext cx="548640" cy="694944"/>
          </a:xfrm>
          <a:prstGeom prst="rect">
            <a:avLst/>
          </a:prstGeom>
          <a:noFill/>
          <a:ln/>
        </p:spPr>
        <p:txBody>
          <a:bodyPr wrap="square" rtlCol="0" anchor="ctr"/>
          <a:lstStyle/>
          <a:p>
            <a:pPr marL="0" indent="0" algn="ctr">
              <a:buNone/>
            </a:pPr>
            <a:r>
              <a:rPr lang="en-US" sz="1600" b="1" dirty="0">
                <a:solidFill>
                  <a:srgbClr val="EF4444"/>
                </a:solidFill>
                <a:latin typeface="Calibri" pitchFamily="34" charset="0"/>
                <a:ea typeface="Calibri" pitchFamily="34" charset="-122"/>
                <a:cs typeface="Calibri" pitchFamily="34" charset="-120"/>
              </a:rPr>
              <a:t>02</a:t>
            </a:r>
            <a:endParaRPr lang="en-US" sz="1600" dirty="0"/>
          </a:p>
        </p:txBody>
      </p:sp>
      <p:sp>
        <p:nvSpPr>
          <p:cNvPr id="12" name="Shape 10"/>
          <p:cNvSpPr/>
          <p:nvPr/>
        </p:nvSpPr>
        <p:spPr>
          <a:xfrm>
            <a:off x="8229600" y="2029968"/>
            <a:ext cx="502920" cy="274320"/>
          </a:xfrm>
          <a:prstGeom prst="rect">
            <a:avLst/>
          </a:prstGeom>
          <a:solidFill>
            <a:srgbClr val="2D0A0A"/>
          </a:solidFill>
          <a:ln w="12700">
            <a:solidFill>
              <a:srgbClr val="EF4444"/>
            </a:solidFill>
            <a:prstDash val="solid"/>
          </a:ln>
        </p:spPr>
        <p:txBody>
          <a:bodyPr/>
          <a:lstStyle/>
          <a:p>
            <a:endParaRPr lang="en-US"/>
          </a:p>
        </p:txBody>
      </p:sp>
      <p:sp>
        <p:nvSpPr>
          <p:cNvPr id="13" name="Text 11"/>
          <p:cNvSpPr/>
          <p:nvPr/>
        </p:nvSpPr>
        <p:spPr>
          <a:xfrm>
            <a:off x="8229600" y="2029968"/>
            <a:ext cx="502920" cy="274320"/>
          </a:xfrm>
          <a:prstGeom prst="rect">
            <a:avLst/>
          </a:prstGeom>
          <a:noFill/>
          <a:ln/>
        </p:spPr>
        <p:txBody>
          <a:bodyPr wrap="square" rtlCol="0" anchor="ctr"/>
          <a:lstStyle/>
          <a:p>
            <a:pPr marL="0" indent="0" algn="ctr">
              <a:buNone/>
            </a:pPr>
            <a:r>
              <a:rPr lang="en-US" sz="850" b="1" dirty="0">
                <a:solidFill>
                  <a:srgbClr val="EF4444"/>
                </a:solidFill>
                <a:latin typeface="Calibri" pitchFamily="34" charset="0"/>
                <a:ea typeface="Calibri" pitchFamily="34" charset="-122"/>
                <a:cs typeface="Calibri" pitchFamily="34" charset="-120"/>
              </a:rPr>
              <a:t>HIGH</a:t>
            </a:r>
            <a:endParaRPr lang="en-US" sz="850" dirty="0"/>
          </a:p>
        </p:txBody>
      </p:sp>
      <p:sp>
        <p:nvSpPr>
          <p:cNvPr id="14" name="Text 12"/>
          <p:cNvSpPr/>
          <p:nvPr/>
        </p:nvSpPr>
        <p:spPr>
          <a:xfrm>
            <a:off x="1234440" y="1901952"/>
            <a:ext cx="6858000" cy="274320"/>
          </a:xfrm>
          <a:prstGeom prst="rect">
            <a:avLst/>
          </a:prstGeom>
          <a:noFill/>
          <a:ln/>
        </p:spPr>
        <p:txBody>
          <a:bodyPr wrap="square" rtlCol="0" anchor="ctr"/>
          <a:lstStyle/>
          <a:p>
            <a:pPr marL="0" indent="0">
              <a:buNone/>
            </a:pPr>
            <a:r>
              <a:rPr lang="en-US" sz="1350" b="1" dirty="0">
                <a:solidFill>
                  <a:srgbClr val="F9FAFB"/>
                </a:solidFill>
                <a:latin typeface="Calibri" pitchFamily="34" charset="0"/>
                <a:ea typeface="Calibri" pitchFamily="34" charset="-122"/>
                <a:cs typeface="Calibri" pitchFamily="34" charset="-120"/>
              </a:rPr>
              <a:t>No east-west inspection between subnets in multi-tier VPCs</a:t>
            </a:r>
            <a:endParaRPr lang="en-US" sz="1350" dirty="0"/>
          </a:p>
        </p:txBody>
      </p:sp>
      <p:sp>
        <p:nvSpPr>
          <p:cNvPr id="15" name="Text 13"/>
          <p:cNvSpPr/>
          <p:nvPr/>
        </p:nvSpPr>
        <p:spPr>
          <a:xfrm>
            <a:off x="1234440" y="2212848"/>
            <a:ext cx="6858000" cy="274320"/>
          </a:xfrm>
          <a:prstGeom prst="rect">
            <a:avLst/>
          </a:prstGeom>
          <a:noFill/>
          <a:ln/>
        </p:spPr>
        <p:txBody>
          <a:bodyPr wrap="square"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xml:space="preserve">Fix: </a:t>
            </a:r>
            <a:r>
              <a:rPr lang="en-US" sz="1100" dirty="0">
                <a:solidFill>
                  <a:srgbClr val="9CA3AF"/>
                </a:solidFill>
                <a:latin typeface="Calibri" pitchFamily="34" charset="0"/>
                <a:ea typeface="Calibri" pitchFamily="34" charset="-122"/>
                <a:cs typeface="Calibri" pitchFamily="34" charset="-120"/>
              </a:rPr>
              <a:t>Deploy AWS Network Firewall or NVA in an inspection VPC. Update Transit Gateway route tables to force all cross-subnet traffic through it.</a:t>
            </a:r>
            <a:endParaRPr lang="en-US" sz="1100" dirty="0"/>
          </a:p>
        </p:txBody>
      </p:sp>
      <p:sp>
        <p:nvSpPr>
          <p:cNvPr id="16" name="Shape 14"/>
          <p:cNvSpPr/>
          <p:nvPr/>
        </p:nvSpPr>
        <p:spPr>
          <a:xfrm>
            <a:off x="502920" y="2633472"/>
            <a:ext cx="8321040" cy="694944"/>
          </a:xfrm>
          <a:prstGeom prst="rect">
            <a:avLst/>
          </a:prstGeom>
          <a:solidFill>
            <a:srgbClr val="1F2937"/>
          </a:solidFill>
          <a:ln w="12700">
            <a:solidFill>
              <a:srgbClr val="374151"/>
            </a:solidFill>
            <a:prstDash val="solid"/>
          </a:ln>
        </p:spPr>
        <p:txBody>
          <a:bodyPr/>
          <a:lstStyle/>
          <a:p>
            <a:endParaRPr lang="en-US"/>
          </a:p>
        </p:txBody>
      </p:sp>
      <p:sp>
        <p:nvSpPr>
          <p:cNvPr id="17" name="Text 15"/>
          <p:cNvSpPr/>
          <p:nvPr/>
        </p:nvSpPr>
        <p:spPr>
          <a:xfrm>
            <a:off x="594360" y="2633472"/>
            <a:ext cx="548640" cy="694944"/>
          </a:xfrm>
          <a:prstGeom prst="rect">
            <a:avLst/>
          </a:prstGeom>
          <a:noFill/>
          <a:ln/>
        </p:spPr>
        <p:txBody>
          <a:bodyPr wrap="square" rtlCol="0" anchor="ctr"/>
          <a:lstStyle/>
          <a:p>
            <a:pPr marL="0" indent="0" algn="ctr">
              <a:buNone/>
            </a:pPr>
            <a:r>
              <a:rPr lang="en-US" sz="1600" b="1" dirty="0">
                <a:solidFill>
                  <a:srgbClr val="EAB308"/>
                </a:solidFill>
                <a:latin typeface="Calibri" pitchFamily="34" charset="0"/>
                <a:ea typeface="Calibri" pitchFamily="34" charset="-122"/>
                <a:cs typeface="Calibri" pitchFamily="34" charset="-120"/>
              </a:rPr>
              <a:t>03</a:t>
            </a:r>
            <a:endParaRPr lang="en-US" sz="1600" dirty="0"/>
          </a:p>
        </p:txBody>
      </p:sp>
      <p:sp>
        <p:nvSpPr>
          <p:cNvPr id="18" name="Shape 16"/>
          <p:cNvSpPr/>
          <p:nvPr/>
        </p:nvSpPr>
        <p:spPr>
          <a:xfrm>
            <a:off x="8229600" y="2816352"/>
            <a:ext cx="502920" cy="274320"/>
          </a:xfrm>
          <a:prstGeom prst="rect">
            <a:avLst/>
          </a:prstGeom>
          <a:solidFill>
            <a:srgbClr val="052E16"/>
          </a:solidFill>
          <a:ln w="12700">
            <a:solidFill>
              <a:srgbClr val="EAB308"/>
            </a:solidFill>
            <a:prstDash val="solid"/>
          </a:ln>
        </p:spPr>
        <p:txBody>
          <a:bodyPr/>
          <a:lstStyle/>
          <a:p>
            <a:endParaRPr lang="en-US"/>
          </a:p>
        </p:txBody>
      </p:sp>
      <p:sp>
        <p:nvSpPr>
          <p:cNvPr id="19" name="Text 17"/>
          <p:cNvSpPr/>
          <p:nvPr/>
        </p:nvSpPr>
        <p:spPr>
          <a:xfrm>
            <a:off x="8229600" y="2816352"/>
            <a:ext cx="502920" cy="274320"/>
          </a:xfrm>
          <a:prstGeom prst="rect">
            <a:avLst/>
          </a:prstGeom>
          <a:noFill/>
          <a:ln/>
        </p:spPr>
        <p:txBody>
          <a:bodyPr wrap="square" rtlCol="0" anchor="ctr"/>
          <a:lstStyle/>
          <a:p>
            <a:pPr marL="0" indent="0" algn="ctr">
              <a:buNone/>
            </a:pPr>
            <a:r>
              <a:rPr lang="en-US" sz="850" b="1" dirty="0">
                <a:solidFill>
                  <a:srgbClr val="EAB308"/>
                </a:solidFill>
                <a:latin typeface="Calibri" pitchFamily="34" charset="0"/>
                <a:ea typeface="Calibri" pitchFamily="34" charset="-122"/>
                <a:cs typeface="Calibri" pitchFamily="34" charset="-120"/>
              </a:rPr>
              <a:t>HIGH</a:t>
            </a:r>
            <a:endParaRPr lang="en-US" sz="850" dirty="0"/>
          </a:p>
        </p:txBody>
      </p:sp>
      <p:sp>
        <p:nvSpPr>
          <p:cNvPr id="20" name="Text 18"/>
          <p:cNvSpPr/>
          <p:nvPr/>
        </p:nvSpPr>
        <p:spPr>
          <a:xfrm>
            <a:off x="1234440" y="2688336"/>
            <a:ext cx="6858000" cy="274320"/>
          </a:xfrm>
          <a:prstGeom prst="rect">
            <a:avLst/>
          </a:prstGeom>
          <a:noFill/>
          <a:ln/>
        </p:spPr>
        <p:txBody>
          <a:bodyPr wrap="square" rtlCol="0" anchor="ctr"/>
          <a:lstStyle/>
          <a:p>
            <a:pPr marL="0" indent="0">
              <a:buNone/>
            </a:pPr>
            <a:r>
              <a:rPr lang="en-US" sz="1350" b="1" dirty="0">
                <a:solidFill>
                  <a:srgbClr val="F9FAFB"/>
                </a:solidFill>
                <a:latin typeface="Calibri" pitchFamily="34" charset="0"/>
                <a:ea typeface="Calibri" pitchFamily="34" charset="-122"/>
                <a:cs typeface="Calibri" pitchFamily="34" charset="-120"/>
              </a:rPr>
              <a:t>VPC Flow Logs disabled or not retained long enough</a:t>
            </a:r>
            <a:endParaRPr lang="en-US" sz="1350" dirty="0"/>
          </a:p>
        </p:txBody>
      </p:sp>
      <p:sp>
        <p:nvSpPr>
          <p:cNvPr id="21" name="Text 19"/>
          <p:cNvSpPr/>
          <p:nvPr/>
        </p:nvSpPr>
        <p:spPr>
          <a:xfrm>
            <a:off x="1234440" y="2999232"/>
            <a:ext cx="6858000" cy="274320"/>
          </a:xfrm>
          <a:prstGeom prst="rect">
            <a:avLst/>
          </a:prstGeom>
          <a:noFill/>
          <a:ln/>
        </p:spPr>
        <p:txBody>
          <a:bodyPr wrap="square"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xml:space="preserve">Fix: </a:t>
            </a:r>
            <a:r>
              <a:rPr lang="en-US" sz="1100" dirty="0">
                <a:solidFill>
                  <a:srgbClr val="9CA3AF"/>
                </a:solidFill>
                <a:latin typeface="Calibri" pitchFamily="34" charset="0"/>
                <a:ea typeface="Calibri" pitchFamily="34" charset="-122"/>
                <a:cs typeface="Calibri" pitchFamily="34" charset="-120"/>
              </a:rPr>
              <a:t>Enable on all VPCs, all traffic, version 3+. Retain ≥ 90 days to S3. Supports SOC 2, FedRAMP, and CMMC log-retention requirements. Start today.</a:t>
            </a:r>
            <a:endParaRPr lang="en-US" sz="1100" dirty="0"/>
          </a:p>
        </p:txBody>
      </p:sp>
      <p:sp>
        <p:nvSpPr>
          <p:cNvPr id="22" name="Shape 20"/>
          <p:cNvSpPr/>
          <p:nvPr/>
        </p:nvSpPr>
        <p:spPr>
          <a:xfrm>
            <a:off x="502920" y="3419856"/>
            <a:ext cx="8321040" cy="694944"/>
          </a:xfrm>
          <a:prstGeom prst="rect">
            <a:avLst/>
          </a:prstGeom>
          <a:solidFill>
            <a:srgbClr val="111827"/>
          </a:solidFill>
          <a:ln w="12700">
            <a:solidFill>
              <a:srgbClr val="374151"/>
            </a:solidFill>
            <a:prstDash val="solid"/>
          </a:ln>
        </p:spPr>
        <p:txBody>
          <a:bodyPr/>
          <a:lstStyle/>
          <a:p>
            <a:endParaRPr lang="en-US"/>
          </a:p>
        </p:txBody>
      </p:sp>
      <p:sp>
        <p:nvSpPr>
          <p:cNvPr id="23" name="Text 21"/>
          <p:cNvSpPr/>
          <p:nvPr/>
        </p:nvSpPr>
        <p:spPr>
          <a:xfrm>
            <a:off x="594360" y="3419856"/>
            <a:ext cx="548640" cy="694944"/>
          </a:xfrm>
          <a:prstGeom prst="rect">
            <a:avLst/>
          </a:prstGeom>
          <a:noFill/>
          <a:ln/>
        </p:spPr>
        <p:txBody>
          <a:bodyPr wrap="square" rtlCol="0" anchor="ctr"/>
          <a:lstStyle/>
          <a:p>
            <a:pPr marL="0" indent="0" algn="ctr">
              <a:buNone/>
            </a:pPr>
            <a:r>
              <a:rPr lang="en-US" sz="1600" b="1" dirty="0">
                <a:solidFill>
                  <a:srgbClr val="EAB308"/>
                </a:solidFill>
                <a:latin typeface="Calibri" pitchFamily="34" charset="0"/>
                <a:ea typeface="Calibri" pitchFamily="34" charset="-122"/>
                <a:cs typeface="Calibri" pitchFamily="34" charset="-120"/>
              </a:rPr>
              <a:t>04</a:t>
            </a:r>
            <a:endParaRPr lang="en-US" sz="1600" dirty="0"/>
          </a:p>
        </p:txBody>
      </p:sp>
      <p:sp>
        <p:nvSpPr>
          <p:cNvPr id="24" name="Shape 22"/>
          <p:cNvSpPr/>
          <p:nvPr/>
        </p:nvSpPr>
        <p:spPr>
          <a:xfrm>
            <a:off x="8229600" y="3602736"/>
            <a:ext cx="502920" cy="274320"/>
          </a:xfrm>
          <a:prstGeom prst="rect">
            <a:avLst/>
          </a:prstGeom>
          <a:solidFill>
            <a:srgbClr val="052E16"/>
          </a:solidFill>
          <a:ln w="12700">
            <a:solidFill>
              <a:srgbClr val="EAB308"/>
            </a:solidFill>
            <a:prstDash val="solid"/>
          </a:ln>
        </p:spPr>
        <p:txBody>
          <a:bodyPr/>
          <a:lstStyle/>
          <a:p>
            <a:endParaRPr lang="en-US"/>
          </a:p>
        </p:txBody>
      </p:sp>
      <p:sp>
        <p:nvSpPr>
          <p:cNvPr id="25" name="Text 23"/>
          <p:cNvSpPr/>
          <p:nvPr/>
        </p:nvSpPr>
        <p:spPr>
          <a:xfrm>
            <a:off x="8229600" y="3602736"/>
            <a:ext cx="502920" cy="274320"/>
          </a:xfrm>
          <a:prstGeom prst="rect">
            <a:avLst/>
          </a:prstGeom>
          <a:noFill/>
          <a:ln/>
        </p:spPr>
        <p:txBody>
          <a:bodyPr wrap="square" rtlCol="0" anchor="ctr"/>
          <a:lstStyle/>
          <a:p>
            <a:pPr marL="0" indent="0" algn="ctr">
              <a:buNone/>
            </a:pPr>
            <a:r>
              <a:rPr lang="en-US" sz="850" b="1" dirty="0">
                <a:solidFill>
                  <a:srgbClr val="EAB308"/>
                </a:solidFill>
                <a:latin typeface="Calibri" pitchFamily="34" charset="0"/>
                <a:ea typeface="Calibri" pitchFamily="34" charset="-122"/>
                <a:cs typeface="Calibri" pitchFamily="34" charset="-120"/>
              </a:rPr>
              <a:t>HIGH</a:t>
            </a:r>
            <a:endParaRPr lang="en-US" sz="850" dirty="0"/>
          </a:p>
        </p:txBody>
      </p:sp>
      <p:sp>
        <p:nvSpPr>
          <p:cNvPr id="26" name="Text 24"/>
          <p:cNvSpPr/>
          <p:nvPr/>
        </p:nvSpPr>
        <p:spPr>
          <a:xfrm>
            <a:off x="1234440" y="3474720"/>
            <a:ext cx="6858000" cy="274320"/>
          </a:xfrm>
          <a:prstGeom prst="rect">
            <a:avLst/>
          </a:prstGeom>
          <a:noFill/>
          <a:ln/>
        </p:spPr>
        <p:txBody>
          <a:bodyPr wrap="square" rtlCol="0" anchor="ctr"/>
          <a:lstStyle/>
          <a:p>
            <a:pPr marL="0" indent="0">
              <a:buNone/>
            </a:pPr>
            <a:r>
              <a:rPr lang="en-US" sz="1350" b="1" dirty="0">
                <a:solidFill>
                  <a:srgbClr val="F9FAFB"/>
                </a:solidFill>
                <a:latin typeface="Calibri" pitchFamily="34" charset="0"/>
                <a:ea typeface="Calibri" pitchFamily="34" charset="-122"/>
                <a:cs typeface="Calibri" pitchFamily="34" charset="-120"/>
              </a:rPr>
              <a:t>WAF not attached to public-facing load balancers</a:t>
            </a:r>
            <a:endParaRPr lang="en-US" sz="1350" dirty="0"/>
          </a:p>
        </p:txBody>
      </p:sp>
      <p:sp>
        <p:nvSpPr>
          <p:cNvPr id="27" name="Text 25"/>
          <p:cNvSpPr/>
          <p:nvPr/>
        </p:nvSpPr>
        <p:spPr>
          <a:xfrm>
            <a:off x="1234440" y="3785616"/>
            <a:ext cx="6858000" cy="274320"/>
          </a:xfrm>
          <a:prstGeom prst="rect">
            <a:avLst/>
          </a:prstGeom>
          <a:noFill/>
          <a:ln/>
        </p:spPr>
        <p:txBody>
          <a:bodyPr wrap="square"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xml:space="preserve">Fix: </a:t>
            </a:r>
            <a:r>
              <a:rPr lang="en-US" sz="1100" dirty="0">
                <a:solidFill>
                  <a:srgbClr val="9CA3AF"/>
                </a:solidFill>
                <a:latin typeface="Calibri" pitchFamily="34" charset="0"/>
                <a:ea typeface="Calibri" pitchFamily="34" charset="-122"/>
                <a:cs typeface="Calibri" pitchFamily="34" charset="-120"/>
              </a:rPr>
              <a:t>Associate AWS WAF / Azure WAF with every public ALB. Enable AWS Managed Rules Core Rule Set: 20 minutes to deploy, covers many OWASP Top 10 risks.</a:t>
            </a:r>
            <a:endParaRPr lang="en-US" sz="1100" dirty="0"/>
          </a:p>
        </p:txBody>
      </p:sp>
      <p:sp>
        <p:nvSpPr>
          <p:cNvPr id="28" name="Shape 26"/>
          <p:cNvSpPr/>
          <p:nvPr/>
        </p:nvSpPr>
        <p:spPr>
          <a:xfrm>
            <a:off x="502920" y="4206240"/>
            <a:ext cx="8321040" cy="694944"/>
          </a:xfrm>
          <a:prstGeom prst="rect">
            <a:avLst/>
          </a:prstGeom>
          <a:solidFill>
            <a:srgbClr val="1F2937"/>
          </a:solidFill>
          <a:ln w="12700">
            <a:solidFill>
              <a:srgbClr val="374151"/>
            </a:solidFill>
            <a:prstDash val="solid"/>
          </a:ln>
        </p:spPr>
        <p:txBody>
          <a:bodyPr/>
          <a:lstStyle/>
          <a:p>
            <a:endParaRPr lang="en-US"/>
          </a:p>
        </p:txBody>
      </p:sp>
      <p:sp>
        <p:nvSpPr>
          <p:cNvPr id="29" name="Text 27"/>
          <p:cNvSpPr/>
          <p:nvPr/>
        </p:nvSpPr>
        <p:spPr>
          <a:xfrm>
            <a:off x="594360" y="4206240"/>
            <a:ext cx="548640" cy="694944"/>
          </a:xfrm>
          <a:prstGeom prst="rect">
            <a:avLst/>
          </a:prstGeom>
          <a:noFill/>
          <a:ln/>
        </p:spPr>
        <p:txBody>
          <a:bodyPr wrap="square" rtlCol="0" anchor="ctr"/>
          <a:lstStyle/>
          <a:p>
            <a:pPr marL="0" indent="0" algn="ctr">
              <a:buNone/>
            </a:pPr>
            <a:r>
              <a:rPr lang="en-US" sz="1600" b="1" dirty="0">
                <a:solidFill>
                  <a:srgbClr val="EAB308"/>
                </a:solidFill>
                <a:latin typeface="Calibri" pitchFamily="34" charset="0"/>
                <a:ea typeface="Calibri" pitchFamily="34" charset="-122"/>
                <a:cs typeface="Calibri" pitchFamily="34" charset="-120"/>
              </a:rPr>
              <a:t>05</a:t>
            </a:r>
            <a:endParaRPr lang="en-US" sz="1600" dirty="0"/>
          </a:p>
        </p:txBody>
      </p:sp>
      <p:sp>
        <p:nvSpPr>
          <p:cNvPr id="30" name="Shape 28"/>
          <p:cNvSpPr/>
          <p:nvPr/>
        </p:nvSpPr>
        <p:spPr>
          <a:xfrm>
            <a:off x="8229600" y="4389120"/>
            <a:ext cx="502920" cy="274320"/>
          </a:xfrm>
          <a:prstGeom prst="rect">
            <a:avLst/>
          </a:prstGeom>
          <a:solidFill>
            <a:srgbClr val="052E16"/>
          </a:solidFill>
          <a:ln w="12700">
            <a:solidFill>
              <a:srgbClr val="EAB308"/>
            </a:solidFill>
            <a:prstDash val="solid"/>
          </a:ln>
        </p:spPr>
        <p:txBody>
          <a:bodyPr/>
          <a:lstStyle/>
          <a:p>
            <a:endParaRPr lang="en-US"/>
          </a:p>
        </p:txBody>
      </p:sp>
      <p:sp>
        <p:nvSpPr>
          <p:cNvPr id="31" name="Text 29"/>
          <p:cNvSpPr/>
          <p:nvPr/>
        </p:nvSpPr>
        <p:spPr>
          <a:xfrm>
            <a:off x="8229600" y="4389120"/>
            <a:ext cx="502920" cy="274320"/>
          </a:xfrm>
          <a:prstGeom prst="rect">
            <a:avLst/>
          </a:prstGeom>
          <a:noFill/>
          <a:ln/>
        </p:spPr>
        <p:txBody>
          <a:bodyPr wrap="square" rtlCol="0" anchor="ctr"/>
          <a:lstStyle/>
          <a:p>
            <a:pPr marL="0" indent="0" algn="ctr">
              <a:buNone/>
            </a:pPr>
            <a:r>
              <a:rPr lang="en-US" sz="850" b="1" dirty="0">
                <a:solidFill>
                  <a:srgbClr val="EAB308"/>
                </a:solidFill>
                <a:latin typeface="Calibri" pitchFamily="34" charset="0"/>
                <a:ea typeface="Calibri" pitchFamily="34" charset="-122"/>
                <a:cs typeface="Calibri" pitchFamily="34" charset="-120"/>
              </a:rPr>
              <a:t>HIGH</a:t>
            </a:r>
            <a:endParaRPr lang="en-US" sz="850" dirty="0"/>
          </a:p>
        </p:txBody>
      </p:sp>
      <p:sp>
        <p:nvSpPr>
          <p:cNvPr id="32" name="Text 30"/>
          <p:cNvSpPr/>
          <p:nvPr/>
        </p:nvSpPr>
        <p:spPr>
          <a:xfrm>
            <a:off x="1234440" y="4261104"/>
            <a:ext cx="6858000" cy="274320"/>
          </a:xfrm>
          <a:prstGeom prst="rect">
            <a:avLst/>
          </a:prstGeom>
          <a:noFill/>
          <a:ln/>
        </p:spPr>
        <p:txBody>
          <a:bodyPr wrap="square" rtlCol="0" anchor="ctr"/>
          <a:lstStyle/>
          <a:p>
            <a:pPr marL="0" indent="0">
              <a:buNone/>
            </a:pPr>
            <a:r>
              <a:rPr lang="en-US" sz="1350" b="1" dirty="0">
                <a:solidFill>
                  <a:srgbClr val="F9FAFB"/>
                </a:solidFill>
                <a:latin typeface="Calibri" pitchFamily="34" charset="0"/>
                <a:ea typeface="Calibri" pitchFamily="34" charset="-122"/>
                <a:cs typeface="Calibri" pitchFamily="34" charset="-120"/>
              </a:rPr>
              <a:t>SD-WAN direct breakout with no cloud-side inspection</a:t>
            </a:r>
            <a:endParaRPr lang="en-US" sz="1350" dirty="0"/>
          </a:p>
        </p:txBody>
      </p:sp>
      <p:sp>
        <p:nvSpPr>
          <p:cNvPr id="33" name="Text 31"/>
          <p:cNvSpPr/>
          <p:nvPr/>
        </p:nvSpPr>
        <p:spPr>
          <a:xfrm>
            <a:off x="1234440" y="4572000"/>
            <a:ext cx="6858000" cy="274320"/>
          </a:xfrm>
          <a:prstGeom prst="rect">
            <a:avLst/>
          </a:prstGeom>
          <a:noFill/>
          <a:ln/>
        </p:spPr>
        <p:txBody>
          <a:bodyPr wrap="square"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xml:space="preserve">Fix: </a:t>
            </a:r>
            <a:r>
              <a:rPr lang="en-US" sz="1100" dirty="0">
                <a:solidFill>
                  <a:srgbClr val="9CA3AF"/>
                </a:solidFill>
                <a:latin typeface="Calibri" pitchFamily="34" charset="0"/>
                <a:ea typeface="Calibri" pitchFamily="34" charset="-122"/>
                <a:cs typeface="Calibri" pitchFamily="34" charset="-120"/>
              </a:rPr>
              <a:t>Immediate: enforce security group + cloud firewall controls at the workload level. Medium-term: evaluate SSE/SASE (Zscaler, Netskope, Palo Prisma Access).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56032"/>
            <a:ext cx="8321040" cy="438912"/>
          </a:xfrm>
          <a:prstGeom prst="rect">
            <a:avLst/>
          </a:prstGeom>
          <a:noFill/>
          <a:ln/>
        </p:spPr>
        <p:txBody>
          <a:bodyPr wrap="square" rtlCol="0" anchor="ctr"/>
          <a:lstStyle/>
          <a:p>
            <a:pPr marL="0" indent="0">
              <a:buNone/>
            </a:pPr>
            <a:r>
              <a:rPr lang="en-US" sz="2000" b="1" dirty="0">
                <a:solidFill>
                  <a:srgbClr val="F9FAFB"/>
                </a:solidFill>
                <a:latin typeface="Calibri" pitchFamily="34" charset="0"/>
                <a:ea typeface="Calibri" pitchFamily="34" charset="-122"/>
                <a:cs typeface="Calibri" pitchFamily="34" charset="-120"/>
              </a:rPr>
              <a:t>When Cloud-Native Controls Are Enough (and When They're Not)</a:t>
            </a:r>
            <a:endParaRPr lang="en-US" sz="2000" dirty="0"/>
          </a:p>
        </p:txBody>
      </p:sp>
      <p:sp>
        <p:nvSpPr>
          <p:cNvPr id="3" name="Text 1"/>
          <p:cNvSpPr/>
          <p:nvPr/>
        </p:nvSpPr>
        <p:spPr>
          <a:xfrm>
            <a:off x="502920" y="694944"/>
            <a:ext cx="8321040" cy="274320"/>
          </a:xfrm>
          <a:prstGeom prst="rect">
            <a:avLst/>
          </a:prstGeom>
          <a:noFill/>
          <a:ln/>
        </p:spPr>
        <p:txBody>
          <a:bodyPr wrap="square" rtlCol="0" anchor="ctr"/>
          <a:lstStyle/>
          <a:p>
            <a:pPr marL="0" indent="0">
              <a:buNone/>
            </a:pPr>
            <a:r>
              <a:rPr lang="en-US" sz="1300" i="1" dirty="0">
                <a:solidFill>
                  <a:srgbClr val="9CA3AF"/>
                </a:solidFill>
                <a:latin typeface="Calibri" pitchFamily="34" charset="0"/>
                <a:ea typeface="Calibri" pitchFamily="34" charset="-122"/>
                <a:cs typeface="Calibri" pitchFamily="34" charset="-120"/>
              </a:rPr>
              <a:t>You don't always need a third-party appliance. But you need to know the line.</a:t>
            </a:r>
            <a:endParaRPr lang="en-US" sz="1300" dirty="0"/>
          </a:p>
        </p:txBody>
      </p:sp>
      <p:sp>
        <p:nvSpPr>
          <p:cNvPr id="4" name="Shape 2"/>
          <p:cNvSpPr/>
          <p:nvPr/>
        </p:nvSpPr>
        <p:spPr>
          <a:xfrm>
            <a:off x="365760" y="1078992"/>
            <a:ext cx="4160520" cy="3566160"/>
          </a:xfrm>
          <a:prstGeom prst="rect">
            <a:avLst/>
          </a:prstGeom>
          <a:solidFill>
            <a:srgbClr val="052E16"/>
          </a:solidFill>
          <a:ln w="12700">
            <a:solidFill>
              <a:srgbClr val="22C55E"/>
            </a:solidFill>
            <a:prstDash val="solid"/>
          </a:ln>
        </p:spPr>
        <p:txBody>
          <a:bodyPr/>
          <a:lstStyle/>
          <a:p>
            <a:endParaRPr lang="en-US"/>
          </a:p>
        </p:txBody>
      </p:sp>
      <p:sp>
        <p:nvSpPr>
          <p:cNvPr id="5" name="Shape 3"/>
          <p:cNvSpPr/>
          <p:nvPr/>
        </p:nvSpPr>
        <p:spPr>
          <a:xfrm>
            <a:off x="4709160" y="1078992"/>
            <a:ext cx="4160520" cy="3566160"/>
          </a:xfrm>
          <a:prstGeom prst="rect">
            <a:avLst/>
          </a:prstGeom>
          <a:solidFill>
            <a:srgbClr val="2D0A0A"/>
          </a:solidFill>
          <a:ln w="12700">
            <a:solidFill>
              <a:srgbClr val="EF4444"/>
            </a:solidFill>
            <a:prstDash val="solid"/>
          </a:ln>
        </p:spPr>
        <p:txBody>
          <a:bodyPr/>
          <a:lstStyle/>
          <a:p>
            <a:endParaRPr lang="en-US"/>
          </a:p>
        </p:txBody>
      </p:sp>
      <p:sp>
        <p:nvSpPr>
          <p:cNvPr id="6" name="Shape 4"/>
          <p:cNvSpPr/>
          <p:nvPr/>
        </p:nvSpPr>
        <p:spPr>
          <a:xfrm>
            <a:off x="365760" y="1078992"/>
            <a:ext cx="4160520" cy="384048"/>
          </a:xfrm>
          <a:prstGeom prst="rect">
            <a:avLst/>
          </a:prstGeom>
          <a:solidFill>
            <a:srgbClr val="22C55E"/>
          </a:solidFill>
          <a:ln w="12700">
            <a:solidFill>
              <a:srgbClr val="22C55E"/>
            </a:solidFill>
            <a:prstDash val="solid"/>
          </a:ln>
        </p:spPr>
        <p:txBody>
          <a:bodyPr/>
          <a:lstStyle/>
          <a:p>
            <a:endParaRPr lang="en-US"/>
          </a:p>
        </p:txBody>
      </p:sp>
      <p:sp>
        <p:nvSpPr>
          <p:cNvPr id="7" name="Text 5"/>
          <p:cNvSpPr/>
          <p:nvPr/>
        </p:nvSpPr>
        <p:spPr>
          <a:xfrm>
            <a:off x="457200" y="1078992"/>
            <a:ext cx="3977640" cy="384048"/>
          </a:xfrm>
          <a:prstGeom prst="rect">
            <a:avLst/>
          </a:prstGeom>
          <a:noFill/>
          <a:ln/>
        </p:spPr>
        <p:txBody>
          <a:bodyPr wrap="square" rtlCol="0" anchor="ctr"/>
          <a:lstStyle/>
          <a:p>
            <a:pPr marL="0" indent="0" algn="ctr">
              <a:buNone/>
            </a:pPr>
            <a:r>
              <a:rPr lang="en-US" sz="1150" b="1" dirty="0">
                <a:solidFill>
                  <a:srgbClr val="111827"/>
                </a:solidFill>
                <a:latin typeface="Calibri" pitchFamily="34" charset="0"/>
                <a:ea typeface="Calibri" pitchFamily="34" charset="-122"/>
                <a:cs typeface="Calibri" pitchFamily="34" charset="-120"/>
              </a:rPr>
              <a:t>✓  CLOUD-NATIVE MAY BE SUFFICIENT</a:t>
            </a:r>
            <a:endParaRPr lang="en-US" sz="1150" dirty="0"/>
          </a:p>
        </p:txBody>
      </p:sp>
      <p:sp>
        <p:nvSpPr>
          <p:cNvPr id="8" name="Shape 6"/>
          <p:cNvSpPr/>
          <p:nvPr/>
        </p:nvSpPr>
        <p:spPr>
          <a:xfrm>
            <a:off x="4709160" y="1078992"/>
            <a:ext cx="4160520" cy="384048"/>
          </a:xfrm>
          <a:prstGeom prst="rect">
            <a:avLst/>
          </a:prstGeom>
          <a:solidFill>
            <a:srgbClr val="EF4444"/>
          </a:solidFill>
          <a:ln w="12700">
            <a:solidFill>
              <a:srgbClr val="EF4444"/>
            </a:solidFill>
            <a:prstDash val="solid"/>
          </a:ln>
        </p:spPr>
        <p:txBody>
          <a:bodyPr/>
          <a:lstStyle/>
          <a:p>
            <a:endParaRPr lang="en-US"/>
          </a:p>
        </p:txBody>
      </p:sp>
      <p:sp>
        <p:nvSpPr>
          <p:cNvPr id="9" name="Text 7"/>
          <p:cNvSpPr/>
          <p:nvPr/>
        </p:nvSpPr>
        <p:spPr>
          <a:xfrm>
            <a:off x="4800600" y="1078992"/>
            <a:ext cx="3977640" cy="384048"/>
          </a:xfrm>
          <a:prstGeom prst="rect">
            <a:avLst/>
          </a:prstGeom>
          <a:noFill/>
          <a:ln/>
        </p:spPr>
        <p:txBody>
          <a:bodyPr wrap="square" rtlCol="0" anchor="ctr"/>
          <a:lstStyle/>
          <a:p>
            <a:pPr marL="0" indent="0" algn="ctr">
              <a:buNone/>
            </a:pPr>
            <a:r>
              <a:rPr lang="en-US" sz="1150" b="1" dirty="0">
                <a:solidFill>
                  <a:srgbClr val="F9FAFB"/>
                </a:solidFill>
                <a:latin typeface="Calibri" pitchFamily="34" charset="0"/>
                <a:ea typeface="Calibri" pitchFamily="34" charset="-122"/>
                <a:cs typeface="Calibri" pitchFamily="34" charset="-120"/>
              </a:rPr>
              <a:t>▲  YOU LIKELY NEED MORE</a:t>
            </a:r>
            <a:endParaRPr lang="en-US" sz="1150" dirty="0"/>
          </a:p>
        </p:txBody>
      </p:sp>
      <p:sp>
        <p:nvSpPr>
          <p:cNvPr id="10" name="Text 8"/>
          <p:cNvSpPr/>
          <p:nvPr/>
        </p:nvSpPr>
        <p:spPr>
          <a:xfrm>
            <a:off x="502920" y="1572768"/>
            <a:ext cx="3886200" cy="512064"/>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Single VPC with well-scoped security groups and no public IPs</a:t>
            </a:r>
            <a:endParaRPr lang="en-US" sz="1400" dirty="0"/>
          </a:p>
        </p:txBody>
      </p:sp>
      <p:sp>
        <p:nvSpPr>
          <p:cNvPr id="11" name="Text 9"/>
          <p:cNvSpPr/>
          <p:nvPr/>
        </p:nvSpPr>
        <p:spPr>
          <a:xfrm>
            <a:off x="502920" y="2167128"/>
            <a:ext cx="3886200" cy="512064"/>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Internal microservices, no public endpoints at all</a:t>
            </a:r>
            <a:endParaRPr lang="en-US" sz="1400" dirty="0"/>
          </a:p>
        </p:txBody>
      </p:sp>
      <p:sp>
        <p:nvSpPr>
          <p:cNvPr id="12" name="Text 10"/>
          <p:cNvSpPr/>
          <p:nvPr/>
        </p:nvSpPr>
        <p:spPr>
          <a:xfrm>
            <a:off x="502920" y="2761488"/>
            <a:ext cx="3886200" cy="512064"/>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WAF already attached to every public ALB</a:t>
            </a:r>
            <a:endParaRPr lang="en-US" sz="1400" dirty="0"/>
          </a:p>
        </p:txBody>
      </p:sp>
      <p:sp>
        <p:nvSpPr>
          <p:cNvPr id="13" name="Text 11"/>
          <p:cNvSpPr/>
          <p:nvPr/>
        </p:nvSpPr>
        <p:spPr>
          <a:xfrm>
            <a:off x="502920" y="3355848"/>
            <a:ext cx="3886200" cy="512064"/>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Dev/test environments with limited blast radius</a:t>
            </a:r>
            <a:endParaRPr lang="en-US" sz="1400" dirty="0"/>
          </a:p>
        </p:txBody>
      </p:sp>
      <p:sp>
        <p:nvSpPr>
          <p:cNvPr id="14" name="Text 12"/>
          <p:cNvSpPr/>
          <p:nvPr/>
        </p:nvSpPr>
        <p:spPr>
          <a:xfrm>
            <a:off x="502920" y="3950208"/>
            <a:ext cx="3886200" cy="512064"/>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Threat model satisfied by L3/L4 access control only</a:t>
            </a:r>
            <a:endParaRPr lang="en-US" sz="1400" dirty="0"/>
          </a:p>
        </p:txBody>
      </p:sp>
      <p:sp>
        <p:nvSpPr>
          <p:cNvPr id="15" name="Text 13"/>
          <p:cNvSpPr/>
          <p:nvPr/>
        </p:nvSpPr>
        <p:spPr>
          <a:xfrm>
            <a:off x="4846320" y="1572768"/>
            <a:ext cx="3886200" cy="512064"/>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Multi-VPC, multi-account: east-west traffic between them</a:t>
            </a:r>
            <a:endParaRPr lang="en-US" sz="1400" dirty="0"/>
          </a:p>
        </p:txBody>
      </p:sp>
      <p:sp>
        <p:nvSpPr>
          <p:cNvPr id="16" name="Text 14"/>
          <p:cNvSpPr/>
          <p:nvPr/>
        </p:nvSpPr>
        <p:spPr>
          <a:xfrm>
            <a:off x="4846320" y="2167128"/>
            <a:ext cx="3886200" cy="512064"/>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Regulated data: PCI, FedRAMP, CMMC require IPS/IDS; HIPAA expects monitoring</a:t>
            </a:r>
            <a:endParaRPr lang="en-US" sz="1400" dirty="0"/>
          </a:p>
        </p:txBody>
      </p:sp>
      <p:sp>
        <p:nvSpPr>
          <p:cNvPr id="17" name="Text 15"/>
          <p:cNvSpPr/>
          <p:nvPr/>
        </p:nvSpPr>
        <p:spPr>
          <a:xfrm>
            <a:off x="4846320" y="2761488"/>
            <a:ext cx="3886200" cy="512064"/>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SD-WAN with direct internet breakout to cloud workloads</a:t>
            </a:r>
            <a:endParaRPr lang="en-US" sz="1400" dirty="0"/>
          </a:p>
        </p:txBody>
      </p:sp>
      <p:sp>
        <p:nvSpPr>
          <p:cNvPr id="18" name="Text 16"/>
          <p:cNvSpPr/>
          <p:nvPr/>
        </p:nvSpPr>
        <p:spPr>
          <a:xfrm>
            <a:off x="4846320" y="3355848"/>
            <a:ext cx="3886200" cy="512064"/>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Hybrid environment with on-prem DC connectivity</a:t>
            </a:r>
            <a:endParaRPr lang="en-US" sz="1400" dirty="0"/>
          </a:p>
        </p:txBody>
      </p:sp>
      <p:sp>
        <p:nvSpPr>
          <p:cNvPr id="19" name="Text 17"/>
          <p:cNvSpPr/>
          <p:nvPr/>
        </p:nvSpPr>
        <p:spPr>
          <a:xfrm>
            <a:off x="4846320" y="3950208"/>
            <a:ext cx="3886200" cy="512064"/>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xml:space="preserve">▸  </a:t>
            </a:r>
            <a:r>
              <a:rPr lang="en-US" sz="1200" dirty="0">
                <a:solidFill>
                  <a:srgbClr val="D1D5DB"/>
                </a:solidFill>
                <a:latin typeface="Calibri" pitchFamily="34" charset="0"/>
                <a:ea typeface="Calibri" pitchFamily="34" charset="-122"/>
                <a:cs typeface="Calibri" pitchFamily="34" charset="-120"/>
              </a:rPr>
              <a:t>Compliance requirement for L7 inspection, URL filtering, or DLP</a:t>
            </a:r>
            <a:endParaRPr lang="en-US" sz="1400" dirty="0"/>
          </a:p>
        </p:txBody>
      </p:sp>
      <p:sp>
        <p:nvSpPr>
          <p:cNvPr id="20" name="Shape 18"/>
          <p:cNvSpPr/>
          <p:nvPr/>
        </p:nvSpPr>
        <p:spPr>
          <a:xfrm>
            <a:off x="365760" y="4754880"/>
            <a:ext cx="8503920" cy="347472"/>
          </a:xfrm>
          <a:prstGeom prst="rect">
            <a:avLst/>
          </a:prstGeom>
          <a:solidFill>
            <a:srgbClr val="0F3D3A"/>
          </a:solidFill>
          <a:ln w="12700">
            <a:solidFill>
              <a:srgbClr val="14B8A6"/>
            </a:solidFill>
            <a:prstDash val="solid"/>
          </a:ln>
        </p:spPr>
        <p:txBody>
          <a:bodyPr/>
          <a:lstStyle/>
          <a:p>
            <a:endParaRPr lang="en-US"/>
          </a:p>
        </p:txBody>
      </p:sp>
      <p:sp>
        <p:nvSpPr>
          <p:cNvPr id="21" name="Text 19"/>
          <p:cNvSpPr/>
          <p:nvPr/>
        </p:nvSpPr>
        <p:spPr>
          <a:xfrm>
            <a:off x="548640" y="4754880"/>
            <a:ext cx="8229600" cy="347472"/>
          </a:xfrm>
          <a:prstGeom prst="rect">
            <a:avLst/>
          </a:prstGeom>
          <a:noFill/>
          <a:ln/>
        </p:spPr>
        <p:txBody>
          <a:bodyPr wrap="square" rtlCol="0" anchor="ctr"/>
          <a:lstStyle/>
          <a:p>
            <a:pPr marL="0" indent="0">
              <a:buNone/>
            </a:pPr>
            <a:r>
              <a:rPr lang="en-US" sz="1150" dirty="0">
                <a:solidFill>
                  <a:srgbClr val="F9FAFB"/>
                </a:solidFill>
                <a:latin typeface="Calibri" pitchFamily="34" charset="0"/>
                <a:ea typeface="Calibri" pitchFamily="34" charset="-122"/>
                <a:cs typeface="Calibri" pitchFamily="34" charset="-120"/>
              </a:rPr>
              <a:t>Key question: does your compliance framework or threat model require content inspection, not just access control? If yes, you need an inspection layer. If no, cloud-native may be fully sufficient.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56032"/>
            <a:ext cx="8321040" cy="475488"/>
          </a:xfrm>
          <a:prstGeom prst="rect">
            <a:avLst/>
          </a:prstGeom>
          <a:noFill/>
          <a:ln/>
        </p:spPr>
        <p:txBody>
          <a:bodyPr wrap="square" rtlCol="0" anchor="ctr"/>
          <a:lstStyle/>
          <a:p>
            <a:pPr marL="0" indent="0">
              <a:buNone/>
            </a:pPr>
            <a:r>
              <a:rPr lang="en-US" sz="2800" b="1" dirty="0">
                <a:solidFill>
                  <a:srgbClr val="F9FAFB"/>
                </a:solidFill>
                <a:latin typeface="Calibri" pitchFamily="34" charset="0"/>
                <a:ea typeface="Calibri" pitchFamily="34" charset="-122"/>
                <a:cs typeface="Calibri" pitchFamily="34" charset="-120"/>
              </a:rPr>
              <a:t>Where to Start</a:t>
            </a:r>
            <a:endParaRPr lang="en-US" sz="2800" dirty="0"/>
          </a:p>
        </p:txBody>
      </p:sp>
      <p:sp>
        <p:nvSpPr>
          <p:cNvPr id="3" name="Text 1"/>
          <p:cNvSpPr/>
          <p:nvPr/>
        </p:nvSpPr>
        <p:spPr>
          <a:xfrm>
            <a:off x="502920" y="731520"/>
            <a:ext cx="8321040" cy="274320"/>
          </a:xfrm>
          <a:prstGeom prst="rect">
            <a:avLst/>
          </a:prstGeom>
          <a:noFill/>
          <a:ln/>
        </p:spPr>
        <p:txBody>
          <a:bodyPr wrap="square" rtlCol="0" anchor="ctr"/>
          <a:lstStyle/>
          <a:p>
            <a:pPr marL="0" indent="0">
              <a:buNone/>
            </a:pPr>
            <a:r>
              <a:rPr lang="en-US" sz="1300" i="1" dirty="0">
                <a:solidFill>
                  <a:srgbClr val="9CA3AF"/>
                </a:solidFill>
                <a:latin typeface="Calibri" pitchFamily="34" charset="0"/>
                <a:ea typeface="Calibri" pitchFamily="34" charset="-122"/>
                <a:cs typeface="Calibri" pitchFamily="34" charset="-120"/>
              </a:rPr>
              <a:t>Sequence by effort and cost, and know who owns each piece.</a:t>
            </a:r>
            <a:endParaRPr lang="en-US" sz="1300" dirty="0"/>
          </a:p>
        </p:txBody>
      </p:sp>
      <p:sp>
        <p:nvSpPr>
          <p:cNvPr id="4" name="Shape 2"/>
          <p:cNvSpPr/>
          <p:nvPr/>
        </p:nvSpPr>
        <p:spPr>
          <a:xfrm>
            <a:off x="365760" y="1143000"/>
            <a:ext cx="4160520" cy="1783080"/>
          </a:xfrm>
          <a:prstGeom prst="rect">
            <a:avLst/>
          </a:prstGeom>
          <a:solidFill>
            <a:srgbClr val="1F2937"/>
          </a:solidFill>
          <a:ln w="12700">
            <a:solidFill>
              <a:srgbClr val="374151"/>
            </a:solidFill>
            <a:prstDash val="solid"/>
          </a:ln>
        </p:spPr>
        <p:txBody>
          <a:bodyPr/>
          <a:lstStyle/>
          <a:p>
            <a:endParaRPr lang="en-US"/>
          </a:p>
        </p:txBody>
      </p:sp>
      <p:sp>
        <p:nvSpPr>
          <p:cNvPr id="5" name="Shape 3"/>
          <p:cNvSpPr/>
          <p:nvPr/>
        </p:nvSpPr>
        <p:spPr>
          <a:xfrm>
            <a:off x="484632" y="1261872"/>
            <a:ext cx="585216" cy="585216"/>
          </a:xfrm>
          <a:prstGeom prst="ellipse">
            <a:avLst/>
          </a:prstGeom>
          <a:solidFill>
            <a:srgbClr val="14B8A6"/>
          </a:solidFill>
          <a:ln w="12700">
            <a:solidFill>
              <a:srgbClr val="14B8A6"/>
            </a:solidFill>
            <a:prstDash val="solid"/>
          </a:ln>
        </p:spPr>
        <p:txBody>
          <a:bodyPr/>
          <a:lstStyle/>
          <a:p>
            <a:endParaRPr lang="en-US"/>
          </a:p>
        </p:txBody>
      </p:sp>
      <p:sp>
        <p:nvSpPr>
          <p:cNvPr id="6" name="Text 4"/>
          <p:cNvSpPr/>
          <p:nvPr/>
        </p:nvSpPr>
        <p:spPr>
          <a:xfrm>
            <a:off x="484632" y="1298448"/>
            <a:ext cx="585216" cy="502920"/>
          </a:xfrm>
          <a:prstGeom prst="rect">
            <a:avLst/>
          </a:prstGeom>
          <a:noFill/>
          <a:ln/>
        </p:spPr>
        <p:txBody>
          <a:bodyPr wrap="square"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1234440"/>
            <a:ext cx="3154680" cy="438912"/>
          </a:xfrm>
          <a:prstGeom prst="rect">
            <a:avLst/>
          </a:prstGeom>
          <a:noFill/>
          <a:ln/>
        </p:spPr>
        <p:txBody>
          <a:bodyPr wrap="square" rtlCol="0" anchor="ctr"/>
          <a:lstStyle/>
          <a:p>
            <a:pPr marL="0" indent="0">
              <a:buNone/>
            </a:pPr>
            <a:r>
              <a:rPr lang="en-US" sz="1350" b="1" dirty="0">
                <a:solidFill>
                  <a:srgbClr val="14B8A6"/>
                </a:solidFill>
                <a:latin typeface="Calibri" pitchFamily="34" charset="0"/>
                <a:ea typeface="Calibri" pitchFamily="34" charset="-122"/>
                <a:cs typeface="Calibri" pitchFamily="34" charset="-120"/>
              </a:rPr>
              <a:t>This week, essentially free</a:t>
            </a:r>
            <a:endParaRPr lang="en-US" sz="1350" dirty="0"/>
          </a:p>
        </p:txBody>
      </p:sp>
      <p:sp>
        <p:nvSpPr>
          <p:cNvPr id="8" name="Text 6"/>
          <p:cNvSpPr/>
          <p:nvPr/>
        </p:nvSpPr>
        <p:spPr>
          <a:xfrm>
            <a:off x="1234440" y="1737360"/>
            <a:ext cx="3154680" cy="1097280"/>
          </a:xfrm>
          <a:prstGeom prst="rect">
            <a:avLst/>
          </a:prstGeom>
          <a:noFill/>
          <a:ln/>
        </p:spPr>
        <p:txBody>
          <a:bodyPr wrap="square" rtlCol="0" anchor="ctr"/>
          <a:lstStyle/>
          <a:p>
            <a:pPr marL="0" indent="0">
              <a:lnSpc>
                <a:spcPct val="130000"/>
              </a:lnSpc>
              <a:buNone/>
            </a:pPr>
            <a:r>
              <a:rPr lang="en-US" sz="1150" dirty="0">
                <a:solidFill>
                  <a:srgbClr val="D1D5DB"/>
                </a:solidFill>
                <a:latin typeface="Calibri" pitchFamily="34" charset="0"/>
                <a:ea typeface="Calibri" pitchFamily="34" charset="-122"/>
                <a:cs typeface="Calibri" pitchFamily="34" charset="-120"/>
              </a:rPr>
              <a:t>Turn on flow logs everywhere (v3+, 90-day retention). Scope every 0.0.0.0/0 inbound rule. Baseline visibility plus the one critical-severity fix. Cost: time.</a:t>
            </a:r>
            <a:endParaRPr lang="en-US" sz="1150" dirty="0"/>
          </a:p>
        </p:txBody>
      </p:sp>
      <p:sp>
        <p:nvSpPr>
          <p:cNvPr id="9" name="Shape 7"/>
          <p:cNvSpPr/>
          <p:nvPr/>
        </p:nvSpPr>
        <p:spPr>
          <a:xfrm>
            <a:off x="4709160" y="1143000"/>
            <a:ext cx="4160520" cy="1783080"/>
          </a:xfrm>
          <a:prstGeom prst="rect">
            <a:avLst/>
          </a:prstGeom>
          <a:solidFill>
            <a:srgbClr val="1F2937"/>
          </a:solidFill>
          <a:ln w="12700">
            <a:solidFill>
              <a:srgbClr val="374151"/>
            </a:solidFill>
            <a:prstDash val="solid"/>
          </a:ln>
        </p:spPr>
        <p:txBody>
          <a:bodyPr/>
          <a:lstStyle/>
          <a:p>
            <a:endParaRPr lang="en-US"/>
          </a:p>
        </p:txBody>
      </p:sp>
      <p:sp>
        <p:nvSpPr>
          <p:cNvPr id="10" name="Shape 8"/>
          <p:cNvSpPr/>
          <p:nvPr/>
        </p:nvSpPr>
        <p:spPr>
          <a:xfrm>
            <a:off x="4828032" y="1261872"/>
            <a:ext cx="585216" cy="585216"/>
          </a:xfrm>
          <a:prstGeom prst="ellipse">
            <a:avLst/>
          </a:prstGeom>
          <a:solidFill>
            <a:srgbClr val="14B8A6"/>
          </a:solidFill>
          <a:ln w="12700">
            <a:solidFill>
              <a:srgbClr val="14B8A6"/>
            </a:solidFill>
            <a:prstDash val="solid"/>
          </a:ln>
        </p:spPr>
        <p:txBody>
          <a:bodyPr/>
          <a:lstStyle/>
          <a:p>
            <a:endParaRPr lang="en-US"/>
          </a:p>
        </p:txBody>
      </p:sp>
      <p:sp>
        <p:nvSpPr>
          <p:cNvPr id="11" name="Text 9"/>
          <p:cNvSpPr/>
          <p:nvPr/>
        </p:nvSpPr>
        <p:spPr>
          <a:xfrm>
            <a:off x="4828032" y="1298448"/>
            <a:ext cx="585216" cy="502920"/>
          </a:xfrm>
          <a:prstGeom prst="rect">
            <a:avLst/>
          </a:prstGeom>
          <a:noFill/>
          <a:ln/>
        </p:spPr>
        <p:txBody>
          <a:bodyPr wrap="square"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5577840" y="1234440"/>
            <a:ext cx="3154680" cy="438912"/>
          </a:xfrm>
          <a:prstGeom prst="rect">
            <a:avLst/>
          </a:prstGeom>
          <a:noFill/>
          <a:ln/>
        </p:spPr>
        <p:txBody>
          <a:bodyPr wrap="square" rtlCol="0" anchor="ctr"/>
          <a:lstStyle/>
          <a:p>
            <a:pPr marL="0" indent="0">
              <a:buNone/>
            </a:pPr>
            <a:r>
              <a:rPr lang="en-US" sz="1350" b="1" dirty="0">
                <a:solidFill>
                  <a:srgbClr val="14B8A6"/>
                </a:solidFill>
                <a:latin typeface="Calibri" pitchFamily="34" charset="0"/>
                <a:ea typeface="Calibri" pitchFamily="34" charset="-122"/>
                <a:cs typeface="Calibri" pitchFamily="34" charset="-120"/>
              </a:rPr>
              <a:t>This month, quick wins</a:t>
            </a:r>
            <a:endParaRPr lang="en-US" sz="1350" dirty="0"/>
          </a:p>
        </p:txBody>
      </p:sp>
      <p:sp>
        <p:nvSpPr>
          <p:cNvPr id="13" name="Text 11"/>
          <p:cNvSpPr/>
          <p:nvPr/>
        </p:nvSpPr>
        <p:spPr>
          <a:xfrm>
            <a:off x="5577840" y="1737360"/>
            <a:ext cx="3154680" cy="1097280"/>
          </a:xfrm>
          <a:prstGeom prst="rect">
            <a:avLst/>
          </a:prstGeom>
          <a:noFill/>
          <a:ln/>
        </p:spPr>
        <p:txBody>
          <a:bodyPr wrap="square" rtlCol="0" anchor="ctr"/>
          <a:lstStyle/>
          <a:p>
            <a:pPr marL="0" indent="0">
              <a:lnSpc>
                <a:spcPct val="130000"/>
              </a:lnSpc>
              <a:buNone/>
            </a:pPr>
            <a:r>
              <a:rPr lang="en-US" sz="1150" dirty="0">
                <a:solidFill>
                  <a:srgbClr val="D1D5DB"/>
                </a:solidFill>
                <a:latin typeface="Calibri" pitchFamily="34" charset="0"/>
                <a:ea typeface="Calibri" pitchFamily="34" charset="-122"/>
                <a:cs typeface="Calibri" pitchFamily="34" charset="-120"/>
              </a:rPr>
              <a:t>Attach a WAF to every public ALB, about 20 minutes each. If you run SD-WAN, run the split-brain test. Low cost, high signal.</a:t>
            </a:r>
            <a:endParaRPr lang="en-US" sz="1150" dirty="0"/>
          </a:p>
        </p:txBody>
      </p:sp>
      <p:sp>
        <p:nvSpPr>
          <p:cNvPr id="14" name="Shape 12"/>
          <p:cNvSpPr/>
          <p:nvPr/>
        </p:nvSpPr>
        <p:spPr>
          <a:xfrm>
            <a:off x="365760" y="3200400"/>
            <a:ext cx="4160520" cy="1783080"/>
          </a:xfrm>
          <a:prstGeom prst="rect">
            <a:avLst/>
          </a:prstGeom>
          <a:solidFill>
            <a:srgbClr val="1F2937"/>
          </a:solidFill>
          <a:ln w="12700">
            <a:solidFill>
              <a:srgbClr val="374151"/>
            </a:solidFill>
            <a:prstDash val="solid"/>
          </a:ln>
        </p:spPr>
        <p:txBody>
          <a:bodyPr/>
          <a:lstStyle/>
          <a:p>
            <a:endParaRPr lang="en-US"/>
          </a:p>
        </p:txBody>
      </p:sp>
      <p:sp>
        <p:nvSpPr>
          <p:cNvPr id="15" name="Shape 13"/>
          <p:cNvSpPr/>
          <p:nvPr/>
        </p:nvSpPr>
        <p:spPr>
          <a:xfrm>
            <a:off x="484632" y="3319272"/>
            <a:ext cx="585216" cy="585216"/>
          </a:xfrm>
          <a:prstGeom prst="ellipse">
            <a:avLst/>
          </a:prstGeom>
          <a:solidFill>
            <a:srgbClr val="EAB308"/>
          </a:solidFill>
          <a:ln w="12700">
            <a:solidFill>
              <a:srgbClr val="EAB308"/>
            </a:solidFill>
            <a:prstDash val="solid"/>
          </a:ln>
        </p:spPr>
        <p:txBody>
          <a:bodyPr/>
          <a:lstStyle/>
          <a:p>
            <a:endParaRPr lang="en-US"/>
          </a:p>
        </p:txBody>
      </p:sp>
      <p:sp>
        <p:nvSpPr>
          <p:cNvPr id="16" name="Text 14"/>
          <p:cNvSpPr/>
          <p:nvPr/>
        </p:nvSpPr>
        <p:spPr>
          <a:xfrm>
            <a:off x="484632" y="3355848"/>
            <a:ext cx="585216" cy="502920"/>
          </a:xfrm>
          <a:prstGeom prst="rect">
            <a:avLst/>
          </a:prstGeom>
          <a:noFill/>
          <a:ln/>
        </p:spPr>
        <p:txBody>
          <a:bodyPr wrap="square"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234440" y="3291840"/>
            <a:ext cx="3154680" cy="438912"/>
          </a:xfrm>
          <a:prstGeom prst="rect">
            <a:avLst/>
          </a:prstGeom>
          <a:noFill/>
          <a:ln/>
        </p:spPr>
        <p:txBody>
          <a:bodyPr wrap="square" rtlCol="0" anchor="ctr"/>
          <a:lstStyle/>
          <a:p>
            <a:pPr marL="0" indent="0">
              <a:buNone/>
            </a:pPr>
            <a:r>
              <a:rPr lang="en-US" sz="1350" b="1" dirty="0">
                <a:solidFill>
                  <a:srgbClr val="EAB308"/>
                </a:solidFill>
                <a:latin typeface="Calibri" pitchFamily="34" charset="0"/>
                <a:ea typeface="Calibri" pitchFamily="34" charset="-122"/>
                <a:cs typeface="Calibri" pitchFamily="34" charset="-120"/>
              </a:rPr>
              <a:t>This quarter, architectural</a:t>
            </a:r>
            <a:endParaRPr lang="en-US" sz="1350" dirty="0"/>
          </a:p>
        </p:txBody>
      </p:sp>
      <p:sp>
        <p:nvSpPr>
          <p:cNvPr id="18" name="Text 16"/>
          <p:cNvSpPr/>
          <p:nvPr/>
        </p:nvSpPr>
        <p:spPr>
          <a:xfrm>
            <a:off x="1234440" y="3794760"/>
            <a:ext cx="3154680" cy="1097280"/>
          </a:xfrm>
          <a:prstGeom prst="rect">
            <a:avLst/>
          </a:prstGeom>
          <a:noFill/>
          <a:ln/>
        </p:spPr>
        <p:txBody>
          <a:bodyPr wrap="square" rtlCol="0" anchor="ctr"/>
          <a:lstStyle/>
          <a:p>
            <a:pPr marL="0" indent="0">
              <a:lnSpc>
                <a:spcPct val="130000"/>
              </a:lnSpc>
              <a:buNone/>
            </a:pPr>
            <a:r>
              <a:rPr lang="en-US" sz="1150" dirty="0">
                <a:solidFill>
                  <a:srgbClr val="D1D5DB"/>
                </a:solidFill>
                <a:latin typeface="Calibri" pitchFamily="34" charset="0"/>
                <a:ea typeface="Calibri" pitchFamily="34" charset="-122"/>
                <a:cs typeface="Calibri" pitchFamily="34" charset="-120"/>
              </a:rPr>
              <a:t>East-west inspection: an inspection VPC behind Transit Gateway. SD-WAN breakout: evaluate SSE/SASE. Real budget and design time, so start the conversation now.</a:t>
            </a:r>
            <a:endParaRPr lang="en-US" sz="1150" dirty="0"/>
          </a:p>
        </p:txBody>
      </p:sp>
      <p:sp>
        <p:nvSpPr>
          <p:cNvPr id="19" name="Shape 17"/>
          <p:cNvSpPr/>
          <p:nvPr/>
        </p:nvSpPr>
        <p:spPr>
          <a:xfrm>
            <a:off x="4709160" y="3200400"/>
            <a:ext cx="4160520" cy="1783080"/>
          </a:xfrm>
          <a:prstGeom prst="rect">
            <a:avLst/>
          </a:prstGeom>
          <a:solidFill>
            <a:srgbClr val="1F2937"/>
          </a:solidFill>
          <a:ln w="12700">
            <a:solidFill>
              <a:srgbClr val="374151"/>
            </a:solidFill>
            <a:prstDash val="solid"/>
          </a:ln>
        </p:spPr>
        <p:txBody>
          <a:bodyPr/>
          <a:lstStyle/>
          <a:p>
            <a:endParaRPr lang="en-US"/>
          </a:p>
        </p:txBody>
      </p:sp>
      <p:sp>
        <p:nvSpPr>
          <p:cNvPr id="20" name="Shape 18"/>
          <p:cNvSpPr/>
          <p:nvPr/>
        </p:nvSpPr>
        <p:spPr>
          <a:xfrm>
            <a:off x="4828032" y="3319272"/>
            <a:ext cx="585216" cy="585216"/>
          </a:xfrm>
          <a:prstGeom prst="ellipse">
            <a:avLst/>
          </a:prstGeom>
          <a:solidFill>
            <a:srgbClr val="22C55E"/>
          </a:solidFill>
          <a:ln w="12700">
            <a:solidFill>
              <a:srgbClr val="22C55E"/>
            </a:solidFill>
            <a:prstDash val="solid"/>
          </a:ln>
        </p:spPr>
        <p:txBody>
          <a:bodyPr/>
          <a:lstStyle/>
          <a:p>
            <a:endParaRPr lang="en-US"/>
          </a:p>
        </p:txBody>
      </p:sp>
      <p:sp>
        <p:nvSpPr>
          <p:cNvPr id="21" name="Text 19"/>
          <p:cNvSpPr/>
          <p:nvPr/>
        </p:nvSpPr>
        <p:spPr>
          <a:xfrm>
            <a:off x="4828032" y="3355848"/>
            <a:ext cx="585216" cy="502920"/>
          </a:xfrm>
          <a:prstGeom prst="rect">
            <a:avLst/>
          </a:prstGeom>
          <a:noFill/>
          <a:ln/>
        </p:spPr>
        <p:txBody>
          <a:bodyPr wrap="square"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5577840" y="3291840"/>
            <a:ext cx="3154680" cy="438912"/>
          </a:xfrm>
          <a:prstGeom prst="rect">
            <a:avLst/>
          </a:prstGeom>
          <a:noFill/>
          <a:ln/>
        </p:spPr>
        <p:txBody>
          <a:bodyPr wrap="square" rtlCol="0" anchor="ctr"/>
          <a:lstStyle/>
          <a:p>
            <a:pPr marL="0" indent="0">
              <a:buNone/>
            </a:pPr>
            <a:r>
              <a:rPr lang="en-US" sz="1350" b="1" dirty="0">
                <a:solidFill>
                  <a:srgbClr val="22C55E"/>
                </a:solidFill>
                <a:latin typeface="Calibri" pitchFamily="34" charset="0"/>
                <a:ea typeface="Calibri" pitchFamily="34" charset="-122"/>
                <a:cs typeface="Calibri" pitchFamily="34" charset="-120"/>
              </a:rPr>
              <a:t>Who owns it</a:t>
            </a:r>
            <a:endParaRPr lang="en-US" sz="1350" dirty="0"/>
          </a:p>
        </p:txBody>
      </p:sp>
      <p:sp>
        <p:nvSpPr>
          <p:cNvPr id="23" name="Text 21"/>
          <p:cNvSpPr/>
          <p:nvPr/>
        </p:nvSpPr>
        <p:spPr>
          <a:xfrm>
            <a:off x="5577840" y="3794760"/>
            <a:ext cx="3154680" cy="1097280"/>
          </a:xfrm>
          <a:prstGeom prst="rect">
            <a:avLst/>
          </a:prstGeom>
          <a:noFill/>
          <a:ln/>
        </p:spPr>
        <p:txBody>
          <a:bodyPr wrap="square" rtlCol="0" anchor="ctr"/>
          <a:lstStyle/>
          <a:p>
            <a:pPr marL="0" indent="0">
              <a:lnSpc>
                <a:spcPct val="130000"/>
              </a:lnSpc>
              <a:buNone/>
            </a:pPr>
            <a:r>
              <a:rPr lang="en-US" sz="1150" dirty="0">
                <a:solidFill>
                  <a:srgbClr val="D1D5DB"/>
                </a:solidFill>
                <a:latin typeface="Calibri" pitchFamily="34" charset="0"/>
                <a:ea typeface="Calibri" pitchFamily="34" charset="-122"/>
                <a:cs typeface="Calibri" pitchFamily="34" charset="-120"/>
              </a:rPr>
              <a:t>Dev / platform: flow logs, security-group hygiene. Network / security: WAF, split-brain test, inspection design. Everyone: trust the flow logs, not the diagram.</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914400"/>
            <a:ext cx="8321040" cy="2286000"/>
          </a:xfrm>
          <a:prstGeom prst="rect">
            <a:avLst/>
          </a:prstGeom>
          <a:noFill/>
          <a:ln/>
        </p:spPr>
        <p:txBody>
          <a:bodyPr wrap="square" rtlCol="0" anchor="ctr"/>
          <a:lstStyle/>
          <a:p>
            <a:pPr marL="0" indent="0" algn="ctr">
              <a:buNone/>
            </a:pPr>
            <a:r>
              <a:rPr lang="en-US" sz="13000" b="1" dirty="0">
                <a:solidFill>
                  <a:srgbClr val="14B8A6"/>
                </a:solidFill>
                <a:latin typeface="Calibri" pitchFamily="34" charset="0"/>
                <a:ea typeface="Calibri" pitchFamily="34" charset="-122"/>
                <a:cs typeface="Calibri" pitchFamily="34" charset="-120"/>
              </a:rPr>
              <a:t>Q&amp;A</a:t>
            </a:r>
            <a:endParaRPr lang="en-US" sz="13000" dirty="0"/>
          </a:p>
        </p:txBody>
      </p:sp>
      <p:sp>
        <p:nvSpPr>
          <p:cNvPr id="3" name="Shape 1"/>
          <p:cNvSpPr/>
          <p:nvPr/>
        </p:nvSpPr>
        <p:spPr>
          <a:xfrm>
            <a:off x="1371600" y="3337560"/>
            <a:ext cx="6583680" cy="36576"/>
          </a:xfrm>
          <a:prstGeom prst="rect">
            <a:avLst/>
          </a:prstGeom>
          <a:solidFill>
            <a:srgbClr val="374151"/>
          </a:solidFill>
          <a:ln w="12700">
            <a:solidFill>
              <a:srgbClr val="374151"/>
            </a:solidFill>
            <a:prstDash val="solid"/>
          </a:ln>
        </p:spPr>
        <p:txBody>
          <a:bodyPr/>
          <a:lstStyle/>
          <a:p>
            <a:endParaRPr lang="en-US"/>
          </a:p>
        </p:txBody>
      </p:sp>
      <p:sp>
        <p:nvSpPr>
          <p:cNvPr id="4" name="Text 2"/>
          <p:cNvSpPr/>
          <p:nvPr/>
        </p:nvSpPr>
        <p:spPr>
          <a:xfrm>
            <a:off x="502920" y="3520440"/>
            <a:ext cx="8321040" cy="411480"/>
          </a:xfrm>
          <a:prstGeom prst="rect">
            <a:avLst/>
          </a:prstGeom>
          <a:noFill/>
          <a:ln/>
        </p:spPr>
        <p:txBody>
          <a:bodyPr wrap="square" rtlCol="0" anchor="ctr"/>
          <a:lstStyle/>
          <a:p>
            <a:pPr marL="0" indent="0" algn="ctr">
              <a:buNone/>
            </a:pPr>
            <a:r>
              <a:rPr lang="en-US" sz="2000" b="1" dirty="0">
                <a:solidFill>
                  <a:srgbClr val="F9FAFB"/>
                </a:solidFill>
                <a:latin typeface="Calibri" pitchFamily="34" charset="0"/>
                <a:ea typeface="Calibri" pitchFamily="34" charset="-122"/>
                <a:cs typeface="Calibri" pitchFamily="34" charset="-120"/>
              </a:rPr>
              <a:t>Tyler Coady</a:t>
            </a:r>
            <a:endParaRPr lang="en-US" sz="2000" dirty="0"/>
          </a:p>
        </p:txBody>
      </p:sp>
      <p:sp>
        <p:nvSpPr>
          <p:cNvPr id="5" name="Text 3"/>
          <p:cNvSpPr/>
          <p:nvPr/>
        </p:nvSpPr>
        <p:spPr>
          <a:xfrm>
            <a:off x="502920" y="3931920"/>
            <a:ext cx="8321040" cy="292608"/>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Cloud Security Professional  ·  AWS  ·  Azure  ·  GCP  ·  GRASSr00tz 2026</a:t>
            </a:r>
            <a:endParaRPr lang="en-US" sz="1200" dirty="0"/>
          </a:p>
        </p:txBody>
      </p:sp>
      <p:sp>
        <p:nvSpPr>
          <p:cNvPr id="6" name="Shape 4"/>
          <p:cNvSpPr/>
          <p:nvPr/>
        </p:nvSpPr>
        <p:spPr>
          <a:xfrm>
            <a:off x="502920" y="4361688"/>
            <a:ext cx="2578608" cy="594360"/>
          </a:xfrm>
          <a:prstGeom prst="rect">
            <a:avLst/>
          </a:prstGeom>
          <a:solidFill>
            <a:srgbClr val="1F2937"/>
          </a:solidFill>
          <a:ln w="12700">
            <a:solidFill>
              <a:srgbClr val="374151"/>
            </a:solidFill>
            <a:prstDash val="solid"/>
          </a:ln>
        </p:spPr>
        <p:txBody>
          <a:bodyPr/>
          <a:lstStyle/>
          <a:p>
            <a:endParaRPr lang="en-US"/>
          </a:p>
        </p:txBody>
      </p:sp>
      <p:sp>
        <p:nvSpPr>
          <p:cNvPr id="7" name="Text 5"/>
          <p:cNvSpPr/>
          <p:nvPr/>
        </p:nvSpPr>
        <p:spPr>
          <a:xfrm>
            <a:off x="612648" y="4361688"/>
            <a:ext cx="2359152" cy="594360"/>
          </a:xfrm>
          <a:prstGeom prst="rect">
            <a:avLst/>
          </a:prstGeom>
          <a:noFill/>
          <a:ln/>
        </p:spPr>
        <p:txBody>
          <a:bodyPr wrap="square" rtlCol="0" anchor="ctr"/>
          <a:lstStyle/>
          <a:p>
            <a:pPr marL="0" indent="0">
              <a:buNone/>
            </a:pPr>
            <a:r>
              <a:rPr lang="en-US" sz="1100" i="1" dirty="0">
                <a:solidFill>
                  <a:srgbClr val="9CA3AF"/>
                </a:solidFill>
                <a:latin typeface="Calibri" pitchFamily="34" charset="0"/>
                <a:ea typeface="Calibri" pitchFamily="34" charset="-122"/>
                <a:cs typeface="Calibri" pitchFamily="34" charset="-120"/>
              </a:rPr>
              <a:t>What does your hybrid environment look like?</a:t>
            </a:r>
            <a:endParaRPr lang="en-US" sz="1100" dirty="0"/>
          </a:p>
        </p:txBody>
      </p:sp>
      <p:sp>
        <p:nvSpPr>
          <p:cNvPr id="8" name="Shape 6"/>
          <p:cNvSpPr/>
          <p:nvPr/>
        </p:nvSpPr>
        <p:spPr>
          <a:xfrm>
            <a:off x="3319272" y="4361688"/>
            <a:ext cx="2578608" cy="594360"/>
          </a:xfrm>
          <a:prstGeom prst="rect">
            <a:avLst/>
          </a:prstGeom>
          <a:solidFill>
            <a:srgbClr val="1F2937"/>
          </a:solidFill>
          <a:ln w="12700">
            <a:solidFill>
              <a:srgbClr val="374151"/>
            </a:solidFill>
            <a:prstDash val="solid"/>
          </a:ln>
        </p:spPr>
        <p:txBody>
          <a:bodyPr/>
          <a:lstStyle/>
          <a:p>
            <a:endParaRPr lang="en-US"/>
          </a:p>
        </p:txBody>
      </p:sp>
      <p:sp>
        <p:nvSpPr>
          <p:cNvPr id="9" name="Text 7"/>
          <p:cNvSpPr/>
          <p:nvPr/>
        </p:nvSpPr>
        <p:spPr>
          <a:xfrm>
            <a:off x="3429000" y="4361688"/>
            <a:ext cx="2359152" cy="594360"/>
          </a:xfrm>
          <a:prstGeom prst="rect">
            <a:avLst/>
          </a:prstGeom>
          <a:noFill/>
          <a:ln/>
        </p:spPr>
        <p:txBody>
          <a:bodyPr wrap="square" rtlCol="0" anchor="ctr"/>
          <a:lstStyle/>
          <a:p>
            <a:pPr marL="0" indent="0">
              <a:buNone/>
            </a:pPr>
            <a:r>
              <a:rPr lang="en-US" sz="1100" i="1" dirty="0">
                <a:solidFill>
                  <a:srgbClr val="9CA3AF"/>
                </a:solidFill>
                <a:latin typeface="Calibri" pitchFamily="34" charset="0"/>
                <a:ea typeface="Calibri" pitchFamily="34" charset="-122"/>
                <a:cs typeface="Calibri" pitchFamily="34" charset="-120"/>
              </a:rPr>
              <a:t>Where are you in your cloud migration?</a:t>
            </a:r>
            <a:endParaRPr lang="en-US" sz="1100" dirty="0"/>
          </a:p>
        </p:txBody>
      </p:sp>
      <p:sp>
        <p:nvSpPr>
          <p:cNvPr id="10" name="Shape 8"/>
          <p:cNvSpPr/>
          <p:nvPr/>
        </p:nvSpPr>
        <p:spPr>
          <a:xfrm>
            <a:off x="6135624" y="4361688"/>
            <a:ext cx="2578608" cy="594360"/>
          </a:xfrm>
          <a:prstGeom prst="rect">
            <a:avLst/>
          </a:prstGeom>
          <a:solidFill>
            <a:srgbClr val="1F2937"/>
          </a:solidFill>
          <a:ln w="12700">
            <a:solidFill>
              <a:srgbClr val="374151"/>
            </a:solidFill>
            <a:prstDash val="solid"/>
          </a:ln>
        </p:spPr>
        <p:txBody>
          <a:bodyPr/>
          <a:lstStyle/>
          <a:p>
            <a:endParaRPr lang="en-US"/>
          </a:p>
        </p:txBody>
      </p:sp>
      <p:sp>
        <p:nvSpPr>
          <p:cNvPr id="11" name="Text 9"/>
          <p:cNvSpPr/>
          <p:nvPr/>
        </p:nvSpPr>
        <p:spPr>
          <a:xfrm>
            <a:off x="6245352" y="4361688"/>
            <a:ext cx="2359152" cy="594360"/>
          </a:xfrm>
          <a:prstGeom prst="rect">
            <a:avLst/>
          </a:prstGeom>
          <a:noFill/>
          <a:ln/>
        </p:spPr>
        <p:txBody>
          <a:bodyPr wrap="square" rtlCol="0" anchor="ctr"/>
          <a:lstStyle/>
          <a:p>
            <a:pPr marL="0" indent="0">
              <a:buNone/>
            </a:pPr>
            <a:r>
              <a:rPr lang="en-US" sz="1100" i="1" dirty="0">
                <a:solidFill>
                  <a:srgbClr val="9CA3AF"/>
                </a:solidFill>
                <a:latin typeface="Calibri" pitchFamily="34" charset="0"/>
                <a:ea typeface="Calibri" pitchFamily="34" charset="-122"/>
                <a:cs typeface="Calibri" pitchFamily="34" charset="-120"/>
              </a:rPr>
              <a:t>Is SD-WAN already in your network?</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502920" y="274320"/>
            <a:ext cx="8321040" cy="475488"/>
          </a:xfrm>
          <a:prstGeom prst="rect">
            <a:avLst/>
          </a:prstGeom>
          <a:noFill/>
          <a:ln/>
        </p:spPr>
        <p:txBody>
          <a:bodyPr wrap="square" rtlCol="0" anchor="ctr"/>
          <a:lstStyle/>
          <a:p>
            <a:pPr marL="0" indent="0">
              <a:buNone/>
            </a:pPr>
            <a:r>
              <a:rPr lang="en-US" sz="2600" b="1" dirty="0">
                <a:solidFill>
                  <a:srgbClr val="F9FAFB"/>
                </a:solidFill>
                <a:latin typeface="Calibri" pitchFamily="34" charset="0"/>
                <a:ea typeface="Calibri" pitchFamily="34" charset="-122"/>
                <a:cs typeface="Calibri" pitchFamily="34" charset="-120"/>
              </a:rPr>
              <a:t>Reference Documentation</a:t>
            </a:r>
            <a:endParaRPr lang="en-US" sz="2600" dirty="0"/>
          </a:p>
        </p:txBody>
      </p:sp>
      <p:sp>
        <p:nvSpPr>
          <p:cNvPr id="3" name="Text 1"/>
          <p:cNvSpPr/>
          <p:nvPr/>
        </p:nvSpPr>
        <p:spPr>
          <a:xfrm>
            <a:off x="502920" y="749808"/>
            <a:ext cx="8321040" cy="256032"/>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All links verified June 2026</a:t>
            </a:r>
            <a:endParaRPr lang="en-US" sz="1200" dirty="0"/>
          </a:p>
        </p:txBody>
      </p:sp>
      <p:sp>
        <p:nvSpPr>
          <p:cNvPr id="4" name="Shape 2"/>
          <p:cNvSpPr/>
          <p:nvPr/>
        </p:nvSpPr>
        <p:spPr>
          <a:xfrm>
            <a:off x="365760" y="1097280"/>
            <a:ext cx="4160520" cy="768096"/>
          </a:xfrm>
          <a:prstGeom prst="rect">
            <a:avLst/>
          </a:prstGeom>
          <a:solidFill>
            <a:srgbClr val="1F2937"/>
          </a:solidFill>
          <a:ln w="12700">
            <a:solidFill>
              <a:srgbClr val="374151"/>
            </a:solidFill>
            <a:prstDash val="solid"/>
          </a:ln>
        </p:spPr>
        <p:txBody>
          <a:bodyPr/>
          <a:lstStyle/>
          <a:p>
            <a:endParaRPr lang="en-US"/>
          </a:p>
        </p:txBody>
      </p:sp>
      <p:sp>
        <p:nvSpPr>
          <p:cNvPr id="5" name="Text 3"/>
          <p:cNvSpPr/>
          <p:nvPr/>
        </p:nvSpPr>
        <p:spPr>
          <a:xfrm>
            <a:off x="502920" y="1170432"/>
            <a:ext cx="3886200" cy="292608"/>
          </a:xfrm>
          <a:prstGeom prst="rect">
            <a:avLst/>
          </a:prstGeom>
          <a:noFill/>
          <a:ln/>
        </p:spPr>
        <p:txBody>
          <a:bodyPr wrap="square"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AWS Network Firewall: Stateless vs. Stateful Rule Engines</a:t>
            </a:r>
            <a:endParaRPr lang="en-US" sz="1200" dirty="0"/>
          </a:p>
        </p:txBody>
      </p:sp>
      <p:sp>
        <p:nvSpPr>
          <p:cNvPr id="6" name="Text 4"/>
          <p:cNvSpPr/>
          <p:nvPr/>
        </p:nvSpPr>
        <p:spPr>
          <a:xfrm>
            <a:off x="502920" y="1499616"/>
            <a:ext cx="3886200" cy="274320"/>
          </a:xfrm>
          <a:prstGeom prst="rect">
            <a:avLst/>
          </a:prstGeom>
          <a:noFill/>
          <a:ln/>
        </p:spPr>
        <p:txBody>
          <a:bodyPr wrap="square" rtlCol="0" anchor="ctr"/>
          <a:lstStyle/>
          <a:p>
            <a:pPr marL="0" indent="0">
              <a:buNone/>
            </a:pPr>
            <a:r>
              <a:rPr lang="en-US" sz="1050" i="1" dirty="0">
                <a:solidFill>
                  <a:srgbClr val="14B8A6"/>
                </a:solidFill>
                <a:latin typeface="Calibri" pitchFamily="34" charset="0"/>
                <a:ea typeface="Calibri" pitchFamily="34" charset="-122"/>
                <a:cs typeface="Calibri" pitchFamily="34" charset="-120"/>
              </a:rPr>
              <a:t>docs.aws.amazon.com/network-firewall/latest/developerguide/firewall-rules-engines.html</a:t>
            </a:r>
            <a:endParaRPr lang="en-US" sz="1050" dirty="0"/>
          </a:p>
        </p:txBody>
      </p:sp>
      <p:sp>
        <p:nvSpPr>
          <p:cNvPr id="7" name="Shape 5"/>
          <p:cNvSpPr/>
          <p:nvPr/>
        </p:nvSpPr>
        <p:spPr>
          <a:xfrm>
            <a:off x="365760" y="1984248"/>
            <a:ext cx="4160520" cy="768096"/>
          </a:xfrm>
          <a:prstGeom prst="rect">
            <a:avLst/>
          </a:prstGeom>
          <a:solidFill>
            <a:srgbClr val="1F2937"/>
          </a:solidFill>
          <a:ln w="12700">
            <a:solidFill>
              <a:srgbClr val="374151"/>
            </a:solidFill>
            <a:prstDash val="solid"/>
          </a:ln>
        </p:spPr>
        <p:txBody>
          <a:bodyPr/>
          <a:lstStyle/>
          <a:p>
            <a:endParaRPr lang="en-US"/>
          </a:p>
        </p:txBody>
      </p:sp>
      <p:sp>
        <p:nvSpPr>
          <p:cNvPr id="8" name="Text 6"/>
          <p:cNvSpPr/>
          <p:nvPr/>
        </p:nvSpPr>
        <p:spPr>
          <a:xfrm>
            <a:off x="502920" y="2057400"/>
            <a:ext cx="3886200" cy="292608"/>
          </a:xfrm>
          <a:prstGeom prst="rect">
            <a:avLst/>
          </a:prstGeom>
          <a:noFill/>
          <a:ln/>
        </p:spPr>
        <p:txBody>
          <a:bodyPr wrap="square"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AWS VPC Flow Logs: Enable &amp; Query Guide</a:t>
            </a:r>
            <a:endParaRPr lang="en-US" sz="1200" dirty="0"/>
          </a:p>
        </p:txBody>
      </p:sp>
      <p:sp>
        <p:nvSpPr>
          <p:cNvPr id="9" name="Text 7"/>
          <p:cNvSpPr/>
          <p:nvPr/>
        </p:nvSpPr>
        <p:spPr>
          <a:xfrm>
            <a:off x="502920" y="2386584"/>
            <a:ext cx="3886200" cy="274320"/>
          </a:xfrm>
          <a:prstGeom prst="rect">
            <a:avLst/>
          </a:prstGeom>
          <a:noFill/>
          <a:ln/>
        </p:spPr>
        <p:txBody>
          <a:bodyPr wrap="square" rtlCol="0" anchor="ctr"/>
          <a:lstStyle/>
          <a:p>
            <a:pPr marL="0" indent="0">
              <a:buNone/>
            </a:pPr>
            <a:r>
              <a:rPr lang="en-US" sz="1050" i="1" dirty="0">
                <a:solidFill>
                  <a:srgbClr val="14B8A6"/>
                </a:solidFill>
                <a:latin typeface="Calibri" pitchFamily="34" charset="0"/>
                <a:ea typeface="Calibri" pitchFamily="34" charset="-122"/>
                <a:cs typeface="Calibri" pitchFamily="34" charset="-120"/>
              </a:rPr>
              <a:t>docs.aws.amazon.com/vpc/latest/userguide/flow-logs.html</a:t>
            </a:r>
            <a:endParaRPr lang="en-US" sz="1050" dirty="0"/>
          </a:p>
        </p:txBody>
      </p:sp>
      <p:sp>
        <p:nvSpPr>
          <p:cNvPr id="10" name="Shape 8"/>
          <p:cNvSpPr/>
          <p:nvPr/>
        </p:nvSpPr>
        <p:spPr>
          <a:xfrm>
            <a:off x="365760" y="2871216"/>
            <a:ext cx="4160520" cy="768096"/>
          </a:xfrm>
          <a:prstGeom prst="rect">
            <a:avLst/>
          </a:prstGeom>
          <a:solidFill>
            <a:srgbClr val="1F2937"/>
          </a:solidFill>
          <a:ln w="12700">
            <a:solidFill>
              <a:srgbClr val="374151"/>
            </a:solidFill>
            <a:prstDash val="solid"/>
          </a:ln>
        </p:spPr>
        <p:txBody>
          <a:bodyPr/>
          <a:lstStyle/>
          <a:p>
            <a:endParaRPr lang="en-US"/>
          </a:p>
        </p:txBody>
      </p:sp>
      <p:sp>
        <p:nvSpPr>
          <p:cNvPr id="11" name="Text 9"/>
          <p:cNvSpPr/>
          <p:nvPr/>
        </p:nvSpPr>
        <p:spPr>
          <a:xfrm>
            <a:off x="502920" y="2944368"/>
            <a:ext cx="3886200" cy="292608"/>
          </a:xfrm>
          <a:prstGeom prst="rect">
            <a:avLst/>
          </a:prstGeom>
          <a:noFill/>
          <a:ln/>
        </p:spPr>
        <p:txBody>
          <a:bodyPr wrap="square"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Azure VNet Flow Logs: Network Watcher</a:t>
            </a:r>
            <a:endParaRPr lang="en-US" sz="1200" dirty="0"/>
          </a:p>
        </p:txBody>
      </p:sp>
      <p:sp>
        <p:nvSpPr>
          <p:cNvPr id="12" name="Text 10"/>
          <p:cNvSpPr/>
          <p:nvPr/>
        </p:nvSpPr>
        <p:spPr>
          <a:xfrm>
            <a:off x="502920" y="3273552"/>
            <a:ext cx="3886200" cy="274320"/>
          </a:xfrm>
          <a:prstGeom prst="rect">
            <a:avLst/>
          </a:prstGeom>
          <a:noFill/>
          <a:ln/>
        </p:spPr>
        <p:txBody>
          <a:bodyPr wrap="square" rtlCol="0" anchor="ctr"/>
          <a:lstStyle/>
          <a:p>
            <a:pPr marL="0" indent="0">
              <a:buNone/>
            </a:pPr>
            <a:r>
              <a:rPr lang="en-US" sz="1050" i="1" dirty="0">
                <a:solidFill>
                  <a:srgbClr val="14B8A6"/>
                </a:solidFill>
                <a:latin typeface="Calibri" pitchFamily="34" charset="0"/>
                <a:ea typeface="Calibri" pitchFamily="34" charset="-122"/>
                <a:cs typeface="Calibri" pitchFamily="34" charset="-120"/>
              </a:rPr>
              <a:t>learn.microsoft.com/en-us/azure/network-watcher/vnet-flow-logs-overview</a:t>
            </a:r>
            <a:endParaRPr lang="en-US" sz="1050" dirty="0"/>
          </a:p>
        </p:txBody>
      </p:sp>
      <p:sp>
        <p:nvSpPr>
          <p:cNvPr id="13" name="Shape 11"/>
          <p:cNvSpPr/>
          <p:nvPr/>
        </p:nvSpPr>
        <p:spPr>
          <a:xfrm>
            <a:off x="365760" y="3758184"/>
            <a:ext cx="4160520" cy="768096"/>
          </a:xfrm>
          <a:prstGeom prst="rect">
            <a:avLst/>
          </a:prstGeom>
          <a:solidFill>
            <a:srgbClr val="1F2937"/>
          </a:solidFill>
          <a:ln w="12700">
            <a:solidFill>
              <a:srgbClr val="374151"/>
            </a:solidFill>
            <a:prstDash val="solid"/>
          </a:ln>
        </p:spPr>
        <p:txBody>
          <a:bodyPr/>
          <a:lstStyle/>
          <a:p>
            <a:endParaRPr lang="en-US"/>
          </a:p>
        </p:txBody>
      </p:sp>
      <p:sp>
        <p:nvSpPr>
          <p:cNvPr id="14" name="Text 12"/>
          <p:cNvSpPr/>
          <p:nvPr/>
        </p:nvSpPr>
        <p:spPr>
          <a:xfrm>
            <a:off x="502920" y="3831336"/>
            <a:ext cx="3886200" cy="292608"/>
          </a:xfrm>
          <a:prstGeom prst="rect">
            <a:avLst/>
          </a:prstGeom>
          <a:noFill/>
          <a:ln/>
        </p:spPr>
        <p:txBody>
          <a:bodyPr wrap="square"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GCP VPC Flow Logs + Firewall Insights</a:t>
            </a:r>
            <a:endParaRPr lang="en-US" sz="1200" dirty="0"/>
          </a:p>
        </p:txBody>
      </p:sp>
      <p:sp>
        <p:nvSpPr>
          <p:cNvPr id="15" name="Text 13"/>
          <p:cNvSpPr/>
          <p:nvPr/>
        </p:nvSpPr>
        <p:spPr>
          <a:xfrm>
            <a:off x="502920" y="4160520"/>
            <a:ext cx="3886200" cy="274320"/>
          </a:xfrm>
          <a:prstGeom prst="rect">
            <a:avLst/>
          </a:prstGeom>
          <a:noFill/>
          <a:ln/>
        </p:spPr>
        <p:txBody>
          <a:bodyPr wrap="square" rtlCol="0" anchor="ctr"/>
          <a:lstStyle/>
          <a:p>
            <a:pPr marL="0" indent="0">
              <a:buNone/>
            </a:pPr>
            <a:r>
              <a:rPr lang="en-US" sz="1050" i="1" dirty="0">
                <a:solidFill>
                  <a:srgbClr val="14B8A6"/>
                </a:solidFill>
                <a:latin typeface="Calibri" pitchFamily="34" charset="0"/>
                <a:ea typeface="Calibri" pitchFamily="34" charset="-122"/>
                <a:cs typeface="Calibri" pitchFamily="34" charset="-120"/>
              </a:rPr>
              <a:t>cloud.google.com/vpc/docs/flow-logs</a:t>
            </a:r>
            <a:endParaRPr lang="en-US" sz="1050" dirty="0"/>
          </a:p>
        </p:txBody>
      </p:sp>
      <p:sp>
        <p:nvSpPr>
          <p:cNvPr id="16" name="Shape 14"/>
          <p:cNvSpPr/>
          <p:nvPr/>
        </p:nvSpPr>
        <p:spPr>
          <a:xfrm>
            <a:off x="4709160" y="1097280"/>
            <a:ext cx="4160520" cy="768096"/>
          </a:xfrm>
          <a:prstGeom prst="rect">
            <a:avLst/>
          </a:prstGeom>
          <a:solidFill>
            <a:srgbClr val="1F2937"/>
          </a:solidFill>
          <a:ln w="12700">
            <a:solidFill>
              <a:srgbClr val="374151"/>
            </a:solidFill>
            <a:prstDash val="solid"/>
          </a:ln>
        </p:spPr>
        <p:txBody>
          <a:bodyPr/>
          <a:lstStyle/>
          <a:p>
            <a:endParaRPr lang="en-US"/>
          </a:p>
        </p:txBody>
      </p:sp>
      <p:sp>
        <p:nvSpPr>
          <p:cNvPr id="17" name="Text 15"/>
          <p:cNvSpPr/>
          <p:nvPr/>
        </p:nvSpPr>
        <p:spPr>
          <a:xfrm>
            <a:off x="4846320" y="1170432"/>
            <a:ext cx="3886200" cy="292608"/>
          </a:xfrm>
          <a:prstGeom prst="rect">
            <a:avLst/>
          </a:prstGeom>
          <a:noFill/>
          <a:ln/>
        </p:spPr>
        <p:txBody>
          <a:bodyPr wrap="square"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CISA Emergency Directive 26-03: Cisco SD-WAN Active Exploitation</a:t>
            </a:r>
            <a:endParaRPr lang="en-US" sz="1200" dirty="0"/>
          </a:p>
        </p:txBody>
      </p:sp>
      <p:sp>
        <p:nvSpPr>
          <p:cNvPr id="18" name="Text 16"/>
          <p:cNvSpPr/>
          <p:nvPr/>
        </p:nvSpPr>
        <p:spPr>
          <a:xfrm>
            <a:off x="4846320" y="1499616"/>
            <a:ext cx="3886200" cy="274320"/>
          </a:xfrm>
          <a:prstGeom prst="rect">
            <a:avLst/>
          </a:prstGeom>
          <a:noFill/>
          <a:ln/>
        </p:spPr>
        <p:txBody>
          <a:bodyPr wrap="square" rtlCol="0" anchor="ctr"/>
          <a:lstStyle/>
          <a:p>
            <a:pPr marL="0" indent="0">
              <a:buNone/>
            </a:pPr>
            <a:r>
              <a:rPr lang="en-US" sz="1050" i="1" dirty="0">
                <a:solidFill>
                  <a:srgbClr val="14B8A6"/>
                </a:solidFill>
                <a:latin typeface="Calibri" pitchFamily="34" charset="0"/>
                <a:ea typeface="Calibri" pitchFamily="34" charset="-122"/>
                <a:cs typeface="Calibri" pitchFamily="34" charset="-120"/>
              </a:rPr>
              <a:t>cisa.gov/news-events/directives/ed-26-03</a:t>
            </a:r>
            <a:endParaRPr lang="en-US" sz="1050" dirty="0"/>
          </a:p>
        </p:txBody>
      </p:sp>
      <p:sp>
        <p:nvSpPr>
          <p:cNvPr id="19" name="Shape 17"/>
          <p:cNvSpPr/>
          <p:nvPr/>
        </p:nvSpPr>
        <p:spPr>
          <a:xfrm>
            <a:off x="4709160" y="1984248"/>
            <a:ext cx="4160520" cy="768096"/>
          </a:xfrm>
          <a:prstGeom prst="rect">
            <a:avLst/>
          </a:prstGeom>
          <a:solidFill>
            <a:srgbClr val="1F2937"/>
          </a:solidFill>
          <a:ln w="12700">
            <a:solidFill>
              <a:srgbClr val="374151"/>
            </a:solidFill>
            <a:prstDash val="solid"/>
          </a:ln>
        </p:spPr>
        <p:txBody>
          <a:bodyPr/>
          <a:lstStyle/>
          <a:p>
            <a:endParaRPr lang="en-US"/>
          </a:p>
        </p:txBody>
      </p:sp>
      <p:sp>
        <p:nvSpPr>
          <p:cNvPr id="20" name="Text 18"/>
          <p:cNvSpPr/>
          <p:nvPr/>
        </p:nvSpPr>
        <p:spPr>
          <a:xfrm>
            <a:off x="4846320" y="2057400"/>
            <a:ext cx="3886200" cy="292608"/>
          </a:xfrm>
          <a:prstGeom prst="rect">
            <a:avLst/>
          </a:prstGeom>
          <a:noFill/>
          <a:ln/>
        </p:spPr>
        <p:txBody>
          <a:bodyPr wrap="square"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AWS Landing Zone Accelerator</a:t>
            </a:r>
            <a:endParaRPr lang="en-US" sz="1200" dirty="0"/>
          </a:p>
        </p:txBody>
      </p:sp>
      <p:sp>
        <p:nvSpPr>
          <p:cNvPr id="21" name="Text 19"/>
          <p:cNvSpPr/>
          <p:nvPr/>
        </p:nvSpPr>
        <p:spPr>
          <a:xfrm>
            <a:off x="4846320" y="2386584"/>
            <a:ext cx="3886200" cy="274320"/>
          </a:xfrm>
          <a:prstGeom prst="rect">
            <a:avLst/>
          </a:prstGeom>
          <a:noFill/>
          <a:ln/>
        </p:spPr>
        <p:txBody>
          <a:bodyPr wrap="square" rtlCol="0" anchor="ctr"/>
          <a:lstStyle/>
          <a:p>
            <a:pPr marL="0" indent="0">
              <a:buNone/>
            </a:pPr>
            <a:r>
              <a:rPr lang="en-US" sz="1050" i="1" dirty="0">
                <a:solidFill>
                  <a:srgbClr val="14B8A6"/>
                </a:solidFill>
                <a:latin typeface="Calibri" pitchFamily="34" charset="0"/>
                <a:ea typeface="Calibri" pitchFamily="34" charset="-122"/>
                <a:cs typeface="Calibri" pitchFamily="34" charset="-120"/>
              </a:rPr>
              <a:t>aws.amazon.com/solutions/implementations/landing-zone-accelerator-on-aws/</a:t>
            </a:r>
            <a:endParaRPr lang="en-US" sz="1050" dirty="0"/>
          </a:p>
        </p:txBody>
      </p:sp>
      <p:sp>
        <p:nvSpPr>
          <p:cNvPr id="22" name="Shape 20"/>
          <p:cNvSpPr/>
          <p:nvPr/>
        </p:nvSpPr>
        <p:spPr>
          <a:xfrm>
            <a:off x="4709160" y="2871216"/>
            <a:ext cx="4160520" cy="768096"/>
          </a:xfrm>
          <a:prstGeom prst="rect">
            <a:avLst/>
          </a:prstGeom>
          <a:solidFill>
            <a:srgbClr val="1F2937"/>
          </a:solidFill>
          <a:ln w="12700">
            <a:solidFill>
              <a:srgbClr val="374151"/>
            </a:solidFill>
            <a:prstDash val="solid"/>
          </a:ln>
        </p:spPr>
        <p:txBody>
          <a:bodyPr/>
          <a:lstStyle/>
          <a:p>
            <a:endParaRPr lang="en-US"/>
          </a:p>
        </p:txBody>
      </p:sp>
      <p:sp>
        <p:nvSpPr>
          <p:cNvPr id="23" name="Text 21"/>
          <p:cNvSpPr/>
          <p:nvPr/>
        </p:nvSpPr>
        <p:spPr>
          <a:xfrm>
            <a:off x="4846320" y="2944368"/>
            <a:ext cx="3886200" cy="292608"/>
          </a:xfrm>
          <a:prstGeom prst="rect">
            <a:avLst/>
          </a:prstGeom>
          <a:noFill/>
          <a:ln/>
        </p:spPr>
        <p:txBody>
          <a:bodyPr wrap="square"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Azure Cloud Adoption Framework: Network Topology</a:t>
            </a:r>
            <a:endParaRPr lang="en-US" sz="1200" dirty="0"/>
          </a:p>
        </p:txBody>
      </p:sp>
      <p:sp>
        <p:nvSpPr>
          <p:cNvPr id="24" name="Text 22"/>
          <p:cNvSpPr/>
          <p:nvPr/>
        </p:nvSpPr>
        <p:spPr>
          <a:xfrm>
            <a:off x="4846320" y="3273552"/>
            <a:ext cx="3886200" cy="274320"/>
          </a:xfrm>
          <a:prstGeom prst="rect">
            <a:avLst/>
          </a:prstGeom>
          <a:noFill/>
          <a:ln/>
        </p:spPr>
        <p:txBody>
          <a:bodyPr wrap="square" rtlCol="0" anchor="ctr"/>
          <a:lstStyle/>
          <a:p>
            <a:pPr marL="0" indent="0">
              <a:buNone/>
            </a:pPr>
            <a:r>
              <a:rPr lang="en-US" sz="1050" i="1" dirty="0">
                <a:solidFill>
                  <a:srgbClr val="14B8A6"/>
                </a:solidFill>
                <a:latin typeface="Calibri" pitchFamily="34" charset="0"/>
                <a:ea typeface="Calibri" pitchFamily="34" charset="-122"/>
                <a:cs typeface="Calibri" pitchFamily="34" charset="-120"/>
              </a:rPr>
              <a:t>learn.microsoft.com/en-us/azure/cloud-adoption-framework/ready/azure-best-practices/define-an-azure-network-topology</a:t>
            </a:r>
            <a:endParaRPr lang="en-US" sz="1050" dirty="0"/>
          </a:p>
        </p:txBody>
      </p:sp>
      <p:sp>
        <p:nvSpPr>
          <p:cNvPr id="25" name="Text 23"/>
          <p:cNvSpPr/>
          <p:nvPr/>
        </p:nvSpPr>
        <p:spPr>
          <a:xfrm>
            <a:off x="502920" y="4846320"/>
            <a:ext cx="8321040" cy="256032"/>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Tyler Coady  ·  Cloud Security Professional  ·  Northeast Wisconsin  ·  GRASSr00tz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8587</TotalTime>
  <Words>9845</Words>
  <Application>Microsoft Macintosh PowerPoint</Application>
  <PresentationFormat>On-screen Show (16:9)</PresentationFormat>
  <Paragraphs>569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Deployment Pipeline Ends at a Firewall Ticket</dc:title>
  <dc:subject>PptxGenJS Presentation</dc:subject>
  <dc:creator>Tyler Coady</dc:creator>
  <cp:lastModifiedBy>Tyler Coady</cp:lastModifiedBy>
  <cp:revision>8</cp:revision>
  <dcterms:created xsi:type="dcterms:W3CDTF">2026-05-06T19:41:10Z</dcterms:created>
  <dcterms:modified xsi:type="dcterms:W3CDTF">2026-06-03T03:35:35Z</dcterms:modified>
</cp:coreProperties>
</file>